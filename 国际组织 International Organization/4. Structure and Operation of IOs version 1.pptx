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56" r:id="rId3"/>
    <p:sldId id="257" r:id="rId4"/>
    <p:sldId id="289" r:id="rId5"/>
    <p:sldId id="290" r:id="rId6"/>
    <p:sldId id="291" r:id="rId7"/>
    <p:sldId id="292" r:id="rId8"/>
    <p:sldId id="262" r:id="rId9"/>
    <p:sldId id="293" r:id="rId10"/>
    <p:sldId id="265" r:id="rId11"/>
    <p:sldId id="294" r:id="rId12"/>
    <p:sldId id="267" r:id="rId13"/>
    <p:sldId id="295" r:id="rId14"/>
    <p:sldId id="296" r:id="rId15"/>
    <p:sldId id="269" r:id="rId16"/>
    <p:sldId id="270" r:id="rId17"/>
    <p:sldId id="271" r:id="rId18"/>
    <p:sldId id="297" r:id="rId19"/>
    <p:sldId id="273" r:id="rId20"/>
    <p:sldId id="298" r:id="rId21"/>
    <p:sldId id="288" r:id="rId22"/>
    <p:sldId id="299" r:id="rId23"/>
    <p:sldId id="276" r:id="rId24"/>
    <p:sldId id="300" r:id="rId25"/>
    <p:sldId id="278" r:id="rId26"/>
    <p:sldId id="279" r:id="rId27"/>
    <p:sldId id="282" r:id="rId28"/>
    <p:sldId id="301" r:id="rId29"/>
    <p:sldId id="283" r:id="rId30"/>
    <p:sldId id="284" r:id="rId31"/>
    <p:sldId id="285" r:id="rId3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7"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60" d="100"/>
          <a:sy n="60" d="100"/>
        </p:scale>
        <p:origin x="-1616" y="-112"/>
      </p:cViewPr>
      <p:guideLst>
        <p:guide orient="horz" pos="2387"/>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notesMaster" Target="notesMasters/notesMaster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90204C3-4EB4-4A44-816D-AC7383B6440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E89C4C-FC79-49EA-9847-99E28DC0EAC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AD4A86CC-D489-4721-BF4C-662066BAF40F}"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Rectangle 8"/>
          <p:cNvSpPr/>
          <p:nvPr/>
        </p:nvSpPr>
        <p:spPr>
          <a:xfrm>
            <a:off x="345440" y="2942602"/>
            <a:ext cx="7147931"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572652" y="2944634"/>
            <a:ext cx="1190348" cy="2459736"/>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712714" y="3136658"/>
            <a:ext cx="910224" cy="2075688"/>
          </a:xfrm>
          <a:prstGeom prst="rect">
            <a:avLst/>
          </a:prstGeom>
          <a:solidFill>
            <a:schemeClr val="accent3">
              <a:alpha val="70000"/>
            </a:schemeClr>
          </a:solidFill>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445483" y="3055621"/>
            <a:ext cx="6947845"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a:xfrm>
            <a:off x="7786826" y="4625268"/>
            <a:ext cx="762000" cy="457200"/>
          </a:xfrm>
        </p:spPr>
        <p:txBody>
          <a:bodyPr/>
          <a:lstStyle>
            <a:lvl1pPr algn="ctr">
              <a:defRPr sz="2800">
                <a:solidFill>
                  <a:schemeClr val="accent1">
                    <a:lumMod val="50000"/>
                  </a:schemeClr>
                </a:solidFill>
              </a:defRPr>
            </a:lvl1pPr>
          </a:lstStyle>
          <a:p>
            <a:fld id="{B9735084-16EF-447A-AF82-518F49A950C0}" type="slidenum">
              <a:rPr lang="zh-CN" altLang="en-US" smtClean="0"/>
            </a:fld>
            <a:endParaRPr lang="zh-CN" altLang="en-US"/>
          </a:p>
        </p:txBody>
      </p:sp>
      <p:sp>
        <p:nvSpPr>
          <p:cNvPr id="11" name="Rectangle 10"/>
          <p:cNvSpPr/>
          <p:nvPr/>
        </p:nvSpPr>
        <p:spPr>
          <a:xfrm>
            <a:off x="541822" y="4559276"/>
            <a:ext cx="6755166"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38971" y="3139440"/>
            <a:ext cx="6760868"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642805" y="4648200"/>
            <a:ext cx="6553200" cy="457200"/>
          </a:xfrm>
        </p:spPr>
        <p:txBody>
          <a:bodyPr>
            <a:normAutofit/>
          </a:bodyPr>
          <a:lstStyle>
            <a:lvl1pPr marL="0" indent="0" algn="ctr">
              <a:buNone/>
              <a:defRPr sz="1800" cap="all" spc="300" baseline="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2" name="Title 1"/>
          <p:cNvSpPr>
            <a:spLocks noGrp="1"/>
          </p:cNvSpPr>
          <p:nvPr>
            <p:ph type="ctrTitle"/>
          </p:nvPr>
        </p:nvSpPr>
        <p:spPr>
          <a:xfrm>
            <a:off x="604705" y="3227033"/>
            <a:ext cx="6629400" cy="1219201"/>
          </a:xfrm>
        </p:spPr>
        <p:txBody>
          <a:bodyPr anchor="b" anchorCtr="0">
            <a:noAutofit/>
          </a:bodyPr>
          <a:lstStyle>
            <a:lvl1pPr>
              <a:defRPr sz="4000">
                <a:solidFill>
                  <a:schemeClr val="accent1">
                    <a:lumMod val="50000"/>
                  </a:schemeClr>
                </a:solidFill>
              </a:defRPr>
            </a:lvl1pPr>
          </a:lstStyle>
          <a:p>
            <a:r>
              <a:rPr lang="zh-CN" altLang="en-US" smtClean="0"/>
              <a:t>单击此处编辑母版标题样式</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Content Placeholder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fld id="{AD4A86CC-D489-4721-BF4C-662066BAF40F}"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9735084-16EF-447A-AF82-518F49A950C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AD4A86CC-D489-4721-BF4C-662066BAF40F}" type="datetimeFigureOut">
              <a:rPr lang="zh-CN" altLang="en-US" smtClean="0"/>
            </a:fld>
            <a:endParaRPr lang="zh-CN" altLang="en-US"/>
          </a:p>
        </p:txBody>
      </p:sp>
      <p:sp>
        <p:nvSpPr>
          <p:cNvPr id="13" name="Rectangle 12"/>
          <p:cNvSpPr/>
          <p:nvPr/>
        </p:nvSpPr>
        <p:spPr>
          <a:xfrm>
            <a:off x="451976" y="2946400"/>
            <a:ext cx="8265160"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567656" y="3048000"/>
            <a:ext cx="8033800"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9735084-16EF-447A-AF82-518F49A950C0}" type="slidenum">
              <a:rPr lang="zh-CN" altLang="en-US" smtClean="0"/>
            </a:fld>
            <a:endParaRPr lang="zh-CN" altLang="en-US"/>
          </a:p>
        </p:txBody>
      </p:sp>
      <p:sp>
        <p:nvSpPr>
          <p:cNvPr id="2" name="Title 1"/>
          <p:cNvSpPr>
            <a:spLocks noGrp="1"/>
          </p:cNvSpPr>
          <p:nvPr>
            <p:ph type="title"/>
          </p:nvPr>
        </p:nvSpPr>
        <p:spPr>
          <a:xfrm>
            <a:off x="736456" y="3200399"/>
            <a:ext cx="7696200" cy="1295401"/>
          </a:xfrm>
        </p:spPr>
        <p:txBody>
          <a:bodyPr anchor="b" anchorCtr="0">
            <a:noAutofit/>
          </a:bodyPr>
          <a:lstStyle>
            <a:lvl1pPr algn="ctr" defTabSz="914400" rtl="0" eaLnBrk="1" latinLnBrk="0" hangingPunct="1">
              <a:spcBef>
                <a:spcPct val="0"/>
              </a:spcBef>
              <a:buNone/>
              <a:defRPr lang="en-US" sz="4000" kern="1200" cap="all" baseline="0" dirty="0">
                <a:solidFill>
                  <a:schemeClr val="accent1">
                    <a:lumMod val="50000"/>
                  </a:schemeClr>
                </a:solidFill>
                <a:latin typeface="+mj-lt"/>
                <a:ea typeface="+mj-ea"/>
                <a:cs typeface="+mj-cs"/>
              </a:defRPr>
            </a:lvl1pPr>
          </a:lstStyle>
          <a:p>
            <a:r>
              <a:rPr lang="zh-CN" altLang="en-US" smtClean="0"/>
              <a:t>单击此处编辑母版标题样式</a:t>
            </a:r>
            <a:endParaRPr lang="en-US" dirty="0"/>
          </a:p>
        </p:txBody>
      </p:sp>
      <p:sp>
        <p:nvSpPr>
          <p:cNvPr id="15" name="Rectangle 14"/>
          <p:cNvSpPr/>
          <p:nvPr/>
        </p:nvSpPr>
        <p:spPr>
          <a:xfrm>
            <a:off x="675496" y="4541520"/>
            <a:ext cx="7818120"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736456" y="4607510"/>
            <a:ext cx="7696200" cy="523783"/>
          </a:xfrm>
        </p:spPr>
        <p:txBody>
          <a:bodyPr anchor="ctr">
            <a:normAutofit/>
          </a:bodyPr>
          <a:lstStyle>
            <a:lvl1pPr marL="0" indent="0" algn="ctr">
              <a:buNone/>
              <a:defRPr sz="2000" cap="all" spc="250" baseline="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14" name="Rectangle 13"/>
          <p:cNvSpPr/>
          <p:nvPr/>
        </p:nvSpPr>
        <p:spPr>
          <a:xfrm>
            <a:off x="675757" y="3124200"/>
            <a:ext cx="7817599"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p>
            <a:r>
              <a:rPr lang="zh-CN" altLang="en-US" smtClean="0"/>
              <a:t>单击此处编辑母版标题样式</a:t>
            </a:r>
            <a:endParaRPr lang="en-US"/>
          </a:p>
        </p:txBody>
      </p:sp>
      <p:sp>
        <p:nvSpPr>
          <p:cNvPr id="3" name="Content Placeholder 2"/>
          <p:cNvSpPr>
            <a:spLocks noGrp="1"/>
          </p:cNvSpPr>
          <p:nvPr>
            <p:ph sz="half" idx="1"/>
          </p:nvPr>
        </p:nvSpPr>
        <p:spPr>
          <a:xfrm>
            <a:off x="426128"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p:nvPr>
        </p:nvSpPr>
        <p:spPr>
          <a:xfrm>
            <a:off x="4648200"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AD4A86CC-D489-4721-BF4C-662066BAF40F}"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9735084-16EF-447A-AF82-518F49A950C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426128" y="1722438"/>
            <a:ext cx="4040188"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426128" y="2438400"/>
            <a:ext cx="4040188"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4645025" y="1722438"/>
            <a:ext cx="4041775"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4645025" y="2438400"/>
            <a:ext cx="4041775"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AD4A86CC-D489-4721-BF4C-662066BAF40F}"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9735084-16EF-447A-AF82-518F49A950C0}"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fld id="{AD4A86CC-D489-4721-BF4C-662066BAF40F}"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9735084-16EF-447A-AF82-518F49A950C0}"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ounded Rectangle 10"/>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fld id="{AD4A86CC-D489-4721-BF4C-662066BAF40F}"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B9735084-16EF-447A-AF82-518F49A950C0}"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ounded Rectangle 11"/>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886200" y="685800"/>
            <a:ext cx="4572000" cy="52578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AD4A86CC-D489-4721-BF4C-662066BAF40F}"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9735084-16EF-447A-AF82-518F49A950C0}" type="slidenum">
              <a:rPr lang="zh-CN" altLang="en-US" smtClean="0"/>
            </a:fld>
            <a:endParaRPr lang="zh-CN" altLang="en-US"/>
          </a:p>
        </p:txBody>
      </p:sp>
      <p:sp>
        <p:nvSpPr>
          <p:cNvPr id="8" name="Rectangle 7"/>
          <p:cNvSpPr/>
          <p:nvPr/>
        </p:nvSpPr>
        <p:spPr>
          <a:xfrm>
            <a:off x="560034" y="1505712"/>
            <a:ext cx="2716566" cy="3523488"/>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76690" y="1642472"/>
            <a:ext cx="2483254" cy="3234328"/>
          </a:xfrm>
          <a:prstGeom prst="rect">
            <a:avLst/>
          </a:prstGeom>
          <a:solidFill>
            <a:srgbClr val="FFFFFF"/>
          </a:solid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p:cNvSpPr>
            <a:spLocks noGrp="1"/>
          </p:cNvSpPr>
          <p:nvPr>
            <p:ph type="body" sz="half" idx="2"/>
          </p:nvPr>
        </p:nvSpPr>
        <p:spPr>
          <a:xfrm>
            <a:off x="769000" y="2971800"/>
            <a:ext cx="2298634" cy="1752600"/>
          </a:xfrm>
        </p:spPr>
        <p:txBody>
          <a:bodyPr/>
          <a:lstStyle>
            <a:lvl1pPr marL="0" indent="0">
              <a:spcBef>
                <a:spcPts val="4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2" name="Title 1"/>
          <p:cNvSpPr>
            <a:spLocks noGrp="1"/>
          </p:cNvSpPr>
          <p:nvPr>
            <p:ph type="title"/>
          </p:nvPr>
        </p:nvSpPr>
        <p:spPr>
          <a:xfrm>
            <a:off x="769000" y="1734312"/>
            <a:ext cx="2298634" cy="1191620"/>
          </a:xfrm>
        </p:spPr>
        <p:txBody>
          <a:bodyPr anchor="b">
            <a:normAutofit/>
          </a:bodyPr>
          <a:lstStyle>
            <a:lvl1pPr algn="l">
              <a:defRPr sz="2000" b="0">
                <a:solidFill>
                  <a:schemeClr val="accent1">
                    <a:lumMod val="75000"/>
                  </a:schemeClr>
                </a:solidFill>
              </a:defRPr>
            </a:lvl1pPr>
          </a:lstStyle>
          <a:p>
            <a:r>
              <a:rPr lang="zh-CN" altLang="en-US" smtClean="0"/>
              <a:t>单击此处编辑母版标题样式</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ounded Rectangle 8"/>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685800" y="621437"/>
            <a:ext cx="7772400" cy="4331564"/>
          </a:xfrm>
          <a:solidFill>
            <a:schemeClr val="bg2"/>
          </a:solidFill>
          <a:ln>
            <a:noFill/>
          </a:ln>
          <a:effectLst>
            <a:softEdge rad="12700"/>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5" name="Date Placeholder 4"/>
          <p:cNvSpPr>
            <a:spLocks noGrp="1"/>
          </p:cNvSpPr>
          <p:nvPr>
            <p:ph type="dt" sz="half" idx="10"/>
          </p:nvPr>
        </p:nvSpPr>
        <p:spPr/>
        <p:txBody>
          <a:bodyPr/>
          <a:lstStyle/>
          <a:p>
            <a:fld id="{AD4A86CC-D489-4721-BF4C-662066BAF40F}" type="datetimeFigureOut">
              <a:rPr lang="zh-CN" altLang="en-US" smtClean="0"/>
            </a:fld>
            <a:endParaRPr lang="zh-CN" altLang="en-US"/>
          </a:p>
        </p:txBody>
      </p:sp>
      <p:sp>
        <p:nvSpPr>
          <p:cNvPr id="7" name="Slide Number Placeholder 6"/>
          <p:cNvSpPr>
            <a:spLocks noGrp="1"/>
          </p:cNvSpPr>
          <p:nvPr>
            <p:ph type="sldNum" sz="quarter" idx="12"/>
          </p:nvPr>
        </p:nvSpPr>
        <p:spPr/>
        <p:txBody>
          <a:bodyPr/>
          <a:lstStyle/>
          <a:p>
            <a:fld id="{B9735084-16EF-447A-AF82-518F49A950C0}" type="slidenum">
              <a:rPr lang="zh-CN" altLang="en-US" smtClean="0"/>
            </a:fld>
            <a:endParaRPr lang="zh-CN" altLang="en-US"/>
          </a:p>
        </p:txBody>
      </p:sp>
      <p:sp>
        <p:nvSpPr>
          <p:cNvPr id="10" name="Rectangle 9"/>
          <p:cNvSpPr/>
          <p:nvPr/>
        </p:nvSpPr>
        <p:spPr>
          <a:xfrm>
            <a:off x="685800" y="4953000"/>
            <a:ext cx="7772400" cy="13716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61999" y="5029200"/>
            <a:ext cx="7600765" cy="1202924"/>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p:txBody>
          <a:bodyPr/>
          <a:lstStyle/>
          <a:p>
            <a:endParaRPr lang="zh-CN" altLang="en-US"/>
          </a:p>
        </p:txBody>
      </p:sp>
      <p:sp>
        <p:nvSpPr>
          <p:cNvPr id="13" name="Rectangle 12"/>
          <p:cNvSpPr/>
          <p:nvPr/>
        </p:nvSpPr>
        <p:spPr>
          <a:xfrm>
            <a:off x="914400" y="5638800"/>
            <a:ext cx="7328514" cy="451696"/>
          </a:xfrm>
          <a:prstGeom prst="rect">
            <a:avLst/>
          </a:prstGeom>
          <a:solidFill>
            <a:schemeClr val="accent1"/>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05589" y="5074920"/>
            <a:ext cx="7946136" cy="1097280"/>
          </a:xfrm>
          <a:prstGeom prst="rect">
            <a:avLst/>
          </a:prstGeom>
          <a:no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p:cNvSpPr>
            <a:spLocks noGrp="1"/>
          </p:cNvSpPr>
          <p:nvPr>
            <p:ph type="body" sz="half" idx="2"/>
          </p:nvPr>
        </p:nvSpPr>
        <p:spPr>
          <a:xfrm>
            <a:off x="956289" y="5656556"/>
            <a:ext cx="7244736" cy="401715"/>
          </a:xfrm>
        </p:spPr>
        <p:txBody>
          <a:bodyPr anchor="ctr">
            <a:normAutofit/>
          </a:bodyPr>
          <a:lstStyle>
            <a:lvl1pPr marL="0" indent="0" algn="ctr">
              <a:buNone/>
              <a:defRPr sz="1500" cap="all" spc="250" baseline="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2" name="Title 1"/>
          <p:cNvSpPr>
            <a:spLocks noGrp="1"/>
          </p:cNvSpPr>
          <p:nvPr>
            <p:ph type="title"/>
          </p:nvPr>
        </p:nvSpPr>
        <p:spPr>
          <a:xfrm>
            <a:off x="914400" y="5105400"/>
            <a:ext cx="7328514" cy="523043"/>
          </a:xfrm>
        </p:spPr>
        <p:txBody>
          <a:bodyPr anchor="ctr" anchorCtr="0"/>
          <a:lstStyle>
            <a:lvl1pPr algn="ctr">
              <a:defRPr sz="2000" b="0">
                <a:solidFill>
                  <a:schemeClr val="accent1">
                    <a:lumMod val="75000"/>
                  </a:schemeClr>
                </a:solidFill>
              </a:defRPr>
            </a:lvl1pPr>
          </a:lstStyle>
          <a:p>
            <a:r>
              <a:rPr lang="zh-CN" altLang="en-US" smtClean="0"/>
              <a:t>单击此处编辑母版标题样式</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fld id="{AD4A86CC-D489-4721-BF4C-662066BAF40F}"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9735084-16EF-447A-AF82-518F49A950C0}"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文本">
    <p:spTree>
      <p:nvGrpSpPr>
        <p:cNvPr id="1" name=""/>
        <p:cNvGrpSpPr/>
        <p:nvPr/>
      </p:nvGrpSpPr>
      <p:grpSpPr>
        <a:xfrm>
          <a:off x="0" y="0"/>
          <a:ext cx="0" cy="0"/>
          <a:chOff x="0" y="0"/>
          <a:chExt cx="0" cy="0"/>
        </a:xfrm>
      </p:grpSpPr>
      <p:sp>
        <p:nvSpPr>
          <p:cNvPr id="7" name="Rectangle 6"/>
          <p:cNvSpPr/>
          <p:nvPr/>
        </p:nvSpPr>
        <p:spPr>
          <a:xfrm>
            <a:off x="6861702" y="228600"/>
            <a:ext cx="1859280" cy="6122634"/>
          </a:xfrm>
          <a:prstGeom prst="rect">
            <a:avLst/>
          </a:prstGeom>
          <a:solidFill>
            <a:srgbClr val="FFFFFF">
              <a:alpha val="8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Rectangle 7"/>
          <p:cNvSpPr/>
          <p:nvPr/>
        </p:nvSpPr>
        <p:spPr>
          <a:xfrm>
            <a:off x="6955225" y="351409"/>
            <a:ext cx="1672235" cy="587701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7048577" y="395427"/>
            <a:ext cx="1485531" cy="5788981"/>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380999"/>
            <a:ext cx="6172200" cy="5791201"/>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AD4A86CC-D489-4721-BF4C-662066BAF40F}"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9735084-16EF-447A-AF82-518F49A950C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ounded Rectangle 6"/>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457200" y="1752600"/>
            <a:ext cx="8229600" cy="43735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2"/>
                </a:solidFill>
              </a:defRPr>
            </a:lvl1pPr>
          </a:lstStyle>
          <a:p>
            <a:fld id="{AD4A86CC-D489-4721-BF4C-662066BAF40F}" type="datetimeFigureOut">
              <a:rPr lang="zh-CN" altLang="en-US" smtClean="0"/>
            </a:fld>
            <a:endParaRPr lang="zh-CN"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zh-CN" alt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2"/>
                </a:solidFill>
              </a:defRPr>
            </a:lvl1pPr>
          </a:lstStyle>
          <a:p>
            <a:fld id="{B9735084-16EF-447A-AF82-518F49A950C0}" type="slidenum">
              <a:rPr lang="zh-CN" altLang="en-US" smtClean="0"/>
            </a:fld>
            <a:endParaRPr lang="zh-CN" altLang="en-US"/>
          </a:p>
        </p:txBody>
      </p:sp>
      <p:sp>
        <p:nvSpPr>
          <p:cNvPr id="9" name="Rectangle 8"/>
          <p:cNvSpPr/>
          <p:nvPr/>
        </p:nvSpPr>
        <p:spPr>
          <a:xfrm>
            <a:off x="274320" y="278166"/>
            <a:ext cx="8595360" cy="132588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10" name="Rectangle 9"/>
          <p:cNvSpPr/>
          <p:nvPr/>
        </p:nvSpPr>
        <p:spPr>
          <a:xfrm>
            <a:off x="372863" y="372862"/>
            <a:ext cx="8380520" cy="111858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26128" y="408372"/>
            <a:ext cx="8260672" cy="1039427"/>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3500" kern="1200" cap="all" baseline="0">
          <a:solidFill>
            <a:schemeClr val="accent1">
              <a:lumMod val="75000"/>
            </a:schemeClr>
          </a:solidFill>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anose="020B0604020202020204"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anose="020B0604020202020204"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anose="020B0604020202020204"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anose="020B0604020202020204"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anose="020B0604020202020204"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anose="020B0604020202020204"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anose="020B0604020202020204"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anose="020B0604020202020204"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anose="020B0604020202020204" pitchFamily="34" charset="0"/>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p:txBody>
          <a:bodyPr/>
          <a:lstStyle/>
          <a:p>
            <a:endParaRPr lang="zh-CN" altLang="en-US"/>
          </a:p>
        </p:txBody>
      </p:sp>
      <p:sp>
        <p:nvSpPr>
          <p:cNvPr id="2" name="标题 1"/>
          <p:cNvSpPr>
            <a:spLocks noGrp="1"/>
          </p:cNvSpPr>
          <p:nvPr>
            <p:ph type="ctrTitle"/>
          </p:nvPr>
        </p:nvSpPr>
        <p:spPr>
          <a:xfrm>
            <a:off x="604520" y="3227070"/>
            <a:ext cx="6629400" cy="1242060"/>
          </a:xfrm>
        </p:spPr>
        <p:txBody>
          <a:bodyPr/>
          <a:lstStyle/>
          <a:p>
            <a:r>
              <a:rPr lang="en-US" altLang="zh-CN" sz="2800" dirty="0">
                <a:latin typeface="Times New Roman" panose="02020603050405020304" charset="0"/>
                <a:cs typeface="Times New Roman" panose="02020603050405020304" charset="0"/>
              </a:rPr>
              <a:t>Chapter 4  Structure and Operation of International Organizations</a:t>
            </a:r>
            <a:endParaRPr lang="en-US" altLang="zh-CN" sz="2800"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sz="2800" dirty="0">
                <a:latin typeface="Times New Roman" panose="02020603050405020304" charset="0"/>
                <a:cs typeface="Times New Roman" panose="02020603050405020304" charset="0"/>
              </a:rPr>
              <a:t>Section </a:t>
            </a:r>
            <a:r>
              <a:rPr lang="en-US" altLang="zh-CN" sz="2800" dirty="0">
                <a:latin typeface="Times New Roman" panose="02020603050405020304" charset="0"/>
                <a:cs typeface="Times New Roman" panose="02020603050405020304" charset="0"/>
              </a:rPr>
              <a:t>one Administrative Bodies of International Organizations</a:t>
            </a:r>
            <a:endParaRPr lang="en-US" altLang="zh-CN" sz="2800" dirty="0">
              <a:latin typeface="Times New Roman" panose="02020603050405020304" charset="0"/>
              <a:cs typeface="Times New Roman" panose="02020603050405020304" charset="0"/>
            </a:endParaRPr>
          </a:p>
        </p:txBody>
      </p:sp>
      <p:sp>
        <p:nvSpPr>
          <p:cNvPr id="3" name="文本占位符 2"/>
          <p:cNvSpPr>
            <a:spLocks noGrp="1"/>
          </p:cNvSpPr>
          <p:nvPr>
            <p:ph type="body" idx="1"/>
          </p:nvPr>
        </p:nvSpPr>
        <p:spPr/>
        <p:txBody>
          <a:bodyPr/>
          <a:lstStyle/>
          <a:p>
            <a:pPr algn="r"/>
            <a:r>
              <a:rPr lang="zh-CN" altLang="en-US" dirty="0"/>
              <a:t>第四章  国际组织的机构与运行</a:t>
            </a:r>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sz="3110">
                <a:latin typeface="Times New Roman" panose="02020603050405020304" charset="0"/>
                <a:cs typeface="Times New Roman" panose="02020603050405020304" charset="0"/>
              </a:rPr>
              <a:t>Stages of Development of International Organizations’ Administrative Bodies</a:t>
            </a:r>
            <a:endParaRPr lang="en-US" altLang="zh-CN" sz="311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457200" y="1752600"/>
            <a:ext cx="8229600" cy="4561840"/>
          </a:xfrm>
        </p:spPr>
        <p:txBody>
          <a:bodyPr/>
          <a:p>
            <a:r>
              <a:rPr lang="en-US" altLang="zh-CN"/>
              <a:t>Stage I  Mid-19th century</a:t>
            </a:r>
            <a:endParaRPr lang="en-US" altLang="zh-CN"/>
          </a:p>
          <a:p>
            <a:r>
              <a:rPr lang="en-US" altLang="zh-CN"/>
              <a:t>Supreme decision-making body and day-to-day administrative organ  </a:t>
            </a:r>
            <a:endParaRPr lang="en-US" altLang="zh-CN"/>
          </a:p>
          <a:p>
            <a:endParaRPr lang="en-US" altLang="zh-CN"/>
          </a:p>
          <a:p>
            <a:r>
              <a:rPr lang="en-US" altLang="zh-CN"/>
              <a:t>Stage II</a:t>
            </a:r>
            <a:r>
              <a:rPr lang="zh-CN" altLang="en-US"/>
              <a:t>：</a:t>
            </a:r>
            <a:r>
              <a:rPr lang="en-US" altLang="zh-CN"/>
              <a:t>Late 19th century</a:t>
            </a:r>
            <a:endParaRPr lang="en-US" altLang="zh-CN"/>
          </a:p>
          <a:p>
            <a:r>
              <a:rPr lang="en-US" altLang="zh-CN"/>
              <a:t>Council, Executive Board, specialized committees and Executive Committee emerged  </a:t>
            </a:r>
            <a:endParaRPr lang="en-US" altLang="zh-CN"/>
          </a:p>
          <a:p>
            <a:r>
              <a:rPr lang="en-US" altLang="zh-CN"/>
              <a:t> </a:t>
            </a:r>
            <a:endParaRPr lang="en-US" altLang="zh-CN"/>
          </a:p>
          <a:p>
            <a:r>
              <a:rPr lang="en-US" altLang="zh-CN"/>
              <a:t>Stage III · Early 20th century – present</a:t>
            </a:r>
            <a:endParaRPr lang="en-US" altLang="zh-CN"/>
          </a:p>
          <a:p>
            <a:r>
              <a:rPr lang="en-US" altLang="zh-CN"/>
              <a:t>Judicial organs for settling and handling disputes emerged </a:t>
            </a:r>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11548" y="332807"/>
            <a:ext cx="8260672" cy="1039427"/>
          </a:xfrm>
        </p:spPr>
        <p:txBody>
          <a:bodyPr>
            <a:normAutofit fontScale="90000"/>
          </a:bodyPr>
          <a:p>
            <a:r>
              <a:rPr lang="en-US" altLang="zh-CN" sz="3110">
                <a:latin typeface="Times New Roman" panose="02020603050405020304" charset="0"/>
                <a:cs typeface="Times New Roman" panose="02020603050405020304" charset="0"/>
              </a:rPr>
              <a:t>I. Deliberative and Decision-Making Organs of International Organizations</a:t>
            </a:r>
            <a:r>
              <a:rPr lang="en-US" altLang="zh-CN"/>
              <a:t>  </a:t>
            </a:r>
            <a:endParaRPr lang="en-US" altLang="zh-CN"/>
          </a:p>
        </p:txBody>
      </p:sp>
      <p:sp>
        <p:nvSpPr>
          <p:cNvPr id="3" name="内容占位符 2"/>
          <p:cNvSpPr>
            <a:spLocks noGrp="1"/>
          </p:cNvSpPr>
          <p:nvPr>
            <p:ph idx="1"/>
          </p:nvPr>
        </p:nvSpPr>
        <p:spPr/>
        <p:txBody>
          <a:bodyPr>
            <a:normAutofit fontScale="90000" lnSpcReduction="10000"/>
          </a:bodyPr>
          <a:p>
            <a:r>
              <a:rPr lang="en-US" altLang="zh-CN"/>
              <a:t>Deliberative and decision-making organs of international organizations:  </a:t>
            </a:r>
            <a:endParaRPr lang="en-US" altLang="zh-CN"/>
          </a:p>
          <a:p>
            <a:r>
              <a:rPr lang="en-US" altLang="zh-CN"/>
              <a:t>Usually termed “Assembly,” “Congress,” or “Plenary Meeting,”  </a:t>
            </a:r>
            <a:endParaRPr lang="en-US" altLang="zh-CN"/>
          </a:p>
          <a:p>
            <a:r>
              <a:rPr lang="en-US" altLang="zh-CN"/>
              <a:t>Composed of representatives sent by member states, they are the deliberative bodies for decision-making or the supreme authority of the organization.  </a:t>
            </a:r>
            <a:endParaRPr lang="en-US" altLang="zh-CN"/>
          </a:p>
          <a:p>
            <a:endParaRPr lang="en-US" altLang="zh-CN"/>
          </a:p>
          <a:p>
            <a:r>
              <a:rPr lang="en-US" altLang="zh-CN"/>
              <a:t>· Principal functions:  </a:t>
            </a:r>
            <a:endParaRPr lang="en-US" altLang="zh-CN"/>
          </a:p>
          <a:p>
            <a:r>
              <a:rPr lang="en-US" altLang="zh-CN"/>
              <a:t>Formulating policies and guidelines, examining budgets, admitting new members, electing the chief administrative officer, electing members of the executive organ, considering its reports, drafting and amending the constituent instrument, making recommendations or decisions on relevant matters, and exercising internal oversight, etc.</a:t>
            </a:r>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sz="3110">
                <a:latin typeface="Times New Roman" panose="02020603050405020304" charset="0"/>
                <a:cs typeface="Times New Roman" panose="02020603050405020304" charset="0"/>
              </a:rPr>
              <a:t>Deliberative and Decision-Making Organs of International Organizations</a:t>
            </a:r>
            <a:r>
              <a:rPr lang="en-US" altLang="zh-CN"/>
              <a:t> </a:t>
            </a:r>
            <a:endParaRPr lang="en-US" altLang="zh-CN"/>
          </a:p>
        </p:txBody>
      </p:sp>
      <p:sp>
        <p:nvSpPr>
          <p:cNvPr id="3" name="内容占位符 2"/>
          <p:cNvSpPr>
            <a:spLocks noGrp="1"/>
          </p:cNvSpPr>
          <p:nvPr>
            <p:ph idx="1"/>
          </p:nvPr>
        </p:nvSpPr>
        <p:spPr>
          <a:xfrm>
            <a:off x="457200" y="1752600"/>
            <a:ext cx="8229600" cy="4850130"/>
          </a:xfrm>
        </p:spPr>
        <p:txBody>
          <a:bodyPr>
            <a:normAutofit fontScale="90000" lnSpcReduction="10000"/>
          </a:bodyPr>
          <a:p>
            <a:r>
              <a:rPr lang="en-US" altLang="zh-CN"/>
              <a:t>1. World Bank: The supreme authority is composed of one Governor and one Alternate Governor appointed by each member state; they serve five-year terms and may be reappointed.  </a:t>
            </a:r>
            <a:endParaRPr lang="en-US" altLang="zh-CN"/>
          </a:p>
          <a:p>
            <a:r>
              <a:rPr lang="en-US" altLang="zh-CN"/>
              <a:t>2. World Meteorological Organization: The supreme authority is the World Meteorological Congress, which meets once every four years and is attended by delegations from all member states.  </a:t>
            </a:r>
            <a:endParaRPr lang="en-US" altLang="zh-CN"/>
          </a:p>
          <a:p>
            <a:r>
              <a:rPr lang="en-US" altLang="zh-CN"/>
              <a:t>3. International Labour Organization: The supreme authority is the International Labour Conference, held at least once a year and composed of government, worker, and employer delegates from each member state.  </a:t>
            </a:r>
            <a:endParaRPr lang="en-US" altLang="zh-CN"/>
          </a:p>
          <a:p>
            <a:r>
              <a:rPr lang="en-US" altLang="zh-CN"/>
              <a:t>4. Shanghai Cooperation Organization: The supreme authority is the Council of Heads of State, which meets annually and is hosted in turn by each member state in accordance with the Russian alphabetical order of their country names.</a:t>
            </a:r>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457200" y="1676400"/>
            <a:ext cx="8229600" cy="4903470"/>
          </a:xfrm>
        </p:spPr>
        <p:txBody>
          <a:bodyPr>
            <a:noAutofit/>
          </a:bodyPr>
          <a:p>
            <a:r>
              <a:rPr lang="en-US" altLang="zh-CN" sz="2000"/>
              <a:t>1. European Union  </a:t>
            </a:r>
            <a:endParaRPr lang="en-US" altLang="zh-CN" sz="2000"/>
          </a:p>
          <a:p>
            <a:pPr marL="114300" indent="0">
              <a:buNone/>
            </a:pPr>
            <a:r>
              <a:rPr lang="en-US" altLang="zh-CN" sz="2000"/>
              <a:t>(1) Its agenda-setting and guiding body is the European Council, which meets twice a year; the President of the European Council is elected for a term of two and a half years and may be re-elected once.  </a:t>
            </a:r>
            <a:endParaRPr lang="en-US" altLang="zh-CN" sz="2000"/>
          </a:p>
          <a:p>
            <a:pPr marL="114300" indent="0">
              <a:buNone/>
            </a:pPr>
            <a:r>
              <a:rPr lang="en-US" altLang="zh-CN" sz="2000"/>
              <a:t> (2) Functions: provides strategic guidance to the Council on economic policy and on the Common Foreign and Security Policy.  </a:t>
            </a:r>
            <a:endParaRPr lang="en-US" altLang="zh-CN" sz="2000"/>
          </a:p>
          <a:p>
            <a:endParaRPr lang="en-US" altLang="zh-CN" sz="2000"/>
          </a:p>
          <a:p>
            <a:r>
              <a:rPr lang="en-US" altLang="zh-CN" sz="2000"/>
              <a:t>2. United Nations  </a:t>
            </a:r>
            <a:endParaRPr lang="en-US" altLang="zh-CN" sz="2000"/>
          </a:p>
          <a:p>
            <a:pPr marL="114300" indent="0">
              <a:buNone/>
            </a:pPr>
            <a:r>
              <a:rPr lang="en-US" altLang="zh-CN" sz="2000"/>
              <a:t> (1) The General Assembly, composed of all Member States, holds a regular session each year; every Member State has one vote in the Assembly.  </a:t>
            </a:r>
            <a:endParaRPr lang="en-US" altLang="zh-CN" sz="2000"/>
          </a:p>
          <a:p>
            <a:pPr marL="114300" indent="0">
              <a:buNone/>
            </a:pPr>
            <a:r>
              <a:rPr lang="en-US" altLang="zh-CN" sz="2000"/>
              <a:t>(2) Functions: discusses any questions or matters within the scope of the Charter and may make recommendations to Member States or to the Security Council; receives and considers reports from the Security Council and other UN organs.</a:t>
            </a:r>
            <a:endParaRPr lang="en-US" altLang="zh-CN" sz="2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Times New Roman" panose="02020603050405020304" charset="0"/>
                <a:cs typeface="Times New Roman" panose="02020603050405020304" charset="0"/>
              </a:rPr>
              <a:t>II. Executive Organs of International Organizations  </a:t>
            </a:r>
            <a:endParaRPr lang="en-US" altLang="zh-CN"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457200" y="2060848"/>
            <a:ext cx="8229600" cy="4373563"/>
          </a:xfrm>
        </p:spPr>
        <p:txBody>
          <a:bodyPr>
            <a:normAutofit lnSpcReduction="20000"/>
          </a:bodyPr>
          <a:lstStyle/>
          <a:p>
            <a:pPr marL="628650" indent="-628650">
              <a:buFont typeface="Wingdings" panose="05000000000000000000" pitchFamily="2" charset="2"/>
              <a:buChar char="Ø"/>
            </a:pPr>
            <a:r>
              <a:rPr lang="en-US" altLang="zh-CN" sz="2200" dirty="0">
                <a:solidFill>
                  <a:schemeClr val="tx1"/>
                </a:solidFill>
              </a:rPr>
              <a:t>· Executive organs of international organizations:  </a:t>
            </a:r>
            <a:endParaRPr lang="en-US" altLang="zh-CN" sz="2200" dirty="0">
              <a:solidFill>
                <a:schemeClr val="tx1"/>
              </a:solidFill>
            </a:endParaRPr>
          </a:p>
          <a:p>
            <a:pPr marL="628650" indent="-628650">
              <a:buFont typeface="Wingdings" panose="05000000000000000000" pitchFamily="2" charset="2"/>
              <a:buChar char="Ø"/>
            </a:pPr>
            <a:r>
              <a:rPr lang="en-US" altLang="zh-CN" sz="2200" dirty="0">
                <a:solidFill>
                  <a:schemeClr val="tx1"/>
                </a:solidFill>
              </a:rPr>
              <a:t>·	Responsible for implementing the resolutions adopted by the deliberative and decision-making bodies,  </a:t>
            </a:r>
            <a:endParaRPr lang="en-US" altLang="zh-CN" sz="2200" dirty="0">
              <a:solidFill>
                <a:schemeClr val="tx1"/>
              </a:solidFill>
            </a:endParaRPr>
          </a:p>
          <a:p>
            <a:pPr marL="628650" indent="-628650">
              <a:buFont typeface="Wingdings" panose="05000000000000000000" pitchFamily="2" charset="2"/>
              <a:buChar char="Ø"/>
            </a:pPr>
            <a:r>
              <a:rPr lang="en-US" altLang="zh-CN" sz="2200" dirty="0">
                <a:solidFill>
                  <a:schemeClr val="tx1"/>
                </a:solidFill>
              </a:rPr>
              <a:t>· Usually designated as Executive Board, Council, or Executive Commission.  </a:t>
            </a:r>
            <a:endParaRPr lang="en-US" altLang="zh-CN" sz="2200" dirty="0">
              <a:solidFill>
                <a:schemeClr val="tx1"/>
              </a:solidFill>
            </a:endParaRPr>
          </a:p>
          <a:p>
            <a:pPr marL="628650" indent="-628650">
              <a:buFont typeface="Wingdings" panose="05000000000000000000" pitchFamily="2" charset="2"/>
              <a:buChar char="Ø"/>
            </a:pPr>
            <a:endParaRPr lang="en-US" altLang="zh-CN" sz="2200" dirty="0">
              <a:solidFill>
                <a:schemeClr val="tx1"/>
              </a:solidFill>
            </a:endParaRPr>
          </a:p>
          <a:p>
            <a:pPr marL="628650" indent="-628650">
              <a:buFont typeface="Wingdings" panose="05000000000000000000" pitchFamily="2" charset="2"/>
              <a:buChar char="Ø"/>
            </a:pPr>
            <a:r>
              <a:rPr lang="en-US" altLang="zh-CN" sz="2200" dirty="0">
                <a:solidFill>
                  <a:schemeClr val="tx1"/>
                </a:solidFill>
              </a:rPr>
              <a:t>· Principal functions:  </a:t>
            </a:r>
            <a:endParaRPr lang="en-US" altLang="zh-CN" sz="2200" dirty="0">
              <a:solidFill>
                <a:schemeClr val="tx1"/>
              </a:solidFill>
            </a:endParaRPr>
          </a:p>
          <a:p>
            <a:pPr marL="628650" indent="-628650">
              <a:buFont typeface="Wingdings" panose="05000000000000000000" pitchFamily="2" charset="2"/>
              <a:buChar char="Ø"/>
            </a:pPr>
            <a:r>
              <a:rPr lang="en-US" altLang="zh-CN" sz="2200" dirty="0">
                <a:solidFill>
                  <a:schemeClr val="tx1"/>
                </a:solidFill>
              </a:rPr>
              <a:t>Carrying out decisions of the supreme authority, handling matters within the organization’s mandate, proposing recommendations, plans and work programs and putting them into effect.  </a:t>
            </a:r>
            <a:endParaRPr lang="en-US" altLang="zh-CN" sz="2200" dirty="0">
              <a:solidFill>
                <a:schemeClr val="tx1"/>
              </a:solidFill>
            </a:endParaRPr>
          </a:p>
          <a:p>
            <a:pPr marL="628650" indent="-628650">
              <a:buFont typeface="Wingdings" panose="05000000000000000000" pitchFamily="2" charset="2"/>
              <a:buChar char="Ø"/>
            </a:pPr>
            <a:r>
              <a:rPr lang="en-US" altLang="zh-CN" sz="2200" dirty="0">
                <a:solidFill>
                  <a:schemeClr val="tx1"/>
                </a:solidFill>
              </a:rPr>
              <a:t>When the deliberative and decision-making organs are not in session, their powers are generally exercised by the executive organs.</a:t>
            </a:r>
            <a:endParaRPr lang="en-US" altLang="zh-CN" sz="22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373380" y="1668145"/>
            <a:ext cx="8476615" cy="4926965"/>
          </a:xfrm>
        </p:spPr>
        <p:txBody>
          <a:bodyPr>
            <a:normAutofit fontScale="80000"/>
          </a:bodyPr>
          <a:p>
            <a:r>
              <a:rPr lang="en-US" altLang="zh-CN"/>
              <a:t>1. United Nations – Security Council: the organ responsible for international peace and security; its resolutions are binding on all Member States.  </a:t>
            </a:r>
            <a:endParaRPr lang="en-US" altLang="zh-CN"/>
          </a:p>
          <a:p>
            <a:r>
              <a:rPr lang="en-US" altLang="zh-CN"/>
              <a:t>2. World Bank – Executive Board: handles the Bank’s day-to-day operations and exercises the powers delegated by the Board of Governors.  </a:t>
            </a:r>
            <a:endParaRPr lang="en-US" altLang="zh-CN"/>
          </a:p>
          <a:p>
            <a:r>
              <a:rPr lang="en-US" altLang="zh-CN"/>
              <a:t>3. International Monetary Fund – Executive Board.  </a:t>
            </a:r>
            <a:endParaRPr lang="en-US" altLang="zh-CN"/>
          </a:p>
          <a:p>
            <a:r>
              <a:rPr lang="en-US" altLang="zh-CN"/>
              <a:t>4. World Meteorological Organization – Executive Council: meets at least once a year to review the Organization’s activities and implement the decisions of the World Meteorological Congress; it is the executive body between Congress sessions.  </a:t>
            </a:r>
            <a:endParaRPr lang="en-US" altLang="zh-CN"/>
          </a:p>
          <a:p>
            <a:r>
              <a:rPr lang="en-US" altLang="zh-CN"/>
              <a:t>5. International Labour Organization – Governing Body: directs the work of the ILO when the International Labour Conference is not in session.  </a:t>
            </a:r>
            <a:endParaRPr lang="en-US" altLang="zh-CN"/>
          </a:p>
          <a:p>
            <a:r>
              <a:rPr lang="en-US" altLang="zh-CN"/>
              <a:t>6. International Maritime Organization – Council: its main functions are to make recommendations and to exercise consultative and advisory powers.  </a:t>
            </a:r>
            <a:endParaRPr lang="en-US" altLang="zh-CN"/>
          </a:p>
          <a:p>
            <a:r>
              <a:rPr lang="en-US" altLang="zh-CN"/>
              <a:t>7. European Union – European Commission: in the area of the Common Foreign and Security Policy, the principal executive body is the European Council.</a:t>
            </a:r>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II. Judicial Organs of International Organizations  </a:t>
            </a:r>
            <a:endParaRPr lang="en-US" altLang="zh-CN" dirty="0"/>
          </a:p>
        </p:txBody>
      </p:sp>
      <p:sp>
        <p:nvSpPr>
          <p:cNvPr id="3" name="内容占位符 2"/>
          <p:cNvSpPr>
            <a:spLocks noGrp="1"/>
          </p:cNvSpPr>
          <p:nvPr>
            <p:ph idx="1"/>
          </p:nvPr>
        </p:nvSpPr>
        <p:spPr>
          <a:xfrm>
            <a:off x="457200" y="2060848"/>
            <a:ext cx="8229600" cy="4373563"/>
          </a:xfrm>
        </p:spPr>
        <p:txBody>
          <a:bodyPr>
            <a:normAutofit lnSpcReduction="20000"/>
          </a:bodyPr>
          <a:lstStyle/>
          <a:p>
            <a:pPr marL="628650" indent="-628650">
              <a:buFont typeface="Wingdings" panose="05000000000000000000" pitchFamily="2" charset="2"/>
              <a:buChar char="Ø"/>
            </a:pPr>
            <a:r>
              <a:rPr lang="en-US" altLang="zh-CN" dirty="0" smtClean="0">
                <a:solidFill>
                  <a:schemeClr val="tx1"/>
                </a:solidFill>
              </a:rPr>
              <a:t>· Judicial organs of international organizations:  </a:t>
            </a:r>
            <a:endParaRPr lang="en-US" altLang="zh-CN" dirty="0" smtClean="0">
              <a:solidFill>
                <a:schemeClr val="tx1"/>
              </a:solidFill>
            </a:endParaRPr>
          </a:p>
          <a:p>
            <a:pPr marL="628650" indent="-628650">
              <a:buFont typeface="Wingdings" panose="05000000000000000000" pitchFamily="2" charset="2"/>
              <a:buChar char="Ø"/>
            </a:pPr>
            <a:endParaRPr lang="en-US" altLang="zh-CN" dirty="0" smtClean="0">
              <a:solidFill>
                <a:schemeClr val="tx1"/>
              </a:solidFill>
            </a:endParaRPr>
          </a:p>
          <a:p>
            <a:pPr marL="628650" indent="-628650">
              <a:buFont typeface="Wingdings" panose="05000000000000000000" pitchFamily="2" charset="2"/>
              <a:buChar char="Ø"/>
            </a:pPr>
            <a:r>
              <a:rPr lang="en-US" altLang="zh-CN" dirty="0" smtClean="0">
                <a:solidFill>
                  <a:schemeClr val="tx1"/>
                </a:solidFill>
              </a:rPr>
              <a:t>· Specifically entrusted with adjudicating legal questions and settling international disputes through judicial means.  </a:t>
            </a:r>
            <a:endParaRPr lang="en-US" altLang="zh-CN" dirty="0" smtClean="0">
              <a:solidFill>
                <a:schemeClr val="tx1"/>
              </a:solidFill>
            </a:endParaRPr>
          </a:p>
          <a:p>
            <a:pPr marL="628650" indent="-628650">
              <a:buFont typeface="Wingdings" panose="05000000000000000000" pitchFamily="2" charset="2"/>
              <a:buChar char="Ø"/>
            </a:pPr>
            <a:r>
              <a:rPr lang="en-US" altLang="zh-CN" dirty="0" smtClean="0">
                <a:solidFill>
                  <a:schemeClr val="tx1"/>
                </a:solidFill>
              </a:rPr>
              <a:t>· A special statute defines the court’s jurisdiction, applicable law, and judicial procedure.  </a:t>
            </a:r>
            <a:endParaRPr lang="en-US" altLang="zh-CN" dirty="0" smtClean="0">
              <a:solidFill>
                <a:schemeClr val="tx1"/>
              </a:solidFill>
            </a:endParaRPr>
          </a:p>
          <a:p>
            <a:pPr marL="628650" indent="-628650">
              <a:buFont typeface="Wingdings" panose="05000000000000000000" pitchFamily="2" charset="2"/>
              <a:buChar char="Ø"/>
            </a:pPr>
            <a:r>
              <a:rPr lang="en-US" altLang="zh-CN" dirty="0" smtClean="0">
                <a:solidFill>
                  <a:schemeClr val="tx1"/>
                </a:solidFill>
              </a:rPr>
              <a:t>· Judges are selected under strict conditions and procedures, normally nominated by member states and formally elected through a designated process.  </a:t>
            </a:r>
            <a:endParaRPr lang="en-US" altLang="zh-CN" dirty="0" smtClean="0">
              <a:solidFill>
                <a:schemeClr val="tx1"/>
              </a:solidFill>
            </a:endParaRPr>
          </a:p>
          <a:p>
            <a:pPr marL="628650" indent="-628650">
              <a:buFont typeface="Wingdings" panose="05000000000000000000" pitchFamily="2" charset="2"/>
              <a:buChar char="Ø"/>
            </a:pPr>
            <a:r>
              <a:rPr lang="en-US" altLang="zh-CN" dirty="0" smtClean="0">
                <a:solidFill>
                  <a:schemeClr val="tx1"/>
                </a:solidFill>
              </a:rPr>
              <a:t>· Judges perform their functions in complete independence, hear cases impartially in accordance with the law, and may not act on behalf of any other authority.</a:t>
            </a:r>
            <a:endParaRPr lang="en-US" altLang="zh-CN" dirty="0" smtClean="0">
              <a:solidFill>
                <a:schemeClr val="tx1"/>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382905" y="1609725"/>
            <a:ext cx="8505825" cy="5109210"/>
          </a:xfrm>
        </p:spPr>
        <p:txBody>
          <a:bodyPr>
            <a:normAutofit fontScale="90000" lnSpcReduction="20000"/>
          </a:bodyPr>
          <a:p>
            <a:r>
              <a:rPr lang="en-US" altLang="zh-CN"/>
              <a:t>1. League of Nations – Permanent Court of International Justice: the first global international judicial body; officially inaugurated in The Hague in February 1922; formally dissolved in 1946.  </a:t>
            </a:r>
            <a:endParaRPr lang="en-US" altLang="zh-CN"/>
          </a:p>
          <a:p>
            <a:r>
              <a:rPr lang="en-US" altLang="zh-CN"/>
              <a:t>2. United Nations – International Court of Justice: established in 1946; the Court adjudicates disputes that states voluntarily submit to it in the exercise of their sovereignty; the General Assembly or the Security Council may request the Court’s advisory opinion on any legal question.  </a:t>
            </a:r>
            <a:endParaRPr lang="en-US" altLang="zh-CN"/>
          </a:p>
          <a:p>
            <a:r>
              <a:rPr lang="en-US" altLang="zh-CN"/>
              <a:t>3. European Union: reviews the legality of acts adopted by the European Parliament or the European Council, and of acts adopted by the European Council, the Commission, the European Central Bank, or the European Parliament that are intended to produce legal effects vis-à-vis third parties.  </a:t>
            </a:r>
            <a:endParaRPr lang="en-US" altLang="zh-CN"/>
          </a:p>
          <a:p>
            <a:r>
              <a:rPr lang="en-US" altLang="zh-CN"/>
              <a:t>4. International Monetary Fund, International Labour Organization, etc. – Administrative Tribunals: legal remedies for international civil servants in labor and personnel disputes with their employers.</a:t>
            </a:r>
            <a:endParaRPr lang="en-US" altLang="zh-C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3110" dirty="0">
                <a:latin typeface="Times New Roman" panose="02020603050405020304" charset="0"/>
                <a:cs typeface="Times New Roman" panose="02020603050405020304" charset="0"/>
              </a:rPr>
              <a:t>IV. Administrative and Management Organs of International Organizations </a:t>
            </a:r>
            <a:r>
              <a:rPr lang="en-US" altLang="zh-CN" dirty="0"/>
              <a:t> </a:t>
            </a:r>
            <a:endParaRPr lang="en-US" altLang="zh-CN" dirty="0"/>
          </a:p>
        </p:txBody>
      </p:sp>
      <p:sp>
        <p:nvSpPr>
          <p:cNvPr id="3" name="内容占位符 2"/>
          <p:cNvSpPr>
            <a:spLocks noGrp="1"/>
          </p:cNvSpPr>
          <p:nvPr>
            <p:ph idx="1"/>
          </p:nvPr>
        </p:nvSpPr>
        <p:spPr>
          <a:xfrm>
            <a:off x="351790" y="1713865"/>
            <a:ext cx="8335010" cy="4831080"/>
          </a:xfrm>
        </p:spPr>
        <p:txBody>
          <a:bodyPr>
            <a:normAutofit fontScale="90000"/>
          </a:bodyPr>
          <a:lstStyle/>
          <a:p>
            <a:pPr marL="628650" indent="-628650">
              <a:buFont typeface="Wingdings" panose="05000000000000000000" pitchFamily="2" charset="2"/>
              <a:buChar char="Ø"/>
            </a:pPr>
            <a:r>
              <a:rPr lang="en-US" altLang="zh-CN" sz="2200" dirty="0">
                <a:solidFill>
                  <a:schemeClr val="tx1"/>
                </a:solidFill>
              </a:rPr>
              <a:t>· Administrative and management organs of international organizations:  </a:t>
            </a:r>
            <a:endParaRPr lang="en-US" altLang="zh-CN" sz="2200" dirty="0">
              <a:solidFill>
                <a:schemeClr val="tx1"/>
              </a:solidFill>
            </a:endParaRPr>
          </a:p>
          <a:p>
            <a:pPr marL="628650" indent="-628650">
              <a:buFont typeface="Wingdings" panose="05000000000000000000" pitchFamily="2" charset="2"/>
              <a:buChar char="Ø"/>
            </a:pPr>
            <a:r>
              <a:rPr lang="en-US" altLang="zh-CN" sz="2200" dirty="0">
                <a:solidFill>
                  <a:schemeClr val="tx1"/>
                </a:solidFill>
              </a:rPr>
              <a:t>· Permanent bodies within an international organization that provide services to other organs and carry out the policies and programs adopted by the principal organs.  </a:t>
            </a:r>
            <a:endParaRPr lang="en-US" altLang="zh-CN" sz="2200" dirty="0">
              <a:solidFill>
                <a:schemeClr val="tx1"/>
              </a:solidFill>
            </a:endParaRPr>
          </a:p>
          <a:p>
            <a:pPr marL="628650" indent="-628650">
              <a:buFont typeface="Wingdings" panose="05000000000000000000" pitchFamily="2" charset="2"/>
              <a:buChar char="Ø"/>
            </a:pPr>
            <a:r>
              <a:rPr lang="en-US" altLang="zh-CN" sz="2200" dirty="0">
                <a:solidFill>
                  <a:schemeClr val="tx1"/>
                </a:solidFill>
              </a:rPr>
              <a:t>· Usually designated as the Secretariat.  </a:t>
            </a:r>
            <a:endParaRPr lang="en-US" altLang="zh-CN" sz="2200" dirty="0">
              <a:solidFill>
                <a:schemeClr val="tx1"/>
              </a:solidFill>
            </a:endParaRPr>
          </a:p>
          <a:p>
            <a:pPr marL="628650" indent="-628650">
              <a:buFont typeface="Wingdings" panose="05000000000000000000" pitchFamily="2" charset="2"/>
              <a:buChar char="Ø"/>
            </a:pPr>
            <a:endParaRPr lang="en-US" altLang="zh-CN" sz="2200" dirty="0">
              <a:solidFill>
                <a:schemeClr val="tx1"/>
              </a:solidFill>
            </a:endParaRPr>
          </a:p>
          <a:p>
            <a:pPr marL="628650" indent="-628650">
              <a:buFont typeface="Wingdings" panose="05000000000000000000" pitchFamily="2" charset="2"/>
              <a:buChar char="Ø"/>
            </a:pPr>
            <a:r>
              <a:rPr lang="en-US" altLang="zh-CN" sz="2200" dirty="0">
                <a:solidFill>
                  <a:schemeClr val="tx1"/>
                </a:solidFill>
              </a:rPr>
              <a:t>· Principal functions of the Secretariat:  </a:t>
            </a:r>
            <a:endParaRPr lang="en-US" altLang="zh-CN" sz="2200" dirty="0">
              <a:solidFill>
                <a:schemeClr val="tx1"/>
              </a:solidFill>
            </a:endParaRPr>
          </a:p>
          <a:p>
            <a:pPr marL="628650" indent="-628650">
              <a:buFont typeface="Wingdings" panose="05000000000000000000" pitchFamily="2" charset="2"/>
              <a:buChar char="Ø"/>
            </a:pPr>
            <a:r>
              <a:rPr lang="en-US" altLang="zh-CN" sz="2200" dirty="0">
                <a:solidFill>
                  <a:schemeClr val="tx1"/>
                </a:solidFill>
              </a:rPr>
              <a:t>The core of modern international organizations’ administrative and managerial work, encompassing finance, conference services, research, technical support, information, dispute mediation, and external representation of the organization.  </a:t>
            </a:r>
            <a:endParaRPr lang="en-US" altLang="zh-CN" sz="2200" dirty="0">
              <a:solidFill>
                <a:schemeClr val="tx1"/>
              </a:solidFill>
            </a:endParaRPr>
          </a:p>
          <a:p>
            <a:pPr marL="628650" indent="-628650">
              <a:buFont typeface="Wingdings" panose="05000000000000000000" pitchFamily="2" charset="2"/>
              <a:buChar char="Ø"/>
            </a:pPr>
            <a:r>
              <a:rPr lang="en-US" altLang="zh-CN" sz="2200" dirty="0">
                <a:solidFill>
                  <a:schemeClr val="tx1"/>
                </a:solidFill>
              </a:rPr>
              <a:t>· Main tasks of the organ and its head: handling all daily administrative and managerial affairs of the organization, coordinating the activities of its permanent bodies, and furnishing them with every necessary service.</a:t>
            </a:r>
            <a:endParaRPr lang="en-US" altLang="zh-CN" sz="22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27660" y="445770"/>
            <a:ext cx="8359140" cy="6199505"/>
          </a:xfrm>
        </p:spPr>
        <p:txBody>
          <a:bodyPr>
            <a:normAutofit fontScale="80000"/>
          </a:bodyPr>
          <a:p>
            <a:r>
              <a:rPr lang="en-US" altLang="zh-CN"/>
              <a:t>1. International Telegraph Union – International Bureau: the earliest international secretariat in the history of international organizations.  </a:t>
            </a:r>
            <a:endParaRPr lang="en-US" altLang="zh-CN"/>
          </a:p>
          <a:p>
            <a:r>
              <a:rPr lang="en-US" altLang="zh-CN"/>
              <a:t>2. United Nations – Secretariat: composed of all international staff at UN Headquarters in New York and in offices worldwide; conducts the day-to-day work of the Organization; headed by the Secretary-General, appointed by the General Assembly on the recommendation of the Security Council for a five-year term, renewable once.  </a:t>
            </a:r>
            <a:endParaRPr lang="en-US" altLang="zh-CN"/>
          </a:p>
          <a:p>
            <a:r>
              <a:rPr lang="en-US" altLang="zh-CN"/>
              <a:t>3. European Union – Secretariat: provides advice on procedural matters, prepares minutes and reports, and handles translation and transmission of Council texts.  </a:t>
            </a:r>
            <a:endParaRPr lang="en-US" altLang="zh-CN"/>
          </a:p>
          <a:p>
            <a:r>
              <a:rPr lang="en-US" altLang="zh-CN"/>
              <a:t>4. Shanghai Cooperation Organization – Secretariat: supplies administrative, technical, and information support for activities within the Organization’s framework.  </a:t>
            </a:r>
            <a:endParaRPr lang="en-US" altLang="zh-CN"/>
          </a:p>
          <a:p>
            <a:r>
              <a:rPr lang="en-US" altLang="zh-CN"/>
              <a:t>5. World Bank – Administrative structure: consists of the President, several Vice Presidents, Directors, Department Heads, and staff.  </a:t>
            </a:r>
            <a:endParaRPr lang="en-US" altLang="zh-CN"/>
          </a:p>
          <a:p>
            <a:r>
              <a:rPr lang="en-US" altLang="zh-CN"/>
              <a:t>6. World Meteorological Organization – Secretariat: headed by a Secretary-General appointed by the World Meteorological Congress; handles routine international meteorological affairs, with a number of functional divisions under it responsible for specific tasks.</a:t>
            </a:r>
            <a:endParaRPr lang="en-US" altLang="zh-C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sz="3110">
                <a:latin typeface="Times New Roman" panose="02020603050405020304" charset="0"/>
                <a:cs typeface="Times New Roman" panose="02020603050405020304" charset="0"/>
              </a:rPr>
              <a:t>IV. Specialized and Subsidiary Organs of International Organizations</a:t>
            </a:r>
            <a:r>
              <a:rPr lang="en-US" altLang="zh-CN"/>
              <a:t> </a:t>
            </a:r>
            <a:endParaRPr lang="en-US" altLang="zh-CN"/>
          </a:p>
        </p:txBody>
      </p:sp>
      <p:sp>
        <p:nvSpPr>
          <p:cNvPr id="3" name="内容占位符 2"/>
          <p:cNvSpPr>
            <a:spLocks noGrp="1"/>
          </p:cNvSpPr>
          <p:nvPr>
            <p:ph idx="1"/>
          </p:nvPr>
        </p:nvSpPr>
        <p:spPr>
          <a:xfrm>
            <a:off x="381000" y="1752600"/>
            <a:ext cx="8431530" cy="4373880"/>
          </a:xfrm>
        </p:spPr>
        <p:txBody>
          <a:bodyPr>
            <a:normAutofit lnSpcReduction="20000"/>
          </a:bodyPr>
          <a:p>
            <a:r>
              <a:rPr lang="en-US" altLang="zh-CN"/>
              <a:t>Specialized and subsidiary organs of international organizations:  </a:t>
            </a:r>
            <a:endParaRPr lang="en-US" altLang="zh-CN"/>
          </a:p>
          <a:p>
            <a:r>
              <a:rPr lang="en-US" altLang="zh-CN"/>
              <a:t>· A specialized body  </a:t>
            </a:r>
            <a:endParaRPr lang="en-US" altLang="zh-CN"/>
          </a:p>
          <a:p>
            <a:r>
              <a:rPr lang="en-US" altLang="zh-CN"/>
              <a:t>· Technical experts participate in their personal capacity  </a:t>
            </a:r>
            <a:endParaRPr lang="en-US" altLang="zh-CN"/>
          </a:p>
          <a:p>
            <a:endParaRPr lang="en-US" altLang="zh-CN"/>
          </a:p>
          <a:p>
            <a:r>
              <a:rPr lang="en-US" altLang="zh-CN"/>
              <a:t>· Composition:  </a:t>
            </a:r>
            <a:endParaRPr lang="en-US" altLang="zh-CN"/>
          </a:p>
          <a:p>
            <a:r>
              <a:rPr lang="en-US" altLang="zh-CN"/>
              <a:t>May be composed of all member states or only some;  </a:t>
            </a:r>
            <a:endParaRPr lang="en-US" altLang="zh-CN"/>
          </a:p>
          <a:p>
            <a:r>
              <a:rPr lang="en-US" altLang="zh-CN"/>
              <a:t>May consist of governmental representatives or individual experts;  </a:t>
            </a:r>
            <a:endParaRPr lang="en-US" altLang="zh-CN"/>
          </a:p>
          <a:p>
            <a:r>
              <a:rPr lang="en-US" altLang="zh-CN"/>
              <a:t>May be regional, permanent, or temporary;  </a:t>
            </a:r>
            <a:endParaRPr lang="en-US" altLang="zh-CN"/>
          </a:p>
          <a:p>
            <a:r>
              <a:rPr lang="en-US" altLang="zh-CN"/>
              <a:t>May deliberate on a specific professional field or be charged with handling a particular technical issue.</a:t>
            </a:r>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sz="2800" dirty="0">
                <a:latin typeface="Times New Roman" panose="02020603050405020304" charset="0"/>
                <a:cs typeface="Times New Roman" panose="02020603050405020304" charset="0"/>
              </a:rPr>
              <a:t>Section </a:t>
            </a:r>
            <a:r>
              <a:rPr lang="en-US" altLang="zh-CN" sz="2800" dirty="0">
                <a:latin typeface="Times New Roman" panose="02020603050405020304" charset="0"/>
                <a:cs typeface="Times New Roman" panose="02020603050405020304" charset="0"/>
              </a:rPr>
              <a:t>two  Operating Mechanisms of International Organizations</a:t>
            </a:r>
            <a:endParaRPr lang="en-US" altLang="zh-CN" sz="2800" dirty="0">
              <a:latin typeface="Times New Roman" panose="02020603050405020304" charset="0"/>
              <a:cs typeface="Times New Roman" panose="02020603050405020304" charset="0"/>
            </a:endParaRPr>
          </a:p>
        </p:txBody>
      </p:sp>
      <p:sp>
        <p:nvSpPr>
          <p:cNvPr id="3" name="文本占位符 2"/>
          <p:cNvSpPr>
            <a:spLocks noGrp="1"/>
          </p:cNvSpPr>
          <p:nvPr>
            <p:ph type="body" idx="1"/>
          </p:nvPr>
        </p:nvSpPr>
        <p:spPr/>
        <p:txBody>
          <a:bodyPr/>
          <a:lstStyle/>
          <a:p>
            <a:pPr algn="r"/>
            <a:r>
              <a:rPr lang="zh-CN" altLang="en-US" dirty="0"/>
              <a:t>第四章  国际组织的机构与运行</a:t>
            </a:r>
            <a:endParaRPr lang="zh-CN" alt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Times New Roman" panose="02020603050405020304" charset="0"/>
                <a:cs typeface="Times New Roman" panose="02020603050405020304" charset="0"/>
              </a:rPr>
              <a:t>I. Decision-Making Mechanisms of International Organizations</a:t>
            </a:r>
            <a:r>
              <a:rPr lang="en-US" altLang="zh-CN" dirty="0"/>
              <a:t>  </a:t>
            </a:r>
            <a:endParaRPr lang="en-US" altLang="zh-CN" dirty="0"/>
          </a:p>
        </p:txBody>
      </p:sp>
      <p:sp>
        <p:nvSpPr>
          <p:cNvPr id="3" name="内容占位符 2"/>
          <p:cNvSpPr>
            <a:spLocks noGrp="1"/>
          </p:cNvSpPr>
          <p:nvPr>
            <p:ph idx="1"/>
          </p:nvPr>
        </p:nvSpPr>
        <p:spPr>
          <a:xfrm>
            <a:off x="351790" y="1752600"/>
            <a:ext cx="8335010" cy="4373880"/>
          </a:xfrm>
        </p:spPr>
        <p:txBody>
          <a:bodyPr>
            <a:normAutofit fontScale="90000" lnSpcReduction="20000"/>
          </a:bodyPr>
          <a:lstStyle/>
          <a:p>
            <a:pPr marL="533400" indent="-533400">
              <a:buFont typeface="Wingdings" panose="05000000000000000000" pitchFamily="2" charset="2"/>
              <a:buChar char="Ø"/>
            </a:pPr>
            <a:r>
              <a:rPr lang="en-US" altLang="zh-CN" dirty="0">
                <a:solidFill>
                  <a:schemeClr val="tx1"/>
                </a:solidFill>
              </a:rPr>
              <a:t>· The decision-making mechanism is the core of an international organization’s decision-making process.  </a:t>
            </a:r>
            <a:endParaRPr lang="en-US" altLang="zh-CN" dirty="0">
              <a:solidFill>
                <a:schemeClr val="tx1"/>
              </a:solidFill>
            </a:endParaRPr>
          </a:p>
          <a:p>
            <a:pPr marL="533400" indent="-533400">
              <a:buFont typeface="Wingdings" panose="05000000000000000000" pitchFamily="2" charset="2"/>
              <a:buChar char="Ø"/>
            </a:pPr>
            <a:endParaRPr lang="en-US" altLang="zh-CN" dirty="0">
              <a:solidFill>
                <a:schemeClr val="tx1"/>
              </a:solidFill>
            </a:endParaRPr>
          </a:p>
          <a:p>
            <a:pPr marL="533400" indent="-533400">
              <a:buFont typeface="Wingdings" panose="05000000000000000000" pitchFamily="2" charset="2"/>
              <a:buChar char="Ø"/>
            </a:pPr>
            <a:r>
              <a:rPr lang="en-US" altLang="zh-CN" dirty="0">
                <a:solidFill>
                  <a:schemeClr val="tx1"/>
                </a:solidFill>
              </a:rPr>
              <a:t>· The decision-making mechanism employed by an international organization is determined by its constituent instrument.  </a:t>
            </a:r>
            <a:endParaRPr lang="en-US" altLang="zh-CN" dirty="0">
              <a:solidFill>
                <a:schemeClr val="tx1"/>
              </a:solidFill>
            </a:endParaRPr>
          </a:p>
          <a:p>
            <a:pPr marL="533400" indent="-533400">
              <a:buFont typeface="Wingdings" panose="05000000000000000000" pitchFamily="2" charset="2"/>
              <a:buChar char="Ø"/>
            </a:pPr>
            <a:endParaRPr lang="en-US" altLang="zh-CN" dirty="0">
              <a:solidFill>
                <a:schemeClr val="tx1"/>
              </a:solidFill>
            </a:endParaRPr>
          </a:p>
          <a:p>
            <a:pPr marL="533400" indent="-533400">
              <a:buFont typeface="Wingdings" panose="05000000000000000000" pitchFamily="2" charset="2"/>
              <a:buChar char="Ø"/>
            </a:pPr>
            <a:r>
              <a:rPr lang="en-US" altLang="zh-CN" dirty="0">
                <a:solidFill>
                  <a:schemeClr val="tx1"/>
                </a:solidFill>
              </a:rPr>
              <a:t>· Decisions in international organizations are usually taken by voting.  </a:t>
            </a:r>
            <a:endParaRPr lang="en-US" altLang="zh-CN" dirty="0">
              <a:solidFill>
                <a:schemeClr val="tx1"/>
              </a:solidFill>
            </a:endParaRPr>
          </a:p>
          <a:p>
            <a:pPr marL="533400" indent="-533400">
              <a:buFont typeface="Wingdings" panose="05000000000000000000" pitchFamily="2" charset="2"/>
              <a:buChar char="Ø"/>
            </a:pPr>
            <a:endParaRPr lang="en-US" altLang="zh-CN" dirty="0">
              <a:solidFill>
                <a:schemeClr val="tx1"/>
              </a:solidFill>
            </a:endParaRPr>
          </a:p>
          <a:p>
            <a:pPr marL="533400" indent="-533400">
              <a:buFont typeface="Wingdings" panose="05000000000000000000" pitchFamily="2" charset="2"/>
              <a:buChar char="Ø"/>
            </a:pPr>
            <a:r>
              <a:rPr lang="en-US" altLang="zh-CN" dirty="0">
                <a:solidFill>
                  <a:schemeClr val="tx1"/>
                </a:solidFill>
              </a:rPr>
              <a:t>· The decision-making mechanisms of international organizations essentially revolve around two fundamental issues:  </a:t>
            </a:r>
            <a:endParaRPr lang="en-US" altLang="zh-CN" dirty="0">
              <a:solidFill>
                <a:schemeClr val="tx1"/>
              </a:solidFill>
            </a:endParaRPr>
          </a:p>
          <a:p>
            <a:pPr marL="533400" indent="-533400">
              <a:buFont typeface="Wingdings" panose="05000000000000000000" pitchFamily="2" charset="2"/>
              <a:buChar char="Ø"/>
            </a:pPr>
            <a:r>
              <a:rPr lang="en-US" altLang="zh-CN" dirty="0">
                <a:solidFill>
                  <a:schemeClr val="tx1"/>
                </a:solidFill>
              </a:rPr>
              <a:t>· Allocation of voting rights  </a:t>
            </a:r>
            <a:endParaRPr lang="en-US" altLang="zh-CN" dirty="0">
              <a:solidFill>
                <a:schemeClr val="tx1"/>
              </a:solidFill>
            </a:endParaRPr>
          </a:p>
          <a:p>
            <a:pPr marL="533400" indent="-533400">
              <a:buFont typeface="Wingdings" panose="05000000000000000000" pitchFamily="2" charset="2"/>
              <a:buChar char="Ø"/>
            </a:pPr>
            <a:r>
              <a:rPr lang="en-US" altLang="zh-CN" dirty="0">
                <a:solidFill>
                  <a:schemeClr val="tx1"/>
                </a:solidFill>
              </a:rPr>
              <a:t>· Concentration of voting power</a:t>
            </a:r>
            <a:endParaRPr lang="en-US" altLang="zh-CN" dirty="0">
              <a:solidFill>
                <a:schemeClr val="tx1"/>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(1) Allocation of Voting Rights </a:t>
            </a:r>
            <a:endParaRPr lang="en-US" altLang="zh-CN" dirty="0"/>
          </a:p>
        </p:txBody>
      </p:sp>
      <p:sp>
        <p:nvSpPr>
          <p:cNvPr id="3" name="内容占位符 2"/>
          <p:cNvSpPr>
            <a:spLocks noGrp="1"/>
          </p:cNvSpPr>
          <p:nvPr>
            <p:ph idx="1"/>
          </p:nvPr>
        </p:nvSpPr>
        <p:spPr>
          <a:xfrm>
            <a:off x="228600" y="1752600"/>
            <a:ext cx="8458200" cy="4819650"/>
          </a:xfrm>
        </p:spPr>
        <p:txBody>
          <a:bodyPr>
            <a:normAutofit fontScale="90000" lnSpcReduction="20000"/>
          </a:bodyPr>
          <a:lstStyle/>
          <a:p>
            <a:pPr marL="628650" indent="-628650">
              <a:buFont typeface="Wingdings" panose="05000000000000000000" pitchFamily="2" charset="2"/>
              <a:buChar char="Ø"/>
            </a:pPr>
            <a:r>
              <a:rPr lang="en-US" altLang="zh-CN" sz="2500" dirty="0">
                <a:solidFill>
                  <a:schemeClr val="tx1"/>
                </a:solidFill>
                <a:latin typeface="Times New Roman" panose="02020603050405020304" charset="0"/>
                <a:ea typeface="楷体" panose="02010609060101010101" pitchFamily="49" charset="-122"/>
                <a:cs typeface="Times New Roman" panose="02020603050405020304" charset="0"/>
              </a:rPr>
              <a:t>· The one-state-one-vote system grants every member state equal voting power, regardless of its status or role,  </a:t>
            </a:r>
            <a:endParaRPr lang="en-US" altLang="zh-CN" sz="2500" dirty="0">
              <a:solidFill>
                <a:schemeClr val="tx1"/>
              </a:solidFill>
              <a:latin typeface="Times New Roman" panose="02020603050405020304" charset="0"/>
              <a:ea typeface="楷体" panose="02010609060101010101" pitchFamily="49" charset="-122"/>
              <a:cs typeface="Times New Roman" panose="02020603050405020304" charset="0"/>
            </a:endParaRPr>
          </a:p>
          <a:p>
            <a:pPr marL="628650" indent="-628650">
              <a:buFont typeface="Wingdings" panose="05000000000000000000" pitchFamily="2" charset="2"/>
              <a:buChar char="Ø"/>
            </a:pPr>
            <a:r>
              <a:rPr lang="en-US" altLang="zh-CN" sz="2500" dirty="0">
                <a:solidFill>
                  <a:schemeClr val="tx1"/>
                </a:solidFill>
                <a:latin typeface="Times New Roman" panose="02020603050405020304" charset="0"/>
                <a:ea typeface="楷体" panose="02010609060101010101" pitchFamily="49" charset="-122"/>
                <a:cs typeface="Times New Roman" panose="02020603050405020304" charset="0"/>
              </a:rPr>
              <a:t>  e.g., the voting procedure of the United Nations General Assembly.  </a:t>
            </a:r>
            <a:endParaRPr lang="en-US" altLang="zh-CN" sz="2500" dirty="0">
              <a:solidFill>
                <a:schemeClr val="tx1"/>
              </a:solidFill>
              <a:latin typeface="Times New Roman" panose="02020603050405020304" charset="0"/>
              <a:ea typeface="楷体" panose="02010609060101010101" pitchFamily="49" charset="-122"/>
              <a:cs typeface="Times New Roman" panose="02020603050405020304" charset="0"/>
            </a:endParaRPr>
          </a:p>
          <a:p>
            <a:pPr marL="628650" indent="-628650">
              <a:buFont typeface="Wingdings" panose="05000000000000000000" pitchFamily="2" charset="2"/>
              <a:buChar char="Ø"/>
            </a:pPr>
            <a:endParaRPr lang="en-US" altLang="zh-CN" sz="2500" dirty="0">
              <a:solidFill>
                <a:schemeClr val="tx1"/>
              </a:solidFill>
              <a:latin typeface="Times New Roman" panose="02020603050405020304" charset="0"/>
              <a:ea typeface="楷体" panose="02010609060101010101" pitchFamily="49" charset="-122"/>
              <a:cs typeface="Times New Roman" panose="02020603050405020304" charset="0"/>
            </a:endParaRPr>
          </a:p>
          <a:p>
            <a:pPr marL="628650" indent="-628650">
              <a:buFont typeface="Wingdings" panose="05000000000000000000" pitchFamily="2" charset="2"/>
              <a:buChar char="Ø"/>
            </a:pPr>
            <a:r>
              <a:rPr lang="en-US" altLang="zh-CN" sz="2500" dirty="0">
                <a:solidFill>
                  <a:schemeClr val="tx1"/>
                </a:solidFill>
                <a:latin typeface="Times New Roman" panose="02020603050405020304" charset="0"/>
                <a:ea typeface="楷体" panose="02010609060101010101" pitchFamily="49" charset="-122"/>
                <a:cs typeface="Times New Roman" panose="02020603050405020304" charset="0"/>
              </a:rPr>
              <a:t>· Weighted voting distributes different numbers of votes or unequal voting weights among member states according to specified criteria and principles.  </a:t>
            </a:r>
            <a:endParaRPr lang="en-US" altLang="zh-CN" sz="2500" dirty="0">
              <a:solidFill>
                <a:schemeClr val="tx1"/>
              </a:solidFill>
              <a:latin typeface="Times New Roman" panose="02020603050405020304" charset="0"/>
              <a:ea typeface="楷体" panose="02010609060101010101" pitchFamily="49" charset="-122"/>
              <a:cs typeface="Times New Roman" panose="02020603050405020304" charset="0"/>
            </a:endParaRPr>
          </a:p>
          <a:p>
            <a:pPr marL="628650" indent="-628650">
              <a:buFont typeface="Wingdings" panose="05000000000000000000" pitchFamily="2" charset="2"/>
              <a:buChar char="Ø"/>
            </a:pPr>
            <a:r>
              <a:rPr lang="en-US" altLang="zh-CN" sz="2500" dirty="0">
                <a:solidFill>
                  <a:schemeClr val="tx1"/>
                </a:solidFill>
                <a:latin typeface="Times New Roman" panose="02020603050405020304" charset="0"/>
                <a:ea typeface="楷体" panose="02010609060101010101" pitchFamily="49" charset="-122"/>
                <a:cs typeface="Times New Roman" panose="02020603050405020304" charset="0"/>
              </a:rPr>
              <a:t>Specifically: based on factors such as a member’s responsibility, contribution, or stake in the organization, unequal numbers of votes or dissimilar voting values are assigned, giving members that possess certain advantages a larger voting weight—i.e., weighted voting rights.  </a:t>
            </a:r>
            <a:endParaRPr lang="en-US" altLang="zh-CN" sz="2500" dirty="0">
              <a:solidFill>
                <a:schemeClr val="tx1"/>
              </a:solidFill>
              <a:latin typeface="Times New Roman" panose="02020603050405020304" charset="0"/>
              <a:ea typeface="楷体" panose="02010609060101010101" pitchFamily="49" charset="-122"/>
              <a:cs typeface="Times New Roman" panose="02020603050405020304" charset="0"/>
            </a:endParaRPr>
          </a:p>
          <a:p>
            <a:pPr marL="628650" indent="-628650">
              <a:buFont typeface="Wingdings" panose="05000000000000000000" pitchFamily="2" charset="2"/>
              <a:buChar char="Ø"/>
            </a:pPr>
            <a:r>
              <a:rPr lang="en-US" altLang="zh-CN" sz="2500" dirty="0">
                <a:solidFill>
                  <a:schemeClr val="tx1"/>
                </a:solidFill>
                <a:latin typeface="Times New Roman" panose="02020603050405020304" charset="0"/>
                <a:ea typeface="楷体" panose="02010609060101010101" pitchFamily="49" charset="-122"/>
                <a:cs typeface="Times New Roman" panose="02020603050405020304" charset="0"/>
              </a:rPr>
              <a:t>  e.g., the voting mechanisms of the World Bank, the International Monetary Fund, and within the European Union.</a:t>
            </a:r>
            <a:endParaRPr lang="en-US" altLang="zh-CN" sz="2500" dirty="0">
              <a:solidFill>
                <a:schemeClr val="tx1"/>
              </a:solidFill>
              <a:latin typeface="Times New Roman" panose="02020603050405020304" charset="0"/>
              <a:ea typeface="楷体" panose="02010609060101010101" pitchFamily="49" charset="-122"/>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(2) Concentration of Voting Power</a:t>
            </a:r>
            <a:endParaRPr lang="en-US" altLang="zh-CN"/>
          </a:p>
        </p:txBody>
      </p:sp>
      <p:sp>
        <p:nvSpPr>
          <p:cNvPr id="3" name="内容占位符 2"/>
          <p:cNvSpPr>
            <a:spLocks noGrp="1"/>
          </p:cNvSpPr>
          <p:nvPr>
            <p:ph idx="1"/>
          </p:nvPr>
        </p:nvSpPr>
        <p:spPr>
          <a:xfrm>
            <a:off x="280035" y="1741170"/>
            <a:ext cx="8672195" cy="5006340"/>
          </a:xfrm>
        </p:spPr>
        <p:txBody>
          <a:bodyPr>
            <a:normAutofit fontScale="60000"/>
          </a:bodyPr>
          <a:p>
            <a:r>
              <a:rPr lang="en-US" altLang="zh-CN" sz="3000"/>
              <a:t>1. Majority voting  </a:t>
            </a:r>
            <a:endParaRPr lang="en-US" altLang="zh-CN" sz="3000"/>
          </a:p>
          <a:p>
            <a:r>
              <a:rPr lang="en-US" altLang="zh-CN" sz="3000"/>
              <a:t>   One country, one vote: each member state has an equal vote; resolutions require the assent of a majority of members.  </a:t>
            </a:r>
            <a:endParaRPr lang="en-US" altLang="zh-CN" sz="3000"/>
          </a:p>
          <a:p>
            <a:r>
              <a:rPr lang="en-US" altLang="zh-CN" sz="3000"/>
              <a:t>   (1) Simple majority: more than half of the votes cast suffices for adoption.  </a:t>
            </a:r>
            <a:endParaRPr lang="en-US" altLang="zh-CN" sz="3000"/>
          </a:p>
          <a:p>
            <a:r>
              <a:rPr lang="en-US" altLang="zh-CN" sz="3000"/>
              <a:t>   (2) Qualified majority: adoption requires a specified proportion—e.g., a two-thirds majority.  </a:t>
            </a:r>
            <a:endParaRPr lang="en-US" altLang="zh-CN" sz="3000"/>
          </a:p>
          <a:p>
            <a:r>
              <a:rPr lang="en-US" altLang="zh-CN" sz="3000"/>
              <a:t>   (3) Majority plus specified members: in addition to the required number of votes, the affirmative votes of designated member states are necessary for adoption.</a:t>
            </a:r>
            <a:endParaRPr lang="en-US" altLang="zh-CN" sz="3000"/>
          </a:p>
          <a:p>
            <a:r>
              <a:rPr lang="en-US" altLang="zh-CN" sz="3000"/>
              <a:t>2. Consensus  </a:t>
            </a:r>
            <a:endParaRPr lang="en-US" altLang="zh-CN" sz="3000"/>
          </a:p>
          <a:p>
            <a:r>
              <a:rPr lang="en-US" altLang="zh-CN" sz="3000"/>
              <a:t>   On a draft resolution under discussion, members engage in extensive consultations. If no formal objection emerges on the essential points, the text is deemed adopted by consensus without a formal vote. Voting is used only when consensus cannot be reached.</a:t>
            </a:r>
            <a:endParaRPr lang="en-US" altLang="zh-CN" sz="3000"/>
          </a:p>
          <a:p>
            <a:r>
              <a:rPr lang="en-US" altLang="zh-CN" sz="3000"/>
              <a:t>3. Minority veto  </a:t>
            </a:r>
            <a:endParaRPr lang="en-US" altLang="zh-CN" sz="3000"/>
          </a:p>
          <a:p>
            <a:r>
              <a:rPr lang="en-US" altLang="zh-CN" sz="3000"/>
              <a:t>   Applied in the UN Security Council: under the veto power of permanent members, any non-procedural matter fails if a single permanent member casts a negative vote, even if the other fourteen members vote in favor.</a:t>
            </a:r>
            <a:endParaRPr lang="en-US" altLang="zh-CN" sz="3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3110" dirty="0">
                <a:latin typeface="Times New Roman" panose="02020603050405020304" charset="0"/>
                <a:cs typeface="Times New Roman" panose="02020603050405020304" charset="0"/>
              </a:rPr>
              <a:t>II. Executive Procedures of International Organizations </a:t>
            </a:r>
            <a:r>
              <a:rPr lang="en-US" altLang="zh-CN" dirty="0">
                <a:latin typeface="+mj-ea"/>
              </a:rPr>
              <a:t> </a:t>
            </a:r>
            <a:endParaRPr lang="en-US" altLang="zh-CN" dirty="0">
              <a:latin typeface="+mj-ea"/>
            </a:endParaRPr>
          </a:p>
        </p:txBody>
      </p:sp>
      <p:sp>
        <p:nvSpPr>
          <p:cNvPr id="3" name="内容占位符 2"/>
          <p:cNvSpPr>
            <a:spLocks noGrp="1"/>
          </p:cNvSpPr>
          <p:nvPr>
            <p:ph idx="1"/>
          </p:nvPr>
        </p:nvSpPr>
        <p:spPr/>
        <p:txBody>
          <a:bodyPr>
            <a:normAutofit fontScale="90000" lnSpcReduction="20000"/>
          </a:bodyPr>
          <a:lstStyle/>
          <a:p>
            <a:pPr marL="114300" indent="0">
              <a:buNone/>
            </a:pPr>
            <a:r>
              <a:rPr lang="en-US" altLang="zh-CN" dirty="0">
                <a:solidFill>
                  <a:schemeClr val="tx1"/>
                </a:solidFill>
              </a:rPr>
              <a:t>1. Convening Meetings  </a:t>
            </a:r>
            <a:endParaRPr lang="en-US" altLang="zh-CN" dirty="0">
              <a:solidFill>
                <a:schemeClr val="tx1"/>
              </a:solidFill>
            </a:endParaRPr>
          </a:p>
          <a:p>
            <a:pPr marL="114300" indent="0">
              <a:buNone/>
            </a:pPr>
            <a:endParaRPr lang="en-US" altLang="zh-CN" dirty="0">
              <a:solidFill>
                <a:schemeClr val="tx1"/>
              </a:solidFill>
            </a:endParaRPr>
          </a:p>
          <a:p>
            <a:pPr marL="114300" indent="0">
              <a:buNone/>
            </a:pPr>
            <a:r>
              <a:rPr lang="en-US" altLang="zh-CN" dirty="0">
                <a:solidFill>
                  <a:schemeClr val="tx1"/>
                </a:solidFill>
              </a:rPr>
              <a:t>- Regular sessions: Some organs of an international organization are “bodies in continuous function” and must be able to meet without delay whenever necessary.  </a:t>
            </a:r>
            <a:endParaRPr lang="en-US" altLang="zh-CN" dirty="0">
              <a:solidFill>
                <a:schemeClr val="tx1"/>
              </a:solidFill>
            </a:endParaRPr>
          </a:p>
          <a:p>
            <a:pPr marL="114300" indent="0">
              <a:buNone/>
            </a:pPr>
            <a:endParaRPr lang="en-US" altLang="zh-CN" dirty="0">
              <a:solidFill>
                <a:schemeClr val="tx1"/>
              </a:solidFill>
            </a:endParaRPr>
          </a:p>
          <a:p>
            <a:pPr marL="114300" indent="0">
              <a:buNone/>
            </a:pPr>
            <a:r>
              <a:rPr lang="en-US" altLang="zh-CN" dirty="0">
                <a:solidFill>
                  <a:schemeClr val="tx1"/>
                </a:solidFill>
              </a:rPr>
              <a:t>- Periodic sessions: Certain organs—especially those composed of representatives of all member states—normally operate by meeting at fixed yearly intervals; the length of the interval is determined by the practical requirements of their functions.  </a:t>
            </a:r>
            <a:endParaRPr lang="en-US" altLang="zh-CN" dirty="0">
              <a:solidFill>
                <a:schemeClr val="tx1"/>
              </a:solidFill>
            </a:endParaRPr>
          </a:p>
          <a:p>
            <a:pPr marL="114300" indent="0">
              <a:buNone/>
            </a:pPr>
            <a:endParaRPr lang="en-US" altLang="zh-CN" dirty="0">
              <a:solidFill>
                <a:schemeClr val="tx1"/>
              </a:solidFill>
            </a:endParaRPr>
          </a:p>
          <a:p>
            <a:pPr marL="114300" indent="0">
              <a:buNone/>
            </a:pPr>
            <a:r>
              <a:rPr lang="en-US" altLang="zh-CN" dirty="0">
                <a:solidFill>
                  <a:schemeClr val="tx1"/>
                </a:solidFill>
              </a:rPr>
              <a:t>- Special sessions: For exceptional circumstances, some organs may convene emergency or special sessions outside their regular schedule to address urgent matters or prevent a situation from deteriorating.</a:t>
            </a:r>
            <a:endParaRPr lang="en-US" altLang="zh-CN" dirty="0">
              <a:solidFill>
                <a:schemeClr val="tx1"/>
              </a:solidFill>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latin typeface="Times New Roman" panose="02020603050405020304" charset="0"/>
                <a:cs typeface="Times New Roman" panose="02020603050405020304" charset="0"/>
              </a:rPr>
              <a:t>II. Executive Procedures of International Organizations</a:t>
            </a:r>
            <a:endParaRPr lang="en-US" altLang="zh-CN">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309880" y="1752600"/>
            <a:ext cx="8591550" cy="4769485"/>
          </a:xfrm>
        </p:spPr>
        <p:txBody>
          <a:bodyPr>
            <a:noAutofit/>
          </a:bodyPr>
          <a:p>
            <a:r>
              <a:rPr lang="en-US" altLang="zh-CN" sz="1700">
                <a:solidFill>
                  <a:schemeClr val="tx1"/>
                </a:solidFill>
              </a:rPr>
              <a:t>2. Admission and Withdrawal of Member States  </a:t>
            </a:r>
            <a:endParaRPr lang="en-US" altLang="zh-CN" sz="1700">
              <a:solidFill>
                <a:schemeClr val="tx1"/>
              </a:solidFill>
            </a:endParaRPr>
          </a:p>
          <a:p>
            <a:endParaRPr lang="en-US" altLang="zh-CN" sz="1700">
              <a:solidFill>
                <a:schemeClr val="tx1"/>
              </a:solidFill>
            </a:endParaRPr>
          </a:p>
          <a:p>
            <a:r>
              <a:rPr lang="en-US" altLang="zh-CN" sz="1700">
                <a:solidFill>
                  <a:schemeClr val="tx1"/>
                </a:solidFill>
              </a:rPr>
              <a:t>Admission: the process whereby a state that is not yet a member is accepted as a member, thereby increasing the number of parties to the organization’s constitutive treaty and enabling the organization to pursue its purposes more effectively.  </a:t>
            </a:r>
            <a:endParaRPr lang="en-US" altLang="zh-CN" sz="1700">
              <a:solidFill>
                <a:schemeClr val="tx1"/>
              </a:solidFill>
            </a:endParaRPr>
          </a:p>
          <a:p>
            <a:r>
              <a:rPr lang="en-US" altLang="zh-CN" sz="1700">
                <a:solidFill>
                  <a:schemeClr val="tx1"/>
                </a:solidFill>
              </a:rPr>
              <a:t>Voluntary membership: a system under which sovereign states possess an absolute right and freedom to join or to refuse participation in any international organization.  </a:t>
            </a:r>
            <a:endParaRPr lang="en-US" altLang="zh-CN" sz="1700">
              <a:solidFill>
                <a:schemeClr val="tx1"/>
              </a:solidFill>
            </a:endParaRPr>
          </a:p>
          <a:p>
            <a:r>
              <a:rPr lang="en-US" altLang="zh-CN" sz="1700">
                <a:solidFill>
                  <a:schemeClr val="tx1"/>
                </a:solidFill>
              </a:rPr>
              <a:t>Compulsory (or universal) membership: a counter-concept to voluntary membership, expressing the preference that as many states as possible should participate in the organization.  </a:t>
            </a:r>
            <a:endParaRPr lang="en-US" altLang="zh-CN" sz="1700">
              <a:solidFill>
                <a:schemeClr val="tx1"/>
              </a:solidFill>
            </a:endParaRPr>
          </a:p>
          <a:p>
            <a:r>
              <a:rPr lang="en-US" altLang="zh-CN" sz="1700">
                <a:solidFill>
                  <a:schemeClr val="tx1"/>
                </a:solidFill>
              </a:rPr>
              <a:t>Restricted membership: a system in which prospective members are screened in advance so that the organization can act in unison and with solidarity; the European Union follows this approach.  </a:t>
            </a:r>
            <a:endParaRPr lang="en-US" altLang="zh-CN" sz="1700">
              <a:solidFill>
                <a:schemeClr val="tx1"/>
              </a:solidFill>
            </a:endParaRPr>
          </a:p>
          <a:p>
            <a:r>
              <a:rPr lang="en-US" altLang="zh-CN" sz="1700">
                <a:solidFill>
                  <a:schemeClr val="tx1"/>
                </a:solidFill>
              </a:rPr>
              <a:t>Withdrawal: “A Member of the United Nations which has persistently violated the Principles contained in the present Charter may be expelled from the Organization by the General Assembly upon the recommendation of the Security Council.” (Article 6, Charter of the United Nations)</a:t>
            </a:r>
            <a:endParaRPr lang="en-US" altLang="zh-CN" sz="1700">
              <a:solidFill>
                <a:schemeClr val="tx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3110" dirty="0">
                <a:latin typeface="Times New Roman" panose="02020603050405020304" charset="0"/>
                <a:cs typeface="Times New Roman" panose="02020603050405020304" charset="0"/>
              </a:rPr>
              <a:t>II. Executive Procedures of International Organizations </a:t>
            </a:r>
            <a:r>
              <a:rPr lang="en-US" altLang="zh-CN" dirty="0">
                <a:latin typeface="+mj-ea"/>
              </a:rPr>
              <a:t> </a:t>
            </a:r>
            <a:endParaRPr lang="en-US" altLang="zh-CN" dirty="0">
              <a:latin typeface="+mj-ea"/>
            </a:endParaRPr>
          </a:p>
        </p:txBody>
      </p:sp>
      <p:sp>
        <p:nvSpPr>
          <p:cNvPr id="3" name="内容占位符 2"/>
          <p:cNvSpPr>
            <a:spLocks noGrp="1"/>
          </p:cNvSpPr>
          <p:nvPr>
            <p:ph idx="1"/>
          </p:nvPr>
        </p:nvSpPr>
        <p:spPr/>
        <p:txBody>
          <a:bodyPr>
            <a:normAutofit/>
          </a:bodyPr>
          <a:lstStyle/>
          <a:p>
            <a:pPr marL="114300" indent="0">
              <a:buNone/>
            </a:pPr>
            <a:r>
              <a:rPr lang="en-US" altLang="zh-CN" sz="2000" dirty="0">
                <a:solidFill>
                  <a:schemeClr val="tx1"/>
                </a:solidFill>
              </a:rPr>
              <a:t>3. Implementation of Specific Resolutions  </a:t>
            </a:r>
            <a:endParaRPr lang="en-US" altLang="zh-CN" sz="2000" dirty="0">
              <a:solidFill>
                <a:schemeClr val="tx1"/>
              </a:solidFill>
            </a:endParaRPr>
          </a:p>
          <a:p>
            <a:pPr marL="114300" indent="0">
              <a:buNone/>
            </a:pPr>
            <a:endParaRPr lang="en-US" altLang="zh-CN" sz="2000" dirty="0">
              <a:solidFill>
                <a:schemeClr val="tx1"/>
              </a:solidFill>
            </a:endParaRPr>
          </a:p>
          <a:p>
            <a:pPr marL="114300" indent="0">
              <a:buNone/>
            </a:pPr>
            <a:r>
              <a:rPr lang="en-US" altLang="zh-CN" sz="2000" dirty="0">
                <a:solidFill>
                  <a:schemeClr val="tx1"/>
                </a:solidFill>
              </a:rPr>
              <a:t>· Implementation is normally carried out by the administrative department or secretariat established by the international organization.  </a:t>
            </a:r>
            <a:endParaRPr lang="en-US" altLang="zh-CN" sz="2000" dirty="0">
              <a:solidFill>
                <a:schemeClr val="tx1"/>
              </a:solidFill>
            </a:endParaRPr>
          </a:p>
          <a:p>
            <a:pPr marL="114300" indent="0">
              <a:buNone/>
            </a:pPr>
            <a:endParaRPr lang="en-US" altLang="zh-CN" sz="2000" dirty="0">
              <a:solidFill>
                <a:schemeClr val="tx1"/>
              </a:solidFill>
            </a:endParaRPr>
          </a:p>
          <a:p>
            <a:pPr marL="114300" indent="0">
              <a:buNone/>
            </a:pPr>
            <a:r>
              <a:rPr lang="en-US" altLang="zh-CN" sz="2000" dirty="0">
                <a:solidFill>
                  <a:schemeClr val="tx1"/>
                </a:solidFill>
              </a:rPr>
              <a:t>· The Secretariat of the United Nations provides services to all UN organs and implements the policies and guidelines adopted by them.  </a:t>
            </a:r>
            <a:endParaRPr lang="en-US" altLang="zh-CN" sz="2000" dirty="0">
              <a:solidFill>
                <a:schemeClr val="tx1"/>
              </a:solidFill>
            </a:endParaRPr>
          </a:p>
          <a:p>
            <a:pPr marL="114300" indent="0">
              <a:buNone/>
            </a:pPr>
            <a:endParaRPr lang="en-US" altLang="zh-CN" sz="2000" dirty="0">
              <a:solidFill>
                <a:schemeClr val="tx1"/>
              </a:solidFill>
            </a:endParaRPr>
          </a:p>
          <a:p>
            <a:pPr marL="114300" indent="0">
              <a:buNone/>
            </a:pPr>
            <a:r>
              <a:rPr lang="en-US" altLang="zh-CN" sz="2000" dirty="0">
                <a:solidFill>
                  <a:schemeClr val="tx1"/>
                </a:solidFill>
              </a:rPr>
              <a:t>· The Secretariat’s tasks include organizing international conferences on global issues, surveying world economic and social trends and problems, and drafting reports on human rights, disarmament, and economic and social development, among others.</a:t>
            </a:r>
            <a:endParaRPr lang="en-US" altLang="zh-CN" sz="2000" dirty="0">
              <a:solidFill>
                <a:schemeClr val="tx1"/>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latin typeface="Times New Roman" panose="02020603050405020304" charset="0"/>
                <a:cs typeface="Times New Roman" panose="02020603050405020304" charset="0"/>
              </a:rPr>
              <a:t>III. Personnel System of International Organizations </a:t>
            </a:r>
            <a:endParaRPr lang="en-US" altLang="zh-CN">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265430" y="1711960"/>
            <a:ext cx="8571865" cy="5078095"/>
          </a:xfrm>
        </p:spPr>
        <p:txBody>
          <a:bodyPr>
            <a:normAutofit fontScale="70000"/>
          </a:bodyPr>
          <a:p>
            <a:r>
              <a:rPr lang="en-US" altLang="zh-CN"/>
              <a:t>· Broad sense:  </a:t>
            </a:r>
            <a:endParaRPr lang="en-US" altLang="zh-CN"/>
          </a:p>
          <a:p>
            <a:r>
              <a:rPr lang="en-US" altLang="zh-CN"/>
              <a:t>Encompasses all concrete regulations on staff selection, recruitment, training, salaries, benefits, supervision, retirement and pensions.  </a:t>
            </a:r>
            <a:endParaRPr lang="en-US" altLang="zh-CN"/>
          </a:p>
          <a:p>
            <a:endParaRPr lang="en-US" altLang="zh-CN"/>
          </a:p>
          <a:p>
            <a:r>
              <a:rPr lang="en-US" altLang="zh-CN"/>
              <a:t>· Narrow sense:  </a:t>
            </a:r>
            <a:endParaRPr lang="en-US" altLang="zh-CN"/>
          </a:p>
          <a:p>
            <a:r>
              <a:rPr lang="en-US" altLang="zh-CN"/>
              <a:t>Refers to the system of appointment and management of public-service personnel.  </a:t>
            </a:r>
            <a:endParaRPr lang="en-US" altLang="zh-CN"/>
          </a:p>
          <a:p>
            <a:endParaRPr lang="en-US" altLang="zh-CN"/>
          </a:p>
          <a:p>
            <a:r>
              <a:rPr lang="en-US" altLang="zh-CN"/>
              <a:t>International civil servants:  </a:t>
            </a:r>
            <a:endParaRPr lang="en-US" altLang="zh-CN"/>
          </a:p>
          <a:p>
            <a:r>
              <a:rPr lang="en-US" altLang="zh-CN"/>
              <a:t>All categories of staff employed by the United Nations and other international organizations; they work under the direction of the organization’s chief administrative officer and serve all member states.  </a:t>
            </a:r>
            <a:endParaRPr lang="en-US" altLang="zh-CN"/>
          </a:p>
          <a:p>
            <a:endParaRPr lang="en-US" altLang="zh-CN"/>
          </a:p>
          <a:p>
            <a:r>
              <a:rPr lang="en-US" altLang="zh-CN"/>
              <a:t>International civil servants are generally recruited from among the nationals of member states in accordance with the relevant rules.  </a:t>
            </a:r>
            <a:endParaRPr lang="en-US" altLang="zh-CN"/>
          </a:p>
          <a:p>
            <a:r>
              <a:rPr lang="en-US" altLang="zh-CN"/>
              <a:t>They do not represent their home countries; they are international civil servants, responsible to the Secretary-General (or equivalent head) of the organization and serve the organization as a whole.</a:t>
            </a:r>
            <a:endParaRPr lang="en-US" alt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l"/>
            <a:r>
              <a:rPr lang="en-US" altLang="zh-CN" dirty="0"/>
              <a:t>Classification of International Civil Servants (UN)  </a:t>
            </a:r>
            <a:endParaRPr lang="en-US" altLang="zh-CN" dirty="0"/>
          </a:p>
        </p:txBody>
      </p:sp>
      <p:sp>
        <p:nvSpPr>
          <p:cNvPr id="3" name="内容占位符 2"/>
          <p:cNvSpPr>
            <a:spLocks noGrp="1"/>
          </p:cNvSpPr>
          <p:nvPr>
            <p:ph idx="1"/>
          </p:nvPr>
        </p:nvSpPr>
        <p:spPr>
          <a:xfrm>
            <a:off x="300990" y="1752600"/>
            <a:ext cx="8385810" cy="4697730"/>
          </a:xfrm>
        </p:spPr>
        <p:txBody>
          <a:bodyPr>
            <a:noAutofit/>
          </a:bodyPr>
          <a:lstStyle/>
          <a:p>
            <a:pPr marL="95250" indent="0" defTabSz="800100">
              <a:buFont typeface="Wingdings" panose="05000000000000000000" pitchFamily="2" charset="2"/>
              <a:buNone/>
            </a:pPr>
            <a:r>
              <a:rPr lang="en-US" altLang="zh-CN" sz="2000" dirty="0">
                <a:solidFill>
                  <a:schemeClr val="tx1"/>
                </a:solidFill>
              </a:rPr>
              <a:t>· Senior Officials – D level (Director)  </a:t>
            </a:r>
            <a:endParaRPr lang="en-US" altLang="zh-CN" sz="2000" dirty="0">
              <a:solidFill>
                <a:schemeClr val="tx1"/>
              </a:solidFill>
            </a:endParaRPr>
          </a:p>
          <a:p>
            <a:pPr marL="895350" indent="-800100" defTabSz="800100">
              <a:buFont typeface="Wingdings" panose="05000000000000000000" pitchFamily="2" charset="2"/>
              <a:buChar char="Ø"/>
            </a:pPr>
            <a:r>
              <a:rPr lang="en-US" altLang="zh-CN" sz="2000" dirty="0">
                <a:solidFill>
                  <a:schemeClr val="tx1"/>
                </a:solidFill>
              </a:rPr>
              <a:t>Divided into D-1 and D-2; require many years of extensive professional experience, usually aged 50 or above.  </a:t>
            </a:r>
            <a:endParaRPr lang="en-US" altLang="zh-CN" sz="2000" dirty="0">
              <a:solidFill>
                <a:schemeClr val="tx1"/>
              </a:solidFill>
            </a:endParaRPr>
          </a:p>
          <a:p>
            <a:pPr marL="895350" indent="-800100" defTabSz="800100">
              <a:buFont typeface="Wingdings" panose="05000000000000000000" pitchFamily="2" charset="2"/>
              <a:buChar char="Ø"/>
            </a:pPr>
            <a:endParaRPr lang="en-US" altLang="zh-CN" sz="2000" dirty="0">
              <a:solidFill>
                <a:schemeClr val="tx1"/>
              </a:solidFill>
            </a:endParaRPr>
          </a:p>
          <a:p>
            <a:pPr marL="95250" indent="0" defTabSz="800100">
              <a:buFont typeface="Wingdings" panose="05000000000000000000" pitchFamily="2" charset="2"/>
              <a:buNone/>
            </a:pPr>
            <a:r>
              <a:rPr lang="en-US" altLang="zh-CN" sz="2000" dirty="0">
                <a:solidFill>
                  <a:schemeClr val="tx1"/>
                </a:solidFill>
              </a:rPr>
              <a:t>· Professional Officers – P level (Professional)  </a:t>
            </a:r>
            <a:endParaRPr lang="en-US" altLang="zh-CN" sz="2000" dirty="0">
              <a:solidFill>
                <a:schemeClr val="tx1"/>
              </a:solidFill>
            </a:endParaRPr>
          </a:p>
          <a:p>
            <a:pPr marL="895350" indent="-800100" defTabSz="800100">
              <a:buFont typeface="Wingdings" panose="05000000000000000000" pitchFamily="2" charset="2"/>
              <a:buChar char="Ø"/>
            </a:pPr>
            <a:r>
              <a:rPr lang="en-US" altLang="zh-CN" sz="2000" dirty="0">
                <a:solidFill>
                  <a:schemeClr val="tx1"/>
                </a:solidFill>
              </a:rPr>
              <a:t>Divided into five grades: P-1 to P-5.  </a:t>
            </a:r>
            <a:endParaRPr lang="en-US" altLang="zh-CN" sz="2000" dirty="0">
              <a:solidFill>
                <a:schemeClr val="tx1"/>
              </a:solidFill>
            </a:endParaRPr>
          </a:p>
          <a:p>
            <a:pPr marL="895350" indent="-800100" defTabSz="800100">
              <a:buFont typeface="Wingdings" panose="05000000000000000000" pitchFamily="2" charset="2"/>
              <a:buChar char="Ø"/>
            </a:pPr>
            <a:endParaRPr lang="en-US" altLang="zh-CN" sz="2000" dirty="0">
              <a:solidFill>
                <a:schemeClr val="tx1"/>
              </a:solidFill>
            </a:endParaRPr>
          </a:p>
          <a:p>
            <a:pPr marL="95250" indent="0" defTabSz="800100">
              <a:buFont typeface="Wingdings" panose="05000000000000000000" pitchFamily="2" charset="2"/>
              <a:buNone/>
            </a:pPr>
            <a:r>
              <a:rPr lang="en-US" altLang="zh-CN" sz="2000" dirty="0">
                <a:solidFill>
                  <a:schemeClr val="tx1"/>
                </a:solidFill>
              </a:rPr>
              <a:t>· General Service Staff – G level (General Service)  </a:t>
            </a:r>
            <a:endParaRPr lang="en-US" altLang="zh-CN" sz="2000" dirty="0">
              <a:solidFill>
                <a:schemeClr val="tx1"/>
              </a:solidFill>
            </a:endParaRPr>
          </a:p>
          <a:p>
            <a:pPr marL="895350" indent="-800100" defTabSz="800100">
              <a:buFont typeface="Wingdings" panose="05000000000000000000" pitchFamily="2" charset="2"/>
              <a:buChar char="Ø"/>
            </a:pPr>
            <a:r>
              <a:rPr lang="en-US" altLang="zh-CN" sz="2000" dirty="0">
                <a:solidFill>
                  <a:schemeClr val="tx1"/>
                </a:solidFill>
              </a:rPr>
              <a:t>Spanning G-1 to G-7, mainly secretarial, service and security personnel.  </a:t>
            </a:r>
            <a:endParaRPr lang="en-US" altLang="zh-CN" sz="2000" dirty="0">
              <a:solidFill>
                <a:schemeClr val="tx1"/>
              </a:solidFill>
            </a:endParaRPr>
          </a:p>
          <a:p>
            <a:pPr marL="895350" indent="-800100" defTabSz="800100">
              <a:buFont typeface="Wingdings" panose="05000000000000000000" pitchFamily="2" charset="2"/>
              <a:buChar char="Ø"/>
            </a:pPr>
            <a:endParaRPr lang="en-US" altLang="zh-CN" sz="2000" dirty="0">
              <a:solidFill>
                <a:schemeClr val="tx1"/>
              </a:solidFill>
            </a:endParaRPr>
          </a:p>
          <a:p>
            <a:pPr marL="895350" indent="-800100" defTabSz="800100">
              <a:buFont typeface="Wingdings" panose="05000000000000000000" pitchFamily="2" charset="2"/>
              <a:buChar char="Ø"/>
            </a:pPr>
            <a:r>
              <a:rPr lang="en-US" altLang="zh-CN" sz="2000" dirty="0">
                <a:solidFill>
                  <a:schemeClr val="tx1"/>
                </a:solidFill>
              </a:rPr>
              <a:t>· G-level staff who wish to transfer to the P level must pass the annual internal United Nations examination.</a:t>
            </a:r>
            <a:endParaRPr lang="en-US" altLang="zh-CN" sz="2000" dirty="0">
              <a:solidFill>
                <a:schemeClr val="tx1"/>
              </a:solidFil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IV. Financial Management of International Organizations </a:t>
            </a:r>
            <a:endParaRPr lang="en-US" altLang="zh-CN"/>
          </a:p>
        </p:txBody>
      </p:sp>
      <p:sp>
        <p:nvSpPr>
          <p:cNvPr id="3" name="内容占位符 2"/>
          <p:cNvSpPr>
            <a:spLocks noGrp="1"/>
          </p:cNvSpPr>
          <p:nvPr>
            <p:ph idx="1"/>
          </p:nvPr>
        </p:nvSpPr>
        <p:spPr>
          <a:xfrm>
            <a:off x="293370" y="1752600"/>
            <a:ext cx="8393430" cy="4373880"/>
          </a:xfrm>
        </p:spPr>
        <p:txBody>
          <a:bodyPr/>
          <a:p>
            <a:r>
              <a:rPr lang="en-US" altLang="zh-CN"/>
              <a:t>Sources of income  </a:t>
            </a:r>
            <a:endParaRPr lang="en-US" altLang="zh-CN"/>
          </a:p>
          <a:p>
            <a:r>
              <a:rPr lang="en-US" altLang="zh-CN"/>
              <a:t>· Assessed contributions paid by member states according to legally agreed scales (the principal source of revenue)  </a:t>
            </a:r>
            <a:endParaRPr lang="en-US" altLang="zh-CN"/>
          </a:p>
          <a:p>
            <a:r>
              <a:rPr lang="en-US" altLang="zh-CN"/>
              <a:t>· Voluntary donations from wealthy states or individuals  </a:t>
            </a:r>
            <a:endParaRPr lang="en-US" altLang="zh-CN"/>
          </a:p>
          <a:p>
            <a:r>
              <a:rPr lang="en-US" altLang="zh-CN"/>
              <a:t>· Tax revenue and income-generating activities  </a:t>
            </a:r>
            <a:endParaRPr lang="en-US" altLang="zh-CN"/>
          </a:p>
          <a:p>
            <a:endParaRPr lang="en-US" altLang="zh-CN"/>
          </a:p>
          <a:p>
            <a:r>
              <a:rPr lang="en-US" altLang="zh-CN"/>
              <a:t>United Nations: membership assessments and voluntary contributions  </a:t>
            </a:r>
            <a:endParaRPr lang="en-US" altLang="zh-CN"/>
          </a:p>
          <a:p>
            <a:r>
              <a:rPr lang="en-US" altLang="zh-CN"/>
              <a:t>International Monetary Fund: quotas subscribed by member states</a:t>
            </a:r>
            <a:endParaRPr lang="en-US" altLang="zh-C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sz="2800" dirty="0">
                <a:latin typeface="Times New Roman" panose="02020603050405020304" charset="0"/>
                <a:cs typeface="Times New Roman" panose="02020603050405020304" charset="0"/>
              </a:rPr>
              <a:t>Section III  </a:t>
            </a:r>
            <a:br>
              <a:rPr lang="en-US" altLang="zh-CN" sz="2800" dirty="0">
                <a:latin typeface="Times New Roman" panose="02020603050405020304" charset="0"/>
                <a:cs typeface="Times New Roman" panose="02020603050405020304" charset="0"/>
              </a:rPr>
            </a:br>
            <a:r>
              <a:rPr lang="en-US" altLang="zh-CN" sz="2800" dirty="0">
                <a:latin typeface="Times New Roman" panose="02020603050405020304" charset="0"/>
                <a:cs typeface="Times New Roman" panose="02020603050405020304" charset="0"/>
              </a:rPr>
              <a:t>Factors Affecting the Operation of International Organizations</a:t>
            </a:r>
            <a:endParaRPr lang="en-US" altLang="zh-CN" sz="2800" dirty="0">
              <a:latin typeface="Times New Roman" panose="02020603050405020304" charset="0"/>
              <a:cs typeface="Times New Roman" panose="02020603050405020304" charset="0"/>
            </a:endParaRPr>
          </a:p>
        </p:txBody>
      </p:sp>
      <p:sp>
        <p:nvSpPr>
          <p:cNvPr id="3" name="文本占位符 2"/>
          <p:cNvSpPr>
            <a:spLocks noGrp="1"/>
          </p:cNvSpPr>
          <p:nvPr>
            <p:ph type="body" idx="1"/>
          </p:nvPr>
        </p:nvSpPr>
        <p:spPr/>
        <p:txBody>
          <a:bodyPr/>
          <a:lstStyle/>
          <a:p>
            <a:pPr algn="r"/>
            <a:r>
              <a:rPr lang="zh-CN" altLang="en-US" dirty="0"/>
              <a:t>第四章  国际组织的机构与运行</a:t>
            </a:r>
            <a:endParaRPr lang="zh-CN" alt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ctr"/>
            <a:r>
              <a:rPr lang="en-US" altLang="zh-CN" sz="3110" dirty="0">
                <a:latin typeface="Times New Roman" panose="02020603050405020304" charset="0"/>
                <a:cs typeface="Times New Roman" panose="02020603050405020304" charset="0"/>
              </a:rPr>
              <a:t>I. Internal Factors Influencing the Operation of International Organizations</a:t>
            </a:r>
            <a:r>
              <a:rPr lang="en-US" altLang="zh-CN" dirty="0"/>
              <a:t> </a:t>
            </a:r>
            <a:endParaRPr lang="en-US" altLang="zh-CN" dirty="0"/>
          </a:p>
        </p:txBody>
      </p:sp>
      <p:sp>
        <p:nvSpPr>
          <p:cNvPr id="3" name="内容占位符 2"/>
          <p:cNvSpPr>
            <a:spLocks noGrp="1"/>
          </p:cNvSpPr>
          <p:nvPr>
            <p:ph idx="1"/>
          </p:nvPr>
        </p:nvSpPr>
        <p:spPr>
          <a:xfrm>
            <a:off x="278130" y="1752600"/>
            <a:ext cx="8603615" cy="4841240"/>
          </a:xfrm>
        </p:spPr>
        <p:txBody>
          <a:bodyPr>
            <a:normAutofit fontScale="80000"/>
          </a:bodyPr>
          <a:lstStyle/>
          <a:p>
            <a:pPr marL="723900" indent="-723900" defTabSz="723900">
              <a:lnSpc>
                <a:spcPct val="160000"/>
              </a:lnSpc>
              <a:buFont typeface="Wingdings" panose="05000000000000000000" pitchFamily="2" charset="2"/>
              <a:buChar char="Ø"/>
            </a:pPr>
            <a:r>
              <a:rPr lang="en-US" altLang="zh-CN" dirty="0" smtClean="0">
                <a:solidFill>
                  <a:schemeClr val="tx1"/>
                </a:solidFill>
              </a:rPr>
              <a:t>Factors inherent to the organization itself  </a:t>
            </a:r>
            <a:endParaRPr lang="en-US" altLang="zh-CN" dirty="0" smtClean="0">
              <a:solidFill>
                <a:schemeClr val="tx1"/>
              </a:solidFill>
            </a:endParaRPr>
          </a:p>
          <a:p>
            <a:pPr marL="723900" indent="-723900" defTabSz="723900">
              <a:lnSpc>
                <a:spcPct val="160000"/>
              </a:lnSpc>
              <a:buFont typeface="Wingdings" panose="05000000000000000000" pitchFamily="2" charset="2"/>
              <a:buChar char="Ø"/>
            </a:pPr>
            <a:r>
              <a:rPr lang="en-US" altLang="zh-CN" dirty="0" smtClean="0">
                <a:solidFill>
                  <a:schemeClr val="tx1"/>
                </a:solidFill>
              </a:rPr>
              <a:t>· Responsibility of the organization: its legal and political accountability  </a:t>
            </a:r>
            <a:endParaRPr lang="en-US" altLang="zh-CN" dirty="0" smtClean="0">
              <a:solidFill>
                <a:schemeClr val="tx1"/>
              </a:solidFill>
            </a:endParaRPr>
          </a:p>
          <a:p>
            <a:pPr marL="723900" indent="-723900" defTabSz="723900">
              <a:lnSpc>
                <a:spcPct val="160000"/>
              </a:lnSpc>
              <a:buFont typeface="Wingdings" panose="05000000000000000000" pitchFamily="2" charset="2"/>
              <a:buChar char="Ø"/>
            </a:pPr>
            <a:r>
              <a:rPr lang="en-US" altLang="zh-CN" dirty="0" smtClean="0">
                <a:solidFill>
                  <a:schemeClr val="tx1"/>
                </a:solidFill>
              </a:rPr>
              <a:t>· Enforcement power of the organization in dispute settlement  </a:t>
            </a:r>
            <a:endParaRPr lang="en-US" altLang="zh-CN" dirty="0" smtClean="0">
              <a:solidFill>
                <a:schemeClr val="tx1"/>
              </a:solidFill>
            </a:endParaRPr>
          </a:p>
          <a:p>
            <a:pPr marL="723900" indent="-723900" defTabSz="723900">
              <a:lnSpc>
                <a:spcPct val="160000"/>
              </a:lnSpc>
              <a:buFont typeface="Wingdings" panose="05000000000000000000" pitchFamily="2" charset="2"/>
              <a:buChar char="Ø"/>
            </a:pPr>
            <a:r>
              <a:rPr lang="en-US" altLang="zh-CN" dirty="0" smtClean="0">
                <a:solidFill>
                  <a:schemeClr val="tx1"/>
                </a:solidFill>
              </a:rPr>
              <a:t>· Coordination and policy coherence among different internal departments  </a:t>
            </a:r>
            <a:endParaRPr lang="en-US" altLang="zh-CN" dirty="0" smtClean="0">
              <a:solidFill>
                <a:schemeClr val="tx1"/>
              </a:solidFill>
            </a:endParaRPr>
          </a:p>
          <a:p>
            <a:pPr marL="723900" indent="-723900" defTabSz="723900">
              <a:lnSpc>
                <a:spcPct val="160000"/>
              </a:lnSpc>
              <a:buFont typeface="Wingdings" panose="05000000000000000000" pitchFamily="2" charset="2"/>
              <a:buChar char="Ø"/>
            </a:pPr>
            <a:r>
              <a:rPr lang="en-US" altLang="zh-CN" dirty="0" smtClean="0">
                <a:solidFill>
                  <a:schemeClr val="tx1"/>
                </a:solidFill>
              </a:rPr>
              <a:t>· Transparency of the organization  </a:t>
            </a:r>
            <a:endParaRPr lang="en-US" altLang="zh-CN" dirty="0" smtClean="0">
              <a:solidFill>
                <a:schemeClr val="tx1"/>
              </a:solidFill>
            </a:endParaRPr>
          </a:p>
          <a:p>
            <a:pPr marL="723900" indent="-723900" defTabSz="723900">
              <a:lnSpc>
                <a:spcPct val="160000"/>
              </a:lnSpc>
              <a:buFont typeface="Wingdings" panose="05000000000000000000" pitchFamily="2" charset="2"/>
              <a:buChar char="Ø"/>
            </a:pPr>
            <a:r>
              <a:rPr lang="en-US" altLang="zh-CN" dirty="0" smtClean="0">
                <a:solidFill>
                  <a:schemeClr val="tx1"/>
                </a:solidFill>
              </a:rPr>
              <a:t>· Legitimacy and democracy of the organization’s internal governance  </a:t>
            </a:r>
            <a:endParaRPr lang="en-US" altLang="zh-CN" dirty="0" smtClean="0">
              <a:solidFill>
                <a:schemeClr val="tx1"/>
              </a:solidFill>
            </a:endParaRPr>
          </a:p>
          <a:p>
            <a:pPr marL="723900" indent="-723900" defTabSz="723900">
              <a:lnSpc>
                <a:spcPct val="160000"/>
              </a:lnSpc>
              <a:buFont typeface="Wingdings" panose="05000000000000000000" pitchFamily="2" charset="2"/>
              <a:buChar char="Ø"/>
            </a:pPr>
            <a:r>
              <a:rPr lang="en-US" altLang="zh-CN" dirty="0" smtClean="0">
                <a:solidFill>
                  <a:schemeClr val="tx1"/>
                </a:solidFill>
              </a:rPr>
              <a:t>Member-state factors  </a:t>
            </a:r>
            <a:endParaRPr lang="en-US" altLang="zh-CN" dirty="0" smtClean="0">
              <a:solidFill>
                <a:schemeClr val="tx1"/>
              </a:solidFill>
            </a:endParaRPr>
          </a:p>
          <a:p>
            <a:pPr marL="723900" indent="-723900" defTabSz="723900">
              <a:lnSpc>
                <a:spcPct val="160000"/>
              </a:lnSpc>
              <a:buFont typeface="Wingdings" panose="05000000000000000000" pitchFamily="2" charset="2"/>
              <a:buChar char="Ø"/>
            </a:pPr>
            <a:r>
              <a:rPr lang="en-US" altLang="zh-CN" dirty="0" smtClean="0">
                <a:solidFill>
                  <a:schemeClr val="tx1"/>
                </a:solidFill>
              </a:rPr>
              <a:t>· Member states’ pursuit of their own national interests also affects the operation of the organization.</a:t>
            </a:r>
            <a:endParaRPr lang="en-US" altLang="zh-CN" dirty="0" smtClean="0">
              <a:solidFill>
                <a:schemeClr val="tx1"/>
              </a:solidFill>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3110" dirty="0">
                <a:latin typeface="Times New Roman" panose="02020603050405020304" charset="0"/>
                <a:cs typeface="Times New Roman" panose="02020603050405020304" charset="0"/>
              </a:rPr>
              <a:t>II. External Factors Influencing the Operation of International Organizations (Globalization)</a:t>
            </a:r>
            <a:r>
              <a:rPr lang="en-US" altLang="zh-CN" dirty="0"/>
              <a:t> </a:t>
            </a:r>
            <a:endParaRPr lang="en-US" altLang="zh-CN" dirty="0"/>
          </a:p>
        </p:txBody>
      </p:sp>
      <p:sp>
        <p:nvSpPr>
          <p:cNvPr id="3" name="内容占位符 2"/>
          <p:cNvSpPr>
            <a:spLocks noGrp="1"/>
          </p:cNvSpPr>
          <p:nvPr>
            <p:ph idx="1"/>
          </p:nvPr>
        </p:nvSpPr>
        <p:spPr>
          <a:xfrm>
            <a:off x="457200" y="1935757"/>
            <a:ext cx="8229600" cy="4373563"/>
          </a:xfrm>
        </p:spPr>
        <p:txBody>
          <a:bodyPr>
            <a:normAutofit fontScale="90000" lnSpcReduction="20000"/>
          </a:bodyPr>
          <a:lstStyle/>
          <a:p>
            <a:pPr marL="95250" indent="0">
              <a:buFont typeface="Wingdings" panose="05000000000000000000" pitchFamily="2" charset="2"/>
              <a:buNone/>
            </a:pPr>
            <a:r>
              <a:rPr lang="en-US" altLang="zh-CN" dirty="0" smtClean="0">
                <a:solidFill>
                  <a:schemeClr val="tx1"/>
                </a:solidFill>
              </a:rPr>
              <a:t>Impact of globalization on international organizations  </a:t>
            </a:r>
            <a:endParaRPr lang="en-US" altLang="zh-CN" dirty="0" smtClean="0">
              <a:solidFill>
                <a:schemeClr val="tx1"/>
              </a:solidFill>
            </a:endParaRPr>
          </a:p>
          <a:p>
            <a:pPr marL="800100" indent="-704850">
              <a:buFont typeface="Wingdings" panose="05000000000000000000" pitchFamily="2" charset="2"/>
              <a:buChar char="Ø"/>
            </a:pPr>
            <a:endParaRPr lang="en-US" altLang="zh-CN" dirty="0" smtClean="0">
              <a:solidFill>
                <a:schemeClr val="tx1"/>
              </a:solidFill>
            </a:endParaRPr>
          </a:p>
          <a:p>
            <a:pPr marL="800100" indent="-704850">
              <a:buFont typeface="Wingdings" panose="05000000000000000000" pitchFamily="2" charset="2"/>
              <a:buChar char="Ø"/>
            </a:pPr>
            <a:r>
              <a:rPr lang="en-US" altLang="zh-CN" dirty="0" smtClean="0">
                <a:solidFill>
                  <a:schemeClr val="tx1"/>
                </a:solidFill>
              </a:rPr>
              <a:t>1. Expansion of the scope of activities of international organizations  </a:t>
            </a:r>
            <a:endParaRPr lang="en-US" altLang="zh-CN" dirty="0" smtClean="0">
              <a:solidFill>
                <a:schemeClr val="tx1"/>
              </a:solidFill>
            </a:endParaRPr>
          </a:p>
          <a:p>
            <a:pPr marL="800100" indent="-704850">
              <a:buFont typeface="Wingdings" panose="05000000000000000000" pitchFamily="2" charset="2"/>
              <a:buChar char="Ø"/>
            </a:pPr>
            <a:r>
              <a:rPr lang="en-US" altLang="zh-CN" dirty="0" smtClean="0">
                <a:solidFill>
                  <a:schemeClr val="tx1"/>
                </a:solidFill>
              </a:rPr>
              <a:t>2. Change in the functions and roles of international organizations  </a:t>
            </a:r>
            <a:endParaRPr lang="en-US" altLang="zh-CN" dirty="0" smtClean="0">
              <a:solidFill>
                <a:schemeClr val="tx1"/>
              </a:solidFill>
            </a:endParaRPr>
          </a:p>
          <a:p>
            <a:pPr marL="800100" indent="-704850">
              <a:buFont typeface="Wingdings" panose="05000000000000000000" pitchFamily="2" charset="2"/>
              <a:buChar char="Ø"/>
            </a:pPr>
            <a:r>
              <a:rPr lang="en-US" altLang="zh-CN" dirty="0" smtClean="0">
                <a:solidFill>
                  <a:schemeClr val="tx1"/>
                </a:solidFill>
              </a:rPr>
              <a:t>International organizations have become rule-makers for the international community, adopting basic instruments and concluding international conventions to establish global laws, rules and institutions.  </a:t>
            </a:r>
            <a:endParaRPr lang="en-US" altLang="zh-CN" dirty="0" smtClean="0">
              <a:solidFill>
                <a:schemeClr val="tx1"/>
              </a:solidFill>
            </a:endParaRPr>
          </a:p>
          <a:p>
            <a:pPr marL="800100" indent="-704850">
              <a:buFont typeface="Wingdings" panose="05000000000000000000" pitchFamily="2" charset="2"/>
              <a:buChar char="Ø"/>
            </a:pPr>
            <a:r>
              <a:rPr lang="en-US" altLang="zh-CN" dirty="0" smtClean="0">
                <a:solidFill>
                  <a:schemeClr val="tx1"/>
                </a:solidFill>
              </a:rPr>
              <a:t>3.Creation of conditions for the rise of non-state actors (e.g., non-governmental international organizations, transnational corporations, etc.) on the international stage, turning them into important driving forces of globalization.</a:t>
            </a:r>
            <a:endParaRPr lang="en-US" altLang="zh-CN" dirty="0" smtClean="0">
              <a:solidFill>
                <a:schemeClr val="tx1"/>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39158" y="476952"/>
            <a:ext cx="8260672" cy="1039427"/>
          </a:xfrm>
        </p:spPr>
        <p:txBody>
          <a:bodyPr>
            <a:normAutofit fontScale="90000"/>
          </a:bodyPr>
          <a:p>
            <a:r>
              <a:rPr lang="en-US" altLang="zh-CN" sz="3110">
                <a:latin typeface="Times New Roman" panose="02020603050405020304" charset="0"/>
                <a:cs typeface="Times New Roman" panose="02020603050405020304" charset="0"/>
              </a:rPr>
              <a:t>II. External Factors Influencing the Operation of International Organizations (Globalization)</a:t>
            </a:r>
            <a:r>
              <a:rPr lang="en-US" altLang="zh-CN"/>
              <a:t> </a:t>
            </a:r>
            <a:endParaRPr lang="en-US" altLang="zh-CN"/>
          </a:p>
        </p:txBody>
      </p:sp>
      <p:sp>
        <p:nvSpPr>
          <p:cNvPr id="3" name="内容占位符 2"/>
          <p:cNvSpPr>
            <a:spLocks noGrp="1"/>
          </p:cNvSpPr>
          <p:nvPr>
            <p:ph idx="1"/>
          </p:nvPr>
        </p:nvSpPr>
        <p:spPr/>
        <p:txBody>
          <a:bodyPr/>
          <a:p>
            <a:r>
              <a:rPr lang="en-US" altLang="zh-CN"/>
              <a:t>New demands placed on international organizations by the development of globalization  </a:t>
            </a:r>
            <a:endParaRPr lang="en-US" altLang="zh-CN"/>
          </a:p>
          <a:p>
            <a:r>
              <a:rPr lang="en-US" altLang="zh-CN"/>
              <a:t>1. New requirements regarding organizational structures, democratic mechanisms, efficiency, and the strengthening of relations between intergovernmental and non-governmental international organizations.  </a:t>
            </a:r>
            <a:endParaRPr lang="en-US" altLang="zh-CN"/>
          </a:p>
          <a:p>
            <a:r>
              <a:rPr lang="en-US" altLang="zh-CN"/>
              <a:t>2. Objectively, globalization demands that the World Trade Organization shoulder an inescapable responsibility in advancing trade globalization, narrowing the North–South gap, and ensuring that all member states benefit fairly.</a:t>
            </a:r>
            <a:endParaRPr lang="en-US" altLang="zh-C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pPr algn="ctr"/>
            <a:r>
              <a:rPr lang="en-US" altLang="zh-CN" sz="2400" dirty="0">
                <a:latin typeface="Times New Roman" panose="02020603050405020304" charset="0"/>
                <a:cs typeface="Times New Roman" panose="02020603050405020304" charset="0"/>
              </a:rPr>
              <a:t>II. External Factors Influencing the Operation of International Organizations (Technological Development) </a:t>
            </a:r>
            <a:r>
              <a:rPr lang="en-US" altLang="zh-CN" sz="3000" dirty="0"/>
              <a:t> </a:t>
            </a:r>
            <a:endParaRPr lang="en-US" altLang="zh-CN" sz="3000" dirty="0"/>
          </a:p>
        </p:txBody>
      </p:sp>
      <p:sp>
        <p:nvSpPr>
          <p:cNvPr id="3" name="内容占位符 2"/>
          <p:cNvSpPr>
            <a:spLocks noGrp="1"/>
          </p:cNvSpPr>
          <p:nvPr>
            <p:ph idx="1"/>
          </p:nvPr>
        </p:nvSpPr>
        <p:spPr>
          <a:xfrm>
            <a:off x="302260" y="1935480"/>
            <a:ext cx="8384540" cy="4507865"/>
          </a:xfrm>
        </p:spPr>
        <p:txBody>
          <a:bodyPr>
            <a:normAutofit fontScale="80000"/>
          </a:bodyPr>
          <a:lstStyle/>
          <a:p>
            <a:pPr marL="800100" indent="-704850">
              <a:buFont typeface="Wingdings" panose="05000000000000000000" pitchFamily="2" charset="2"/>
              <a:buChar char="Ø"/>
            </a:pPr>
            <a:r>
              <a:rPr lang="en-US" altLang="zh-CN" dirty="0">
                <a:solidFill>
                  <a:schemeClr val="tx1"/>
                </a:solidFill>
              </a:rPr>
              <a:t>Impact of technological development on international organizations  </a:t>
            </a:r>
            <a:endParaRPr lang="en-US" altLang="zh-CN" dirty="0">
              <a:solidFill>
                <a:schemeClr val="tx1"/>
              </a:solidFill>
            </a:endParaRPr>
          </a:p>
          <a:p>
            <a:pPr marL="800100" indent="-704850">
              <a:buFont typeface="Wingdings" panose="05000000000000000000" pitchFamily="2" charset="2"/>
              <a:buChar char="Ø"/>
            </a:pPr>
            <a:endParaRPr lang="en-US" altLang="zh-CN" dirty="0">
              <a:solidFill>
                <a:schemeClr val="tx1"/>
              </a:solidFill>
            </a:endParaRPr>
          </a:p>
          <a:p>
            <a:pPr marL="800100" indent="-704850">
              <a:buFont typeface="Wingdings" panose="05000000000000000000" pitchFamily="2" charset="2"/>
              <a:buChar char="Ø"/>
            </a:pPr>
            <a:r>
              <a:rPr lang="en-US" altLang="zh-CN" dirty="0">
                <a:solidFill>
                  <a:schemeClr val="tx1"/>
                </a:solidFill>
              </a:rPr>
              <a:t>· Technological advances objectively strengthen the scientific and technological functions of international organizations, overcoming geographical constraints and promoting international cooperation in science and technology among countries worldwide.  </a:t>
            </a:r>
            <a:endParaRPr lang="en-US" altLang="zh-CN" dirty="0">
              <a:solidFill>
                <a:schemeClr val="tx1"/>
              </a:solidFill>
            </a:endParaRPr>
          </a:p>
          <a:p>
            <a:pPr marL="800100" indent="-704850">
              <a:buFont typeface="Wingdings" panose="05000000000000000000" pitchFamily="2" charset="2"/>
              <a:buChar char="Ø"/>
            </a:pPr>
            <a:r>
              <a:rPr lang="en-US" altLang="zh-CN" dirty="0">
                <a:solidFill>
                  <a:schemeClr val="tx1"/>
                </a:solidFill>
              </a:rPr>
              <a:t>· Technological development encourages international organizations to formulate and implement internal policies that serve the overall interests of humanity.  </a:t>
            </a:r>
            <a:endParaRPr lang="en-US" altLang="zh-CN" dirty="0">
              <a:solidFill>
                <a:schemeClr val="tx1"/>
              </a:solidFill>
            </a:endParaRPr>
          </a:p>
          <a:p>
            <a:pPr marL="800100" indent="-704850">
              <a:buFont typeface="Wingdings" panose="05000000000000000000" pitchFamily="2" charset="2"/>
              <a:buChar char="Ø"/>
            </a:pPr>
            <a:r>
              <a:rPr lang="en-US" altLang="zh-CN" dirty="0">
                <a:solidFill>
                  <a:schemeClr val="tx1"/>
                </a:solidFill>
              </a:rPr>
              <a:t>· The progress of technology objectively requires international organizations to build networks for scientific and technological development.  </a:t>
            </a:r>
            <a:endParaRPr lang="en-US" altLang="zh-CN" dirty="0">
              <a:solidFill>
                <a:schemeClr val="tx1"/>
              </a:solidFill>
            </a:endParaRPr>
          </a:p>
          <a:p>
            <a:pPr marL="800100" indent="-704850">
              <a:buFont typeface="Wingdings" panose="05000000000000000000" pitchFamily="2" charset="2"/>
              <a:buChar char="Ø"/>
            </a:pPr>
            <a:r>
              <a:rPr lang="en-US" altLang="zh-CN" dirty="0">
                <a:solidFill>
                  <a:schemeClr val="tx1"/>
                </a:solidFill>
              </a:rPr>
              <a:t>· The evolution of technology also presents international organizations with new functions, target audiences, and issues to address.</a:t>
            </a:r>
            <a:r>
              <a:rPr lang="zh-CN" altLang="en-US" dirty="0">
                <a:solidFill>
                  <a:schemeClr val="tx1"/>
                </a:solidFill>
              </a:rPr>
              <a:t>。</a:t>
            </a:r>
            <a:endParaRPr lang="zh-CN" altLang="en-US"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3110" dirty="0">
                <a:latin typeface="Times New Roman" panose="02020603050405020304" charset="0"/>
                <a:cs typeface="Times New Roman" panose="02020603050405020304" charset="0"/>
              </a:rPr>
              <a:t>III. Other Factors Affecting the Operation of International Organizations </a:t>
            </a:r>
            <a:endParaRPr lang="en-US" altLang="zh-CN" sz="3110"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191770" y="1752600"/>
            <a:ext cx="8495030" cy="4373880"/>
          </a:xfrm>
        </p:spPr>
        <p:txBody>
          <a:bodyPr>
            <a:noAutofit/>
          </a:bodyPr>
          <a:lstStyle/>
          <a:p>
            <a:pPr marL="114300" indent="0">
              <a:buNone/>
            </a:pPr>
            <a:r>
              <a:rPr lang="en-US" altLang="zh-CN" sz="2200" dirty="0">
                <a:solidFill>
                  <a:schemeClr val="tx1"/>
                </a:solidFill>
                <a:latin typeface="Times New Roman" panose="02020603050405020304" charset="0"/>
                <a:ea typeface="楷体" panose="02010609060101010101" pitchFamily="49" charset="-122"/>
                <a:cs typeface="Times New Roman" panose="02020603050405020304" charset="0"/>
              </a:rPr>
              <a:t>1. International crises impact the functioning of international organizations  </a:t>
            </a:r>
            <a:endParaRPr lang="en-US" altLang="zh-CN" sz="2200" dirty="0">
              <a:solidFill>
                <a:schemeClr val="tx1"/>
              </a:solidFill>
              <a:latin typeface="Times New Roman" panose="02020603050405020304" charset="0"/>
              <a:ea typeface="楷体" panose="02010609060101010101" pitchFamily="49" charset="-122"/>
              <a:cs typeface="Times New Roman" panose="02020603050405020304" charset="0"/>
            </a:endParaRPr>
          </a:p>
          <a:p>
            <a:pPr marL="114300" indent="0">
              <a:buNone/>
            </a:pPr>
            <a:r>
              <a:rPr lang="en-US" altLang="zh-CN" sz="2200" dirty="0">
                <a:solidFill>
                  <a:schemeClr val="tx1"/>
                </a:solidFill>
                <a:latin typeface="Times New Roman" panose="02020603050405020304" charset="0"/>
                <a:ea typeface="楷体" panose="02010609060101010101" pitchFamily="49" charset="-122"/>
                <a:cs typeface="Times New Roman" panose="02020603050405020304" charset="0"/>
              </a:rPr>
              <a:t>  Examples include international financial crises, public-health emergencies, environmental crises, resource shortages, and terrorism.  </a:t>
            </a:r>
            <a:endParaRPr lang="en-US" altLang="zh-CN" sz="2200" dirty="0">
              <a:solidFill>
                <a:schemeClr val="tx1"/>
              </a:solidFill>
              <a:latin typeface="Times New Roman" panose="02020603050405020304" charset="0"/>
              <a:ea typeface="楷体" panose="02010609060101010101" pitchFamily="49" charset="-122"/>
              <a:cs typeface="Times New Roman" panose="02020603050405020304" charset="0"/>
            </a:endParaRPr>
          </a:p>
          <a:p>
            <a:pPr marL="114300" indent="0">
              <a:buNone/>
            </a:pPr>
            <a:r>
              <a:rPr lang="en-US" altLang="zh-CN" sz="2200" dirty="0">
                <a:solidFill>
                  <a:schemeClr val="tx1"/>
                </a:solidFill>
                <a:latin typeface="Times New Roman" panose="02020603050405020304" charset="0"/>
                <a:ea typeface="楷体" panose="02010609060101010101" pitchFamily="49" charset="-122"/>
                <a:cs typeface="Times New Roman" panose="02020603050405020304" charset="0"/>
              </a:rPr>
              <a:t>2. Transnational corporations influence the operation of international organizations  </a:t>
            </a:r>
            <a:endParaRPr lang="en-US" altLang="zh-CN" sz="2200" dirty="0">
              <a:solidFill>
                <a:schemeClr val="tx1"/>
              </a:solidFill>
              <a:latin typeface="Times New Roman" panose="02020603050405020304" charset="0"/>
              <a:ea typeface="楷体" panose="02010609060101010101" pitchFamily="49" charset="-122"/>
              <a:cs typeface="Times New Roman" panose="02020603050405020304" charset="0"/>
            </a:endParaRPr>
          </a:p>
          <a:p>
            <a:pPr marL="114300" indent="0">
              <a:buNone/>
            </a:pPr>
            <a:r>
              <a:rPr lang="en-US" altLang="zh-CN" sz="2200" dirty="0">
                <a:solidFill>
                  <a:schemeClr val="tx1"/>
                </a:solidFill>
                <a:latin typeface="Times New Roman" panose="02020603050405020304" charset="0"/>
                <a:ea typeface="楷体" panose="02010609060101010101" pitchFamily="49" charset="-122"/>
                <a:cs typeface="Times New Roman" panose="02020603050405020304" charset="0"/>
              </a:rPr>
              <a:t>  This influence is especially evident in their impact on non-governmental international organizations.  </a:t>
            </a:r>
            <a:endParaRPr lang="en-US" altLang="zh-CN" sz="2200" dirty="0">
              <a:solidFill>
                <a:schemeClr val="tx1"/>
              </a:solidFill>
              <a:latin typeface="Times New Roman" panose="02020603050405020304" charset="0"/>
              <a:ea typeface="楷体" panose="02010609060101010101" pitchFamily="49" charset="-122"/>
              <a:cs typeface="Times New Roman" panose="02020603050405020304" charset="0"/>
            </a:endParaRPr>
          </a:p>
          <a:p>
            <a:pPr marL="114300" indent="0">
              <a:buNone/>
            </a:pPr>
            <a:r>
              <a:rPr lang="en-US" altLang="zh-CN" sz="2200" dirty="0">
                <a:solidFill>
                  <a:schemeClr val="tx1"/>
                </a:solidFill>
                <a:latin typeface="Times New Roman" panose="02020603050405020304" charset="0"/>
                <a:ea typeface="楷体" panose="02010609060101010101" pitchFamily="49" charset="-122"/>
                <a:cs typeface="Times New Roman" panose="02020603050405020304" charset="0"/>
              </a:rPr>
              <a:t>3. Theories advanced by scholars of international relations and international law exert a major influence on the birth, evolution, and daily operation of international organizations  </a:t>
            </a:r>
            <a:endParaRPr lang="en-US" altLang="zh-CN" sz="2200" dirty="0">
              <a:solidFill>
                <a:schemeClr val="tx1"/>
              </a:solidFill>
              <a:latin typeface="Times New Roman" panose="02020603050405020304" charset="0"/>
              <a:ea typeface="楷体" panose="02010609060101010101" pitchFamily="49" charset="-122"/>
              <a:cs typeface="Times New Roman" panose="02020603050405020304" charset="0"/>
            </a:endParaRPr>
          </a:p>
          <a:p>
            <a:pPr marL="114300" indent="0">
              <a:buNone/>
            </a:pPr>
            <a:r>
              <a:rPr lang="en-US" altLang="zh-CN" sz="2200" dirty="0">
                <a:solidFill>
                  <a:schemeClr val="tx1"/>
                </a:solidFill>
                <a:latin typeface="Times New Roman" panose="02020603050405020304" charset="0"/>
                <a:ea typeface="楷体" panose="02010609060101010101" pitchFamily="49" charset="-122"/>
                <a:cs typeface="Times New Roman" panose="02020603050405020304" charset="0"/>
              </a:rPr>
              <a:t>  The most prominent among these are idealist and neo-liberal theories.</a:t>
            </a:r>
            <a:endParaRPr lang="en-US" altLang="zh-CN" sz="2200" dirty="0">
              <a:solidFill>
                <a:schemeClr val="tx1"/>
              </a:solidFill>
              <a:latin typeface="Times New Roman" panose="02020603050405020304" charset="0"/>
              <a:ea typeface="楷体" panose="02010609060101010101" pitchFamily="49" charset="-122"/>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tx1"/>
                </a:solidFill>
                <a:sym typeface="+mn-ea"/>
              </a:rPr>
              <a:t>Review Questions  </a:t>
            </a:r>
            <a:endParaRPr lang="zh-CN" altLang="en-US" dirty="0"/>
          </a:p>
        </p:txBody>
      </p:sp>
      <p:sp>
        <p:nvSpPr>
          <p:cNvPr id="3" name="内容占位符 2"/>
          <p:cNvSpPr>
            <a:spLocks noGrp="1"/>
          </p:cNvSpPr>
          <p:nvPr>
            <p:ph idx="1"/>
          </p:nvPr>
        </p:nvSpPr>
        <p:spPr/>
        <p:txBody>
          <a:bodyPr>
            <a:normAutofit lnSpcReduction="10000"/>
          </a:bodyPr>
          <a:lstStyle/>
          <a:p>
            <a:pPr marL="571500" indent="-457200">
              <a:buFont typeface="+mj-lt"/>
              <a:buAutoNum type="arabicPeriod"/>
            </a:pPr>
            <a:r>
              <a:rPr lang="en-US" altLang="zh-CN" dirty="0">
                <a:solidFill>
                  <a:schemeClr val="tx1"/>
                </a:solidFill>
              </a:rPr>
              <a:t>What are the principal organs established by international organizations?  </a:t>
            </a:r>
            <a:endParaRPr lang="en-US" altLang="zh-CN" dirty="0">
              <a:solidFill>
                <a:schemeClr val="tx1"/>
              </a:solidFill>
            </a:endParaRPr>
          </a:p>
          <a:p>
            <a:pPr marL="571500" indent="-457200">
              <a:buFont typeface="+mj-lt"/>
              <a:buAutoNum type="arabicPeriod"/>
            </a:pPr>
            <a:r>
              <a:rPr lang="en-US" altLang="zh-CN" dirty="0">
                <a:solidFill>
                  <a:schemeClr val="tx1"/>
                </a:solidFill>
              </a:rPr>
              <a:t>What types of voting systems exist in international organizations, and what are their characteristics?  </a:t>
            </a:r>
            <a:endParaRPr lang="en-US" altLang="zh-CN" dirty="0">
              <a:solidFill>
                <a:schemeClr val="tx1"/>
              </a:solidFill>
            </a:endParaRPr>
          </a:p>
          <a:p>
            <a:pPr marL="571500" indent="-457200">
              <a:buFont typeface="+mj-lt"/>
              <a:buAutoNum type="arabicPeriod"/>
            </a:pPr>
            <a:r>
              <a:rPr lang="en-US" altLang="zh-CN" dirty="0">
                <a:solidFill>
                  <a:schemeClr val="tx1"/>
                </a:solidFill>
              </a:rPr>
              <a:t>What factors influence the functioning of international organizations?  </a:t>
            </a:r>
            <a:endParaRPr lang="en-US" altLang="zh-CN" dirty="0">
              <a:solidFill>
                <a:schemeClr val="tx1"/>
              </a:solidFill>
            </a:endParaRPr>
          </a:p>
          <a:p>
            <a:pPr marL="571500" indent="-457200">
              <a:buFont typeface="+mj-lt"/>
              <a:buAutoNum type="arabicPeriod"/>
            </a:pPr>
            <a:r>
              <a:rPr lang="en-US" altLang="zh-CN" dirty="0">
                <a:solidFill>
                  <a:schemeClr val="tx1"/>
                </a:solidFill>
              </a:rPr>
              <a:t>Using the United Nations as an example, describe its institutional structure and operational mechanisms, and analyze the internal and external factors that affect its performance.</a:t>
            </a:r>
            <a:endParaRPr lang="en-US" altLang="zh-CN" dirty="0">
              <a:solidFill>
                <a:schemeClr val="tx1"/>
              </a:solidFill>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药剂师">
  <a:themeElements>
    <a:clrScheme name="华丽">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药剂师">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solidFill>
          <a:schemeClr val="phClr">
            <a:tint val="93000"/>
            <a:satMod val="140000"/>
          </a:schemeClr>
        </a:solidFill>
        <a:blipFill rotWithShape="1">
          <a:blip xmlns:r="http://schemas.openxmlformats.org/officeDocument/2006/relationships" r:embed="rId1">
            <a:duotone>
              <a:schemeClr val="phClr">
                <a:tint val="70000"/>
                <a:satMod val="170000"/>
              </a:schemeClr>
              <a:schemeClr val="phClr">
                <a:shade val="70000"/>
                <a:satMod val="130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Apothecary</Template>
  <TotalTime>0</TotalTime>
  <Words>19409</Words>
  <Application>WPS 演示</Application>
  <PresentationFormat>全屏显示(4:3)</PresentationFormat>
  <Paragraphs>261</Paragraphs>
  <Slides>30</Slides>
  <Notes>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30</vt:i4>
      </vt:variant>
    </vt:vector>
  </HeadingPairs>
  <TitlesOfParts>
    <vt:vector size="40" baseType="lpstr">
      <vt:lpstr>Arial</vt:lpstr>
      <vt:lpstr>宋体</vt:lpstr>
      <vt:lpstr>Wingdings</vt:lpstr>
      <vt:lpstr>Times New Roman</vt:lpstr>
      <vt:lpstr>微软雅黑</vt:lpstr>
      <vt:lpstr>Arial Unicode MS</vt:lpstr>
      <vt:lpstr>黑体</vt:lpstr>
      <vt:lpstr>Calibri</vt:lpstr>
      <vt:lpstr>楷体</vt:lpstr>
      <vt:lpstr>药剂师</vt:lpstr>
      <vt:lpstr>Chapter 4  Structure and Operation of International Organizations</vt:lpstr>
      <vt:lpstr>Section one Administrative Bodies of International Organizations</vt:lpstr>
      <vt:lpstr>Stages of Development of International Organizations’ Administrative Bodies</vt:lpstr>
      <vt:lpstr>I. Deliberative and Decision-Making Organs of International Organizations  </vt:lpstr>
      <vt:lpstr>Deliberative and Decision-Making Organs of International Organizations </vt:lpstr>
      <vt:lpstr>PowerPoint 演示文稿</vt:lpstr>
      <vt:lpstr>II. Executive Organs of International Organizations  </vt:lpstr>
      <vt:lpstr>PowerPoint 演示文稿</vt:lpstr>
      <vt:lpstr>II. Judicial Organs of International Organizations  </vt:lpstr>
      <vt:lpstr>PowerPoint 演示文稿</vt:lpstr>
      <vt:lpstr>IV. Administrative and Management Organs of International Organizations  </vt:lpstr>
      <vt:lpstr>PowerPoint 演示文稿</vt:lpstr>
      <vt:lpstr>IV. Specialized and Subsidiary Organs of International Organizations </vt:lpstr>
      <vt:lpstr>Section two  Operating Mechanisms of International Organizations</vt:lpstr>
      <vt:lpstr>I. Decision-Making Mechanisms of International Organizations  </vt:lpstr>
      <vt:lpstr>(1) Allocation of Voting Rights </vt:lpstr>
      <vt:lpstr>(2) Concentration of Voting Power</vt:lpstr>
      <vt:lpstr>II. Executive Procedures of International Organizations  </vt:lpstr>
      <vt:lpstr>II. Executive Procedures of International Organizations</vt:lpstr>
      <vt:lpstr>II. Executive Procedures of International Organizations  </vt:lpstr>
      <vt:lpstr>III. Personnel System of International Organizations </vt:lpstr>
      <vt:lpstr>Classification of International Civil Servants (UN)  </vt:lpstr>
      <vt:lpstr>IV. Financial Management of International Organizations </vt:lpstr>
      <vt:lpstr>Section III   Factors Affecting the Operation of International Organizations</vt:lpstr>
      <vt:lpstr>I. Internal Factors Influencing the Operation of International Organizations </vt:lpstr>
      <vt:lpstr>II. External Factors Influencing the Operation of International Organizations (Globalization) </vt:lpstr>
      <vt:lpstr>II. External Factors Influencing the Operation of International Organizations (Globalization) </vt:lpstr>
      <vt:lpstr>II. External Factors Influencing the Operation of International Organizations (Technological Development)  </vt:lpstr>
      <vt:lpstr>III. Other Factors Affecting the Operation of International Organizations </vt:lpstr>
      <vt:lpstr>Review Questions  </vt:lpstr>
    </vt:vector>
  </TitlesOfParts>
  <Company>Win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Jing WANG</dc:creator>
  <cp:lastModifiedBy>大唐1415436413</cp:lastModifiedBy>
  <cp:revision>120</cp:revision>
  <dcterms:created xsi:type="dcterms:W3CDTF">2017-06-17T02:52:00Z</dcterms:created>
  <dcterms:modified xsi:type="dcterms:W3CDTF">2026-01-28T03:15:56Z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263B61B16889428DB44DC79E6FF55370_12</vt:lpwstr>
  </property>
  <property fmtid="{D5CDD505-2E9C-101B-9397-08002B2CF9AE}" pid="3" name="KSOProductBuildVer">
    <vt:lpwstr>2052-12.1.0.24657</vt:lpwstr>
  </property>
</Properties>
</file>