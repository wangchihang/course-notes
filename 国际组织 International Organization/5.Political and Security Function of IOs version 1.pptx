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300" r:id="rId4"/>
    <p:sldId id="257" r:id="rId5"/>
    <p:sldId id="258" r:id="rId6"/>
    <p:sldId id="301" r:id="rId7"/>
    <p:sldId id="260" r:id="rId8"/>
    <p:sldId id="263" r:id="rId9"/>
    <p:sldId id="264" r:id="rId10"/>
    <p:sldId id="265" r:id="rId11"/>
    <p:sldId id="266" r:id="rId12"/>
    <p:sldId id="267" r:id="rId13"/>
    <p:sldId id="268" r:id="rId14"/>
    <p:sldId id="269" r:id="rId15"/>
    <p:sldId id="270" r:id="rId16"/>
    <p:sldId id="271" r:id="rId17"/>
    <p:sldId id="272" r:id="rId18"/>
    <p:sldId id="273" r:id="rId19"/>
    <p:sldId id="275" r:id="rId20"/>
    <p:sldId id="276" r:id="rId21"/>
    <p:sldId id="277" r:id="rId22"/>
    <p:sldId id="278" r:id="rId23"/>
    <p:sldId id="279" r:id="rId24"/>
    <p:sldId id="280" r:id="rId25"/>
    <p:sldId id="282" r:id="rId26"/>
    <p:sldId id="285" r:id="rId27"/>
    <p:sldId id="286" r:id="rId28"/>
    <p:sldId id="287" r:id="rId29"/>
    <p:sldId id="288" r:id="rId30"/>
    <p:sldId id="289" r:id="rId31"/>
    <p:sldId id="290" r:id="rId32"/>
    <p:sldId id="291" r:id="rId33"/>
    <p:sldId id="293" r:id="rId34"/>
    <p:sldId id="294" r:id="rId35"/>
    <p:sldId id="295" r:id="rId36"/>
    <p:sldId id="296" r:id="rId37"/>
    <p:sldId id="298" r:id="rId3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65" d="100"/>
          <a:sy n="65" d="100"/>
        </p:scale>
        <p:origin x="-1536" y="-11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 Target="slides/slide2.xml"/><Relationship Id="rId39" Type="http://schemas.openxmlformats.org/officeDocument/2006/relationships/presProps" Target="presProps.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ounded Rectangle 7"/>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9" name="Rectangle 8"/>
          <p:cNvSpPr/>
          <p:nvPr/>
        </p:nvSpPr>
        <p:spPr>
          <a:xfrm>
            <a:off x="345440" y="2942602"/>
            <a:ext cx="7147931"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572652" y="2944634"/>
            <a:ext cx="1190348" cy="2459736"/>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7712714" y="3136658"/>
            <a:ext cx="910224" cy="2075688"/>
          </a:xfrm>
          <a:prstGeom prst="rect">
            <a:avLst/>
          </a:prstGeom>
          <a:solidFill>
            <a:schemeClr val="accent3">
              <a:alpha val="70000"/>
            </a:schemeClr>
          </a:solidFill>
          <a:ln w="63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445483" y="3055621"/>
            <a:ext cx="6947845" cy="2245359"/>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a:xfrm>
            <a:off x="7786826" y="4625268"/>
            <a:ext cx="762000" cy="457200"/>
          </a:xfrm>
        </p:spPr>
        <p:txBody>
          <a:bodyPr/>
          <a:lstStyle>
            <a:lvl1pPr algn="ctr">
              <a:defRPr sz="2800">
                <a:solidFill>
                  <a:schemeClr val="accent1">
                    <a:lumMod val="50000"/>
                  </a:schemeClr>
                </a:solidFill>
              </a:defRPr>
            </a:lvl1pPr>
          </a:lstStyle>
          <a:p>
            <a:fld id="{0C913308-F349-4B6D-A68A-DD1791B4A57B}" type="slidenum">
              <a:rPr lang="zh-CN" altLang="en-US" smtClean="0"/>
            </a:fld>
            <a:endParaRPr lang="zh-CN" altLang="en-US"/>
          </a:p>
        </p:txBody>
      </p:sp>
      <p:sp>
        <p:nvSpPr>
          <p:cNvPr id="11" name="Rectangle 10"/>
          <p:cNvSpPr/>
          <p:nvPr/>
        </p:nvSpPr>
        <p:spPr>
          <a:xfrm>
            <a:off x="541822" y="4559276"/>
            <a:ext cx="6755166" cy="664367"/>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538971" y="3139440"/>
            <a:ext cx="6760868" cy="2077720"/>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642805" y="4648200"/>
            <a:ext cx="6553200" cy="457200"/>
          </a:xfrm>
        </p:spPr>
        <p:txBody>
          <a:bodyPr>
            <a:normAutofit/>
          </a:bodyPr>
          <a:lstStyle>
            <a:lvl1pPr marL="0" indent="0" algn="ctr">
              <a:buNone/>
              <a:defRPr sz="1800" cap="all" spc="300" baseline="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2" name="Title 1"/>
          <p:cNvSpPr>
            <a:spLocks noGrp="1"/>
          </p:cNvSpPr>
          <p:nvPr>
            <p:ph type="ctrTitle"/>
          </p:nvPr>
        </p:nvSpPr>
        <p:spPr>
          <a:xfrm>
            <a:off x="604705" y="3227033"/>
            <a:ext cx="6629400" cy="1219201"/>
          </a:xfrm>
        </p:spPr>
        <p:txBody>
          <a:bodyPr anchor="b" anchorCtr="0">
            <a:noAutofit/>
          </a:bodyPr>
          <a:lstStyle>
            <a:lvl1pPr>
              <a:defRPr sz="4000">
                <a:solidFill>
                  <a:schemeClr val="accent1">
                    <a:lumMod val="50000"/>
                  </a:schemeClr>
                </a:solidFill>
              </a:defRPr>
            </a:lvl1pPr>
          </a:lstStyle>
          <a:p>
            <a:r>
              <a:rPr lang="zh-CN" altLang="en-US" smtClean="0"/>
              <a:t>单击此处编辑母版标题样式</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Content Placeholder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ounded Rectangle 7"/>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13" name="Rectangle 12"/>
          <p:cNvSpPr/>
          <p:nvPr/>
        </p:nvSpPr>
        <p:spPr>
          <a:xfrm>
            <a:off x="451976" y="2946400"/>
            <a:ext cx="8265160"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567656" y="3048000"/>
            <a:ext cx="8033800" cy="2245359"/>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2" name="Title 1"/>
          <p:cNvSpPr>
            <a:spLocks noGrp="1"/>
          </p:cNvSpPr>
          <p:nvPr>
            <p:ph type="title"/>
          </p:nvPr>
        </p:nvSpPr>
        <p:spPr>
          <a:xfrm>
            <a:off x="736456" y="3200399"/>
            <a:ext cx="7696200" cy="1295401"/>
          </a:xfrm>
        </p:spPr>
        <p:txBody>
          <a:bodyPr anchor="b" anchorCtr="0">
            <a:noAutofit/>
          </a:bodyPr>
          <a:lstStyle>
            <a:lvl1pPr algn="ctr" defTabSz="914400" rtl="0" eaLnBrk="1" latinLnBrk="0" hangingPunct="1">
              <a:spcBef>
                <a:spcPct val="0"/>
              </a:spcBef>
              <a:buNone/>
              <a:defRPr lang="en-US" sz="4000" kern="1200" cap="all" baseline="0" dirty="0">
                <a:solidFill>
                  <a:schemeClr val="accent1">
                    <a:lumMod val="50000"/>
                  </a:schemeClr>
                </a:solidFill>
                <a:latin typeface="+mj-lt"/>
                <a:ea typeface="+mj-ea"/>
                <a:cs typeface="+mj-cs"/>
              </a:defRPr>
            </a:lvl1pPr>
          </a:lstStyle>
          <a:p>
            <a:r>
              <a:rPr lang="zh-CN" altLang="en-US" smtClean="0"/>
              <a:t>单击此处编辑母版标题样式</a:t>
            </a:r>
            <a:endParaRPr lang="en-US" dirty="0"/>
          </a:p>
        </p:txBody>
      </p:sp>
      <p:sp>
        <p:nvSpPr>
          <p:cNvPr id="15" name="Rectangle 14"/>
          <p:cNvSpPr/>
          <p:nvPr/>
        </p:nvSpPr>
        <p:spPr>
          <a:xfrm>
            <a:off x="675496" y="4541520"/>
            <a:ext cx="7818120" cy="664367"/>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736456" y="4607510"/>
            <a:ext cx="7696200" cy="523783"/>
          </a:xfrm>
        </p:spPr>
        <p:txBody>
          <a:bodyPr anchor="ctr">
            <a:normAutofit/>
          </a:bodyPr>
          <a:lstStyle>
            <a:lvl1pPr marL="0" indent="0" algn="ctr">
              <a:buNone/>
              <a:defRPr sz="2000" cap="all" spc="250" baseline="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14" name="Rectangle 13"/>
          <p:cNvSpPr/>
          <p:nvPr/>
        </p:nvSpPr>
        <p:spPr>
          <a:xfrm>
            <a:off x="675757" y="3124200"/>
            <a:ext cx="7817599" cy="2077720"/>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426128" y="408372"/>
            <a:ext cx="8260672" cy="1039427"/>
          </a:xfrm>
        </p:spPr>
        <p:txBody>
          <a:bodyPr/>
          <a:lstStyle/>
          <a:p>
            <a:r>
              <a:rPr lang="zh-CN" altLang="en-US" smtClean="0"/>
              <a:t>单击此处编辑母版标题样式</a:t>
            </a:r>
            <a:endParaRPr lang="en-US"/>
          </a:p>
        </p:txBody>
      </p:sp>
      <p:sp>
        <p:nvSpPr>
          <p:cNvPr id="3" name="Content Placeholder 2"/>
          <p:cNvSpPr>
            <a:spLocks noGrp="1"/>
          </p:cNvSpPr>
          <p:nvPr>
            <p:ph sz="half" idx="1"/>
          </p:nvPr>
        </p:nvSpPr>
        <p:spPr>
          <a:xfrm>
            <a:off x="426128" y="1719071"/>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p:nvPr>
        </p:nvSpPr>
        <p:spPr>
          <a:xfrm>
            <a:off x="4648200" y="1719071"/>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426128" y="408372"/>
            <a:ext cx="8260672" cy="1039427"/>
          </a:xfrm>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426128" y="1722438"/>
            <a:ext cx="4040188"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426128" y="2438400"/>
            <a:ext cx="4040188"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4645025" y="1722438"/>
            <a:ext cx="4041775"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4645025" y="2438400"/>
            <a:ext cx="4041775"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ounded Rectangle 10"/>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ounded Rectangle 11"/>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886200" y="685800"/>
            <a:ext cx="4572000" cy="52578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8" name="Rectangle 7"/>
          <p:cNvSpPr/>
          <p:nvPr/>
        </p:nvSpPr>
        <p:spPr>
          <a:xfrm>
            <a:off x="560034" y="1505712"/>
            <a:ext cx="2716566" cy="3523488"/>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76690" y="1642472"/>
            <a:ext cx="2483254" cy="3234328"/>
          </a:xfrm>
          <a:prstGeom prst="rect">
            <a:avLst/>
          </a:prstGeom>
          <a:solidFill>
            <a:srgbClr val="FFFFFF"/>
          </a:solid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p:cNvSpPr>
            <a:spLocks noGrp="1"/>
          </p:cNvSpPr>
          <p:nvPr>
            <p:ph type="body" sz="half" idx="2"/>
          </p:nvPr>
        </p:nvSpPr>
        <p:spPr>
          <a:xfrm>
            <a:off x="769000" y="2971800"/>
            <a:ext cx="2298634" cy="1752600"/>
          </a:xfrm>
        </p:spPr>
        <p:txBody>
          <a:bodyPr/>
          <a:lstStyle>
            <a:lvl1pPr marL="0" indent="0">
              <a:spcBef>
                <a:spcPts val="4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2" name="Title 1"/>
          <p:cNvSpPr>
            <a:spLocks noGrp="1"/>
          </p:cNvSpPr>
          <p:nvPr>
            <p:ph type="title"/>
          </p:nvPr>
        </p:nvSpPr>
        <p:spPr>
          <a:xfrm>
            <a:off x="769000" y="1734312"/>
            <a:ext cx="2298634" cy="1191620"/>
          </a:xfrm>
        </p:spPr>
        <p:txBody>
          <a:bodyPr anchor="b">
            <a:normAutofit/>
          </a:bodyPr>
          <a:lstStyle>
            <a:lvl1pPr algn="l">
              <a:defRPr sz="2000" b="0">
                <a:solidFill>
                  <a:schemeClr val="accent1">
                    <a:lumMod val="75000"/>
                  </a:schemeClr>
                </a:solidFill>
              </a:defRPr>
            </a:lvl1pPr>
          </a:lstStyle>
          <a:p>
            <a:r>
              <a:rPr lang="zh-CN" altLang="en-US" smtClean="0"/>
              <a:t>单击此处编辑母版标题样式</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ounded Rectangle 8"/>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685800" y="621437"/>
            <a:ext cx="7772400" cy="4331564"/>
          </a:xfrm>
          <a:solidFill>
            <a:schemeClr val="bg2"/>
          </a:solidFill>
          <a:ln>
            <a:noFill/>
          </a:ln>
          <a:effectLst>
            <a:softEdge rad="12700"/>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5" name="Date Placeholder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10" name="Rectangle 9"/>
          <p:cNvSpPr/>
          <p:nvPr/>
        </p:nvSpPr>
        <p:spPr>
          <a:xfrm>
            <a:off x="685800" y="4953000"/>
            <a:ext cx="7772400" cy="13716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61999" y="5029200"/>
            <a:ext cx="7600765" cy="1202924"/>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p:txBody>
          <a:bodyPr/>
          <a:lstStyle/>
          <a:p>
            <a:endParaRPr lang="zh-CN" altLang="en-US"/>
          </a:p>
        </p:txBody>
      </p:sp>
      <p:sp>
        <p:nvSpPr>
          <p:cNvPr id="13" name="Rectangle 12"/>
          <p:cNvSpPr/>
          <p:nvPr/>
        </p:nvSpPr>
        <p:spPr>
          <a:xfrm>
            <a:off x="914400" y="5638800"/>
            <a:ext cx="7328514" cy="451696"/>
          </a:xfrm>
          <a:prstGeom prst="rect">
            <a:avLst/>
          </a:prstGeom>
          <a:solidFill>
            <a:schemeClr val="accent1"/>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05589" y="5074920"/>
            <a:ext cx="7946136" cy="1097280"/>
          </a:xfrm>
          <a:prstGeom prst="rect">
            <a:avLst/>
          </a:prstGeom>
          <a:no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p:cNvSpPr>
            <a:spLocks noGrp="1"/>
          </p:cNvSpPr>
          <p:nvPr>
            <p:ph type="body" sz="half" idx="2"/>
          </p:nvPr>
        </p:nvSpPr>
        <p:spPr>
          <a:xfrm>
            <a:off x="956289" y="5656556"/>
            <a:ext cx="7244736" cy="401715"/>
          </a:xfrm>
        </p:spPr>
        <p:txBody>
          <a:bodyPr anchor="ctr">
            <a:normAutofit/>
          </a:bodyPr>
          <a:lstStyle>
            <a:lvl1pPr marL="0" indent="0" algn="ctr">
              <a:buNone/>
              <a:defRPr sz="1500" cap="all" spc="250" baseline="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2" name="Title 1"/>
          <p:cNvSpPr>
            <a:spLocks noGrp="1"/>
          </p:cNvSpPr>
          <p:nvPr>
            <p:ph type="title"/>
          </p:nvPr>
        </p:nvSpPr>
        <p:spPr>
          <a:xfrm>
            <a:off x="914400" y="5105400"/>
            <a:ext cx="7328514" cy="523043"/>
          </a:xfrm>
        </p:spPr>
        <p:txBody>
          <a:bodyPr anchor="ctr" anchorCtr="0"/>
          <a:lstStyle>
            <a:lvl1pPr algn="ctr">
              <a:defRPr sz="2000" b="0">
                <a:solidFill>
                  <a:schemeClr val="accent1">
                    <a:lumMod val="75000"/>
                  </a:schemeClr>
                </a:solidFill>
              </a:defRPr>
            </a:lvl1pPr>
          </a:lstStyle>
          <a:p>
            <a:r>
              <a:rPr lang="zh-CN" altLang="en-US" smtClean="0"/>
              <a:t>单击此处编辑母版标题样式</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垂直排列标题与文本">
    <p:spTree>
      <p:nvGrpSpPr>
        <p:cNvPr id="1" name=""/>
        <p:cNvGrpSpPr/>
        <p:nvPr/>
      </p:nvGrpSpPr>
      <p:grpSpPr>
        <a:xfrm>
          <a:off x="0" y="0"/>
          <a:ext cx="0" cy="0"/>
          <a:chOff x="0" y="0"/>
          <a:chExt cx="0" cy="0"/>
        </a:xfrm>
      </p:grpSpPr>
      <p:sp>
        <p:nvSpPr>
          <p:cNvPr id="7" name="Rectangle 6"/>
          <p:cNvSpPr/>
          <p:nvPr/>
        </p:nvSpPr>
        <p:spPr>
          <a:xfrm>
            <a:off x="6861702" y="228600"/>
            <a:ext cx="1859280" cy="6122634"/>
          </a:xfrm>
          <a:prstGeom prst="rect">
            <a:avLst/>
          </a:prstGeom>
          <a:solidFill>
            <a:srgbClr val="FFFFFF">
              <a:alpha val="8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Rectangle 7"/>
          <p:cNvSpPr/>
          <p:nvPr/>
        </p:nvSpPr>
        <p:spPr>
          <a:xfrm>
            <a:off x="6955225" y="351409"/>
            <a:ext cx="1672235" cy="5877017"/>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a:off x="7048577" y="395427"/>
            <a:ext cx="1485531" cy="5788981"/>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57200" y="380999"/>
            <a:ext cx="6172200" cy="5791201"/>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ounded Rectangle 6"/>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457200" y="1752600"/>
            <a:ext cx="8229600" cy="4373563"/>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2"/>
                </a:solidFill>
              </a:defRPr>
            </a:lvl1p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zh-CN" alt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2"/>
                </a:solidFill>
              </a:defRPr>
            </a:lvl1pPr>
          </a:lstStyle>
          <a:p>
            <a:fld id="{0C913308-F349-4B6D-A68A-DD1791B4A57B}" type="slidenum">
              <a:rPr lang="zh-CN" altLang="en-US" smtClean="0"/>
            </a:fld>
            <a:endParaRPr lang="zh-CN" altLang="en-US"/>
          </a:p>
        </p:txBody>
      </p:sp>
      <p:sp>
        <p:nvSpPr>
          <p:cNvPr id="9" name="Rectangle 8"/>
          <p:cNvSpPr/>
          <p:nvPr/>
        </p:nvSpPr>
        <p:spPr>
          <a:xfrm>
            <a:off x="274320" y="278166"/>
            <a:ext cx="8595360" cy="132588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10" name="Rectangle 9"/>
          <p:cNvSpPr/>
          <p:nvPr/>
        </p:nvSpPr>
        <p:spPr>
          <a:xfrm>
            <a:off x="372863" y="372862"/>
            <a:ext cx="8380520" cy="1118587"/>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26128" y="408372"/>
            <a:ext cx="8260672" cy="1039427"/>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3500" kern="1200" cap="all" baseline="0">
          <a:solidFill>
            <a:schemeClr val="accent1">
              <a:lumMod val="75000"/>
            </a:schemeClr>
          </a:solidFill>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anose="020B0604020202020204"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anose="020B0604020202020204"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anose="020B0604020202020204"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anose="020B0604020202020204"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anose="020B0604020202020204"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anose="020B0604020202020204"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anose="020B0604020202020204"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anose="020B0604020202020204"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anose="020B0604020202020204" pitchFamily="34" charset="0"/>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副标题 4"/>
          <p:cNvSpPr>
            <a:spLocks noGrp="1"/>
          </p:cNvSpPr>
          <p:nvPr>
            <p:ph type="subTitle" idx="1"/>
          </p:nvPr>
        </p:nvSpPr>
        <p:spPr/>
        <p:txBody>
          <a:bodyPr/>
          <a:lstStyle/>
          <a:p>
            <a:endParaRPr lang="zh-CN" altLang="en-US"/>
          </a:p>
        </p:txBody>
      </p:sp>
      <p:sp>
        <p:nvSpPr>
          <p:cNvPr id="2" name="标题 1"/>
          <p:cNvSpPr>
            <a:spLocks noGrp="1"/>
          </p:cNvSpPr>
          <p:nvPr>
            <p:ph type="ctrTitle"/>
          </p:nvPr>
        </p:nvSpPr>
        <p:spPr/>
        <p:txBody>
          <a:bodyPr/>
          <a:lstStyle/>
          <a:p>
            <a:r>
              <a:rPr lang="en-US" altLang="zh-CN" sz="2800" dirty="0">
                <a:latin typeface="Times New Roman" panose="02020603050405020304" charset="0"/>
                <a:cs typeface="Times New Roman" panose="02020603050405020304" charset="0"/>
              </a:rPr>
              <a:t>Chapter V  Political and Security Functions of International Organizations</a:t>
            </a:r>
            <a:endParaRPr lang="en-US" altLang="zh-CN" sz="2800"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sz="3555" dirty="0">
                <a:latin typeface="Times New Roman" panose="02020603050405020304" charset="0"/>
                <a:cs typeface="Times New Roman" panose="02020603050405020304" charset="0"/>
              </a:rPr>
              <a:t>Political and Security Functions of International Organizations</a:t>
            </a:r>
            <a:endParaRPr lang="en-US" altLang="zh-CN" sz="3555"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p:txBody>
          <a:bodyPr/>
          <a:lstStyle/>
          <a:p>
            <a:endParaRPr lang="en-US" altLang="zh-CN" dirty="0" smtClean="0"/>
          </a:p>
          <a:p>
            <a:r>
              <a:rPr lang="en-US" altLang="zh-CN" dirty="0" smtClean="0"/>
              <a:t>·</a:t>
            </a:r>
            <a:r>
              <a:rPr lang="en-US" altLang="zh-CN" sz="2800" dirty="0" smtClean="0"/>
              <a:t> Dispute-settlement function  </a:t>
            </a:r>
            <a:endParaRPr lang="en-US" altLang="zh-CN" sz="2800" dirty="0" smtClean="0"/>
          </a:p>
          <a:p>
            <a:r>
              <a:rPr lang="en-US" altLang="zh-CN" sz="2800" dirty="0" smtClean="0"/>
              <a:t>· Peace-keeping function  </a:t>
            </a:r>
            <a:endParaRPr lang="en-US" altLang="zh-CN" sz="2800" dirty="0" smtClean="0"/>
          </a:p>
          <a:p>
            <a:r>
              <a:rPr lang="en-US" altLang="zh-CN" sz="2800" dirty="0" smtClean="0"/>
              <a:t>· Security function</a:t>
            </a:r>
            <a:endParaRPr lang="en-US" altLang="zh-CN" sz="2800" dirty="0" smtClean="0"/>
          </a:p>
          <a:p>
            <a:endParaRPr lang="zh-CN" alt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latin typeface="Times New Roman" panose="02020603050405020304" charset="0"/>
                <a:cs typeface="Times New Roman" panose="02020603050405020304" charset="0"/>
              </a:rPr>
              <a:t>Section one</a:t>
            </a:r>
            <a:r>
              <a:rPr lang="en-US" altLang="zh-CN" sz="2800" dirty="0">
                <a:latin typeface="Times New Roman" panose="02020603050405020304" charset="0"/>
                <a:cs typeface="Times New Roman" panose="02020603050405020304" charset="0"/>
              </a:rPr>
              <a:t> The Dispute-Settlement Function of International Organizations</a:t>
            </a:r>
            <a:endParaRPr lang="en-US" altLang="zh-CN" sz="2800" dirty="0">
              <a:latin typeface="Times New Roman" panose="02020603050405020304" charset="0"/>
              <a:cs typeface="Times New Roman" panose="02020603050405020304" charset="0"/>
            </a:endParaRPr>
          </a:p>
        </p:txBody>
      </p:sp>
      <p:sp>
        <p:nvSpPr>
          <p:cNvPr id="3" name="文本占位符 2"/>
          <p:cNvSpPr>
            <a:spLocks noGrp="1"/>
          </p:cNvSpPr>
          <p:nvPr>
            <p:ph type="body" idx="1"/>
          </p:nvPr>
        </p:nvSpPr>
        <p:spPr/>
        <p:txBody>
          <a:bodyPr/>
          <a:lstStyle/>
          <a:p>
            <a:endParaRPr lang="zh-CN"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sz="3110" dirty="0">
                <a:latin typeface="Times New Roman" panose="02020603050405020304" charset="0"/>
                <a:cs typeface="Times New Roman" panose="02020603050405020304" charset="0"/>
              </a:rPr>
              <a:t>I. Types and Characteristics of International Dispute Settlement by International Organizations</a:t>
            </a:r>
            <a:r>
              <a:rPr lang="en-US" altLang="zh-CN" dirty="0"/>
              <a:t>  </a:t>
            </a:r>
            <a:endParaRPr lang="en-US" altLang="zh-CN" dirty="0"/>
          </a:p>
        </p:txBody>
      </p:sp>
      <p:sp>
        <p:nvSpPr>
          <p:cNvPr id="3" name="内容占位符 2"/>
          <p:cNvSpPr>
            <a:spLocks noGrp="1"/>
          </p:cNvSpPr>
          <p:nvPr>
            <p:ph idx="1"/>
          </p:nvPr>
        </p:nvSpPr>
        <p:spPr>
          <a:xfrm>
            <a:off x="457200" y="1752600"/>
            <a:ext cx="8229600" cy="4556720"/>
          </a:xfrm>
        </p:spPr>
        <p:txBody>
          <a:bodyPr>
            <a:normAutofit lnSpcReduction="20000"/>
          </a:bodyPr>
          <a:lstStyle/>
          <a:p>
            <a:pPr marL="114300" indent="0">
              <a:buNone/>
            </a:pPr>
            <a:endParaRPr lang="en-US" altLang="zh-CN" sz="2200" dirty="0" smtClean="0">
              <a:latin typeface="+mn-ea"/>
            </a:endParaRPr>
          </a:p>
          <a:p>
            <a:pPr marL="114300" indent="0">
              <a:buNone/>
            </a:pPr>
            <a:r>
              <a:rPr lang="en-US" altLang="zh-CN" dirty="0" smtClean="0">
                <a:latin typeface="Times New Roman" panose="02020603050405020304" charset="0"/>
                <a:cs typeface="Times New Roman" panose="02020603050405020304" charset="0"/>
              </a:rPr>
              <a:t>Grounded in legitimacy and emphasizing multilateralism and coordination, international organizations serve as effective platforms and instruments for the peaceful settlement of international disputes.  </a:t>
            </a:r>
            <a:endParaRPr lang="en-US" altLang="zh-CN" dirty="0" smtClean="0">
              <a:latin typeface="Times New Roman" panose="02020603050405020304" charset="0"/>
              <a:cs typeface="Times New Roman" panose="02020603050405020304" charset="0"/>
            </a:endParaRPr>
          </a:p>
          <a:p>
            <a:pPr marL="114300" indent="0">
              <a:buNone/>
            </a:pPr>
            <a:endParaRPr lang="en-US" altLang="zh-CN" dirty="0" smtClean="0">
              <a:latin typeface="Times New Roman" panose="02020603050405020304" charset="0"/>
              <a:cs typeface="Times New Roman" panose="02020603050405020304" charset="0"/>
            </a:endParaRPr>
          </a:p>
          <a:p>
            <a:pPr marL="114300" indent="0">
              <a:buNone/>
            </a:pPr>
            <a:r>
              <a:rPr lang="en-US" altLang="zh-CN" dirty="0" smtClean="0">
                <a:latin typeface="Times New Roman" panose="02020603050405020304" charset="0"/>
                <a:cs typeface="Times New Roman" panose="02020603050405020304" charset="0"/>
              </a:rPr>
              <a:t>International disputes are mainly classified as:  </a:t>
            </a:r>
            <a:endParaRPr lang="en-US" altLang="zh-CN" dirty="0" smtClean="0">
              <a:latin typeface="Times New Roman" panose="02020603050405020304" charset="0"/>
              <a:cs typeface="Times New Roman" panose="02020603050405020304" charset="0"/>
            </a:endParaRPr>
          </a:p>
          <a:p>
            <a:pPr marL="114300" indent="0">
              <a:buNone/>
            </a:pPr>
            <a:r>
              <a:rPr lang="en-US" altLang="zh-CN" dirty="0" smtClean="0">
                <a:latin typeface="Times New Roman" panose="02020603050405020304" charset="0"/>
                <a:cs typeface="Times New Roman" panose="02020603050405020304" charset="0"/>
              </a:rPr>
              <a:t>- legal disputes  </a:t>
            </a:r>
            <a:endParaRPr lang="en-US" altLang="zh-CN" dirty="0" smtClean="0">
              <a:latin typeface="Times New Roman" panose="02020603050405020304" charset="0"/>
              <a:cs typeface="Times New Roman" panose="02020603050405020304" charset="0"/>
            </a:endParaRPr>
          </a:p>
          <a:p>
            <a:pPr marL="114300" indent="0">
              <a:buNone/>
            </a:pPr>
            <a:r>
              <a:rPr lang="en-US" altLang="zh-CN" dirty="0" smtClean="0">
                <a:latin typeface="Times New Roman" panose="02020603050405020304" charset="0"/>
                <a:cs typeface="Times New Roman" panose="02020603050405020304" charset="0"/>
              </a:rPr>
              <a:t>- political disputes  </a:t>
            </a:r>
            <a:endParaRPr lang="en-US" altLang="zh-CN" dirty="0" smtClean="0">
              <a:latin typeface="Times New Roman" panose="02020603050405020304" charset="0"/>
              <a:cs typeface="Times New Roman" panose="02020603050405020304" charset="0"/>
            </a:endParaRPr>
          </a:p>
          <a:p>
            <a:pPr marL="114300" indent="0">
              <a:buNone/>
            </a:pPr>
            <a:endParaRPr lang="en-US" altLang="zh-CN" dirty="0" smtClean="0">
              <a:latin typeface="Times New Roman" panose="02020603050405020304" charset="0"/>
              <a:cs typeface="Times New Roman" panose="02020603050405020304" charset="0"/>
            </a:endParaRPr>
          </a:p>
          <a:p>
            <a:pPr marL="114300" indent="0">
              <a:buNone/>
            </a:pPr>
            <a:r>
              <a:rPr lang="en-US" altLang="zh-CN" dirty="0" smtClean="0">
                <a:latin typeface="Times New Roman" panose="02020603050405020304" charset="0"/>
                <a:cs typeface="Times New Roman" panose="02020603050405020304" charset="0"/>
              </a:rPr>
              <a:t>Settlement is pursued primarily through the United Nations framework and regional organizations.</a:t>
            </a:r>
            <a:endParaRPr lang="en-US" altLang="zh-CN" dirty="0" smtClean="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sz="3110">
                <a:latin typeface="Times New Roman" panose="02020603050405020304" charset="0"/>
                <a:cs typeface="Times New Roman" panose="02020603050405020304" charset="0"/>
              </a:rPr>
              <a:t>(I) Settlement of International Disputes within the United Nations Framework </a:t>
            </a:r>
            <a:endParaRPr lang="en-US" altLang="zh-CN" sz="3110">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327025" y="1862455"/>
            <a:ext cx="8359775" cy="4264025"/>
          </a:xfrm>
        </p:spPr>
        <p:txBody>
          <a:bodyPr>
            <a:normAutofit fontScale="80000"/>
          </a:bodyPr>
          <a:p>
            <a:r>
              <a:rPr lang="en-US" altLang="zh-CN"/>
              <a:t>· Peaceful settlement mechanisms: the preferred option, comprising political settlement and judicial settlement.  </a:t>
            </a:r>
            <a:endParaRPr lang="en-US" altLang="zh-CN"/>
          </a:p>
          <a:p>
            <a:endParaRPr lang="en-US" altLang="zh-CN"/>
          </a:p>
          <a:p>
            <a:r>
              <a:rPr lang="en-US" altLang="zh-CN"/>
              <a:t>· Coercive mechanisms: sanctions and the use of force.</a:t>
            </a:r>
            <a:endParaRPr lang="en-US" altLang="zh-CN"/>
          </a:p>
          <a:p>
            <a:endParaRPr lang="en-US" altLang="zh-CN"/>
          </a:p>
          <a:p>
            <a:endParaRPr lang="en-US" altLang="zh-CN"/>
          </a:p>
          <a:p>
            <a:r>
              <a:rPr lang="en-US" altLang="zh-CN" i="1"/>
              <a:t>To take effective collective measures for the prevention and removal of threats to peace, and for the suppression of acts of aggression or other breaches of peace; and to bring about by peaceful means, and in conformity with the principles of justice and international law, adjustment or settlement of international disputes or situations which might lead to a breach of peace</a:t>
            </a:r>
            <a:r>
              <a:rPr lang="en-US" altLang="zh-CN"/>
              <a:t>.  </a:t>
            </a:r>
            <a:endParaRPr lang="en-US" altLang="zh-CN"/>
          </a:p>
          <a:p>
            <a:r>
              <a:rPr lang="en-US" altLang="zh-CN"/>
              <a:t>— </a:t>
            </a:r>
            <a:r>
              <a:rPr lang="en-US" altLang="zh-CN">
                <a:sym typeface="+mn-ea"/>
              </a:rPr>
              <a:t>Paragraph 1, Article 1, </a:t>
            </a:r>
            <a:r>
              <a:rPr lang="en-US" altLang="zh-CN"/>
              <a:t>Charter of the United Nations</a:t>
            </a:r>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6128" y="408372"/>
            <a:ext cx="8322336" cy="1039427"/>
          </a:xfrm>
        </p:spPr>
        <p:txBody>
          <a:bodyPr>
            <a:normAutofit fontScale="90000"/>
          </a:bodyPr>
          <a:lstStyle/>
          <a:p>
            <a:pPr algn="l"/>
            <a:r>
              <a:rPr lang="en-US" altLang="zh-CN" sz="3110" dirty="0">
                <a:latin typeface="Times New Roman" panose="02020603050405020304" charset="0"/>
                <a:cs typeface="Times New Roman" panose="02020603050405020304" charset="0"/>
              </a:rPr>
              <a:t>(II) Settlement of International Disputes through Regional Organizations or Regional Arrangements  </a:t>
            </a:r>
            <a:endParaRPr lang="en-US" altLang="zh-CN" sz="3110"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457200" y="1639570"/>
            <a:ext cx="8229600" cy="5078095"/>
          </a:xfrm>
        </p:spPr>
        <p:txBody>
          <a:bodyPr>
            <a:normAutofit fontScale="70000"/>
          </a:bodyPr>
          <a:lstStyle/>
          <a:p>
            <a:endParaRPr lang="en-US" altLang="zh-CN" b="1" dirty="0" smtClean="0"/>
          </a:p>
          <a:p>
            <a:r>
              <a:rPr lang="en-US" altLang="zh-CN" sz="2570" dirty="0" smtClean="0"/>
              <a:t>Chapter VIII of the United Nations Charter establishes the formal status of regional organizations in the settlement of international disputes.  </a:t>
            </a:r>
            <a:endParaRPr lang="en-US" altLang="zh-CN" sz="2570" dirty="0" smtClean="0"/>
          </a:p>
          <a:p>
            <a:endParaRPr lang="en-US" altLang="zh-CN" sz="2570" dirty="0" smtClean="0"/>
          </a:p>
          <a:p>
            <a:r>
              <a:rPr lang="en-US" altLang="zh-CN" sz="2570" dirty="0" smtClean="0"/>
              <a:t>Article 52: </a:t>
            </a:r>
            <a:r>
              <a:rPr lang="en-US" altLang="zh-CN" sz="2570" i="1" dirty="0" smtClean="0"/>
              <a:t>Nothing in the present Charter precludes the existence of regional arrangements or agencies for dealing with such matters relating to the maintenance of international peace and security as are appropriate for regional action provided that such arrangements or agencies and their activities are consistent with the Purposes and Principles of the United Nations. </a:t>
            </a:r>
            <a:endParaRPr lang="en-US" altLang="zh-CN" sz="2570" dirty="0" smtClean="0"/>
          </a:p>
          <a:p>
            <a:endParaRPr lang="en-US" altLang="zh-CN" sz="2570" dirty="0" smtClean="0"/>
          </a:p>
          <a:p>
            <a:r>
              <a:rPr lang="en-US" altLang="zh-CN" sz="2570" dirty="0" smtClean="0"/>
              <a:t>Principal advantages of regional international organizations in settling international disputes   (3)</a:t>
            </a:r>
            <a:endParaRPr lang="en-US" altLang="zh-CN" sz="2570" dirty="0" smtClean="0"/>
          </a:p>
          <a:p>
            <a:endParaRPr lang="en-US" altLang="zh-CN" sz="2570" dirty="0" smtClean="0"/>
          </a:p>
          <a:p>
            <a:r>
              <a:rPr lang="en-US" altLang="zh-CN" sz="2570" dirty="0" smtClean="0"/>
              <a:t>Principal characteristics of regional international organizations in settling international disputes (2)</a:t>
            </a:r>
            <a:endParaRPr lang="en-US" altLang="zh-CN" sz="2570"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sz="3110" dirty="0">
                <a:latin typeface="Times New Roman" panose="02020603050405020304" charset="0"/>
                <a:cs typeface="Times New Roman" panose="02020603050405020304" charset="0"/>
              </a:rPr>
              <a:t>II. Political Means of Dispute Settlement Employed by International Organizations</a:t>
            </a:r>
            <a:r>
              <a:rPr lang="en-US" altLang="zh-CN" dirty="0"/>
              <a:t> </a:t>
            </a:r>
            <a:endParaRPr lang="en-US" altLang="zh-CN" dirty="0"/>
          </a:p>
        </p:txBody>
      </p:sp>
      <p:sp>
        <p:nvSpPr>
          <p:cNvPr id="3" name="内容占位符 2"/>
          <p:cNvSpPr>
            <a:spLocks noGrp="1"/>
          </p:cNvSpPr>
          <p:nvPr>
            <p:ph idx="1"/>
          </p:nvPr>
        </p:nvSpPr>
        <p:spPr/>
        <p:txBody>
          <a:bodyPr/>
          <a:lstStyle/>
          <a:p>
            <a:pPr marL="571500" indent="-457200">
              <a:buFont typeface="+mj-lt"/>
              <a:buAutoNum type="arabicPeriod"/>
            </a:pPr>
            <a:endParaRPr lang="en-US" altLang="zh-CN" dirty="0" smtClean="0">
              <a:latin typeface="+mn-ea"/>
            </a:endParaRPr>
          </a:p>
          <a:p>
            <a:pPr marL="571500" indent="-457200">
              <a:buNone/>
            </a:pPr>
            <a:r>
              <a:rPr lang="en-US" altLang="zh-CN" sz="2800" dirty="0">
                <a:latin typeface="Times New Roman" panose="02020603050405020304" charset="0"/>
                <a:cs typeface="Times New Roman" panose="02020603050405020304" charset="0"/>
              </a:rPr>
              <a:t>- Negotiation and consultation  </a:t>
            </a:r>
            <a:endParaRPr lang="en-US" altLang="zh-CN" sz="2800" dirty="0">
              <a:latin typeface="Times New Roman" panose="02020603050405020304" charset="0"/>
              <a:cs typeface="Times New Roman" panose="02020603050405020304" charset="0"/>
            </a:endParaRPr>
          </a:p>
          <a:p>
            <a:pPr marL="571500" indent="-457200">
              <a:buNone/>
            </a:pPr>
            <a:r>
              <a:rPr lang="en-US" altLang="zh-CN" sz="2800" dirty="0">
                <a:latin typeface="Times New Roman" panose="02020603050405020304" charset="0"/>
                <a:cs typeface="Times New Roman" panose="02020603050405020304" charset="0"/>
              </a:rPr>
              <a:t>- Good offices and mediation  </a:t>
            </a:r>
            <a:endParaRPr lang="en-US" altLang="zh-CN" sz="2800" dirty="0">
              <a:latin typeface="Times New Roman" panose="02020603050405020304" charset="0"/>
              <a:cs typeface="Times New Roman" panose="02020603050405020304" charset="0"/>
            </a:endParaRPr>
          </a:p>
          <a:p>
            <a:pPr marL="571500" indent="-457200">
              <a:buNone/>
            </a:pPr>
            <a:r>
              <a:rPr lang="en-US" altLang="zh-CN" sz="2800" dirty="0">
                <a:latin typeface="Times New Roman" panose="02020603050405020304" charset="0"/>
                <a:cs typeface="Times New Roman" panose="02020603050405020304" charset="0"/>
              </a:rPr>
              <a:t>- Inquiry and conciliation</a:t>
            </a:r>
            <a:endParaRPr lang="en-US" altLang="zh-CN" sz="2800"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(I) Negotiation and Consultation </a:t>
            </a:r>
            <a:endParaRPr lang="en-US" altLang="zh-CN" sz="3200" dirty="0"/>
          </a:p>
        </p:txBody>
      </p:sp>
      <p:sp>
        <p:nvSpPr>
          <p:cNvPr id="3" name="内容占位符 2"/>
          <p:cNvSpPr>
            <a:spLocks noGrp="1"/>
          </p:cNvSpPr>
          <p:nvPr>
            <p:ph idx="1"/>
          </p:nvPr>
        </p:nvSpPr>
        <p:spPr>
          <a:xfrm>
            <a:off x="372745" y="1752600"/>
            <a:ext cx="8407400" cy="4855210"/>
          </a:xfrm>
        </p:spPr>
        <p:txBody>
          <a:bodyPr>
            <a:normAutofit fontScale="80000"/>
          </a:bodyPr>
          <a:lstStyle/>
          <a:p>
            <a:pPr>
              <a:lnSpc>
                <a:spcPct val="120000"/>
              </a:lnSpc>
            </a:pPr>
            <a:r>
              <a:rPr lang="en-US" altLang="zh-CN" dirty="0"/>
              <a:t>Negotiation and consultation refer to direct dialogue between the parties to a dispute aimed at resolving it.  The parties set out their respective positions and views, clarify the facts, seek mutual understanding, remove misunderstandings and differences, make concessions and compromises, and enhance mutual confidence so as to arrive at a solution acceptable to all.  </a:t>
            </a:r>
            <a:endParaRPr lang="en-US" altLang="zh-CN" dirty="0"/>
          </a:p>
          <a:p>
            <a:pPr>
              <a:lnSpc>
                <a:spcPct val="120000"/>
              </a:lnSpc>
            </a:pPr>
            <a:r>
              <a:rPr lang="en-US" altLang="zh-CN" dirty="0"/>
              <a:t>Possible outcomes of negotiation and consultation:  </a:t>
            </a:r>
            <a:endParaRPr lang="en-US" altLang="zh-CN" dirty="0"/>
          </a:p>
          <a:p>
            <a:pPr>
              <a:lnSpc>
                <a:spcPct val="120000"/>
              </a:lnSpc>
            </a:pPr>
            <a:r>
              <a:rPr lang="en-US" altLang="zh-CN" dirty="0"/>
              <a:t>- One party yields, wholly abandons its own claims or demands, and accepts the views, claims or demands of the other party;  </a:t>
            </a:r>
            <a:endParaRPr lang="en-US" altLang="zh-CN" dirty="0"/>
          </a:p>
          <a:p>
            <a:pPr>
              <a:lnSpc>
                <a:spcPct val="120000"/>
              </a:lnSpc>
            </a:pPr>
            <a:r>
              <a:rPr lang="en-US" altLang="zh-CN" dirty="0"/>
              <a:t>- Both parties compromise and make concessions, thereby finding a mutually acceptable way to settle the dispute;  </a:t>
            </a:r>
            <a:endParaRPr lang="en-US" altLang="zh-CN" dirty="0"/>
          </a:p>
          <a:p>
            <a:pPr>
              <a:lnSpc>
                <a:spcPct val="120000"/>
              </a:lnSpc>
            </a:pPr>
            <a:r>
              <a:rPr lang="en-US" altLang="zh-CN" dirty="0"/>
              <a:t>- All parties adhere to their original positions and refuse to yield, causing the negotiations to break down and compelling recourse to other means of settlement.</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(II) Good Offices and Mediation  </a:t>
            </a:r>
            <a:endParaRPr lang="en-US" altLang="zh-CN" sz="3200" dirty="0"/>
          </a:p>
        </p:txBody>
      </p:sp>
      <p:sp>
        <p:nvSpPr>
          <p:cNvPr id="3" name="内容占位符 2"/>
          <p:cNvSpPr>
            <a:spLocks noGrp="1"/>
          </p:cNvSpPr>
          <p:nvPr>
            <p:ph idx="1"/>
          </p:nvPr>
        </p:nvSpPr>
        <p:spPr>
          <a:xfrm>
            <a:off x="457200" y="1752600"/>
            <a:ext cx="8229600" cy="4772744"/>
          </a:xfrm>
        </p:spPr>
        <p:txBody>
          <a:bodyPr>
            <a:normAutofit/>
          </a:bodyPr>
          <a:lstStyle/>
          <a:p>
            <a:pPr marL="114300" indent="0">
              <a:buNone/>
            </a:pPr>
            <a:endParaRPr lang="en-US" altLang="zh-CN" sz="2200" b="1" dirty="0" smtClean="0"/>
          </a:p>
          <a:p>
            <a:pPr marL="114300" indent="0">
              <a:buNone/>
            </a:pPr>
            <a:r>
              <a:rPr lang="en-US" altLang="zh-CN" sz="2200" dirty="0"/>
              <a:t>Good offices refers to the act whereby, when the parties to a dispute are unable to resolve it directly, a third party facilitates and encourages them to come to the negotiating table so that the dispute may be settled peacefully.  </a:t>
            </a:r>
            <a:endParaRPr lang="en-US" altLang="zh-CN" sz="2200" dirty="0"/>
          </a:p>
          <a:p>
            <a:pPr marL="114300" indent="0">
              <a:buNone/>
            </a:pPr>
            <a:endParaRPr lang="en-US" altLang="zh-CN" sz="2200" dirty="0"/>
          </a:p>
          <a:p>
            <a:pPr marL="114300" indent="0">
              <a:buNone/>
            </a:pPr>
            <a:r>
              <a:rPr lang="en-US" altLang="zh-CN" sz="2200" dirty="0"/>
              <a:t>Mediation refers to the process whereby, when the parties cannot resolve the dispute through direct negotiation and consultation, a third party intervenes to reconcile their respective demands.  </a:t>
            </a:r>
            <a:endParaRPr lang="en-US" altLang="zh-CN" sz="2200" dirty="0"/>
          </a:p>
          <a:p>
            <a:pPr marL="114300" indent="0">
              <a:buNone/>
            </a:pPr>
            <a:endParaRPr lang="en-US" altLang="zh-CN" sz="2200" dirty="0"/>
          </a:p>
          <a:p>
            <a:pPr marL="114300" indent="0">
              <a:buNone/>
            </a:pPr>
            <a:r>
              <a:rPr lang="en-US" altLang="zh-CN" sz="2200" dirty="0"/>
              <a:t>The principal distinction between good offices and mediation lies in whether the third party takes direct part in the negotiations.</a:t>
            </a:r>
            <a:endParaRPr lang="en-US" altLang="zh-CN" sz="22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(III) Inquiry and Conciliation  </a:t>
            </a:r>
            <a:endParaRPr lang="en-US" altLang="zh-CN" sz="3200" dirty="0"/>
          </a:p>
        </p:txBody>
      </p:sp>
      <p:sp>
        <p:nvSpPr>
          <p:cNvPr id="3" name="内容占位符 2"/>
          <p:cNvSpPr>
            <a:spLocks noGrp="1"/>
          </p:cNvSpPr>
          <p:nvPr>
            <p:ph idx="1"/>
          </p:nvPr>
        </p:nvSpPr>
        <p:spPr>
          <a:xfrm>
            <a:off x="457200" y="1752600"/>
            <a:ext cx="8229600" cy="4772744"/>
          </a:xfrm>
        </p:spPr>
        <p:txBody>
          <a:bodyPr>
            <a:noAutofit/>
          </a:bodyPr>
          <a:lstStyle/>
          <a:p>
            <a:pPr marL="114300" indent="0">
              <a:buNone/>
            </a:pPr>
            <a:r>
              <a:rPr lang="en-US" altLang="zh-CN" sz="2200" dirty="0" smtClean="0"/>
              <a:t>Inquiry (or fact-finding) refers to a procedure used in international disputes where the parties disagree on questions of fact. The parties agree to employ an agreed method to investigate the contested facts, determine whether any breach of a treaty or other international commitment has occurred, and propose appropriate remedial measures for adjustment.  </a:t>
            </a:r>
            <a:endParaRPr lang="en-US" altLang="zh-CN" sz="2200" dirty="0" smtClean="0"/>
          </a:p>
          <a:p>
            <a:pPr marL="114300" indent="0">
              <a:buNone/>
            </a:pPr>
            <a:endParaRPr lang="en-US" altLang="zh-CN" sz="2200" dirty="0" smtClean="0"/>
          </a:p>
          <a:p>
            <a:pPr marL="114300" indent="0">
              <a:buNone/>
            </a:pPr>
            <a:r>
              <a:rPr lang="en-US" altLang="zh-CN" sz="2200" dirty="0" smtClean="0"/>
              <a:t>Conciliation (or mediation) refers to a procedure whereby the parties to a dispute, by treaty or other arrangement, submit their disagreement to a commission composed of several persons. The commission investigates and assesses the facts of the dispute, clarifies them for the parties, hears their views, and makes efforts to assist them in reaching agreement. Upon completion, it issues a report that includes recommendations and proposed avenues for resolving the dispute.</a:t>
            </a:r>
            <a:endParaRPr lang="en-US" altLang="zh-CN" sz="2200" dirty="0"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sz="3110" dirty="0">
                <a:latin typeface="Times New Roman" panose="02020603050405020304" charset="0"/>
                <a:cs typeface="Times New Roman" panose="02020603050405020304" charset="0"/>
              </a:rPr>
              <a:t>III. Legal Means of Dispute Settlement by International Organizations </a:t>
            </a:r>
            <a:r>
              <a:rPr lang="en-US" altLang="zh-CN" dirty="0"/>
              <a:t> </a:t>
            </a:r>
            <a:endParaRPr lang="en-US" altLang="zh-CN" dirty="0"/>
          </a:p>
        </p:txBody>
      </p:sp>
      <p:sp>
        <p:nvSpPr>
          <p:cNvPr id="3" name="内容占位符 2"/>
          <p:cNvSpPr>
            <a:spLocks noGrp="1"/>
          </p:cNvSpPr>
          <p:nvPr>
            <p:ph idx="1"/>
          </p:nvPr>
        </p:nvSpPr>
        <p:spPr/>
        <p:txBody>
          <a:bodyPr/>
          <a:lstStyle/>
          <a:p>
            <a:pPr marL="571500" indent="-457200">
              <a:buFont typeface="+mj-lt"/>
              <a:buAutoNum type="arabicPeriod"/>
            </a:pPr>
            <a:endParaRPr lang="en-US" altLang="zh-CN" dirty="0" smtClean="0">
              <a:latin typeface="+mn-ea"/>
            </a:endParaRPr>
          </a:p>
          <a:p>
            <a:pPr marL="571500" indent="-457200">
              <a:buNone/>
            </a:pPr>
            <a:r>
              <a:rPr lang="en-US" altLang="zh-CN" dirty="0" smtClean="0">
                <a:latin typeface="+mn-ea"/>
              </a:rPr>
              <a:t>International arbitral and judicial bodies of international organizations resolve or adjudicate international disputes in accordance with international legal rules.  </a:t>
            </a:r>
            <a:endParaRPr lang="en-US" altLang="zh-CN" dirty="0" smtClean="0">
              <a:latin typeface="+mn-ea"/>
            </a:endParaRPr>
          </a:p>
          <a:p>
            <a:pPr marL="571500" indent="-457200">
              <a:buNone/>
            </a:pPr>
            <a:endParaRPr lang="en-US" altLang="zh-CN" dirty="0" smtClean="0">
              <a:latin typeface="+mn-ea"/>
            </a:endParaRPr>
          </a:p>
          <a:p>
            <a:pPr marL="571500" indent="-457200">
              <a:buNone/>
            </a:pPr>
            <a:r>
              <a:rPr lang="en-US" altLang="zh-CN" dirty="0" smtClean="0">
                <a:latin typeface="+mn-ea"/>
              </a:rPr>
              <a:t>- International arbitration  </a:t>
            </a:r>
            <a:endParaRPr lang="en-US" altLang="zh-CN" dirty="0" smtClean="0">
              <a:latin typeface="+mn-ea"/>
            </a:endParaRPr>
          </a:p>
          <a:p>
            <a:pPr marL="571500" indent="-457200">
              <a:buNone/>
            </a:pPr>
            <a:r>
              <a:rPr lang="en-US" altLang="zh-CN" dirty="0" smtClean="0">
                <a:latin typeface="+mn-ea"/>
              </a:rPr>
              <a:t>- Judicial settlement</a:t>
            </a:r>
            <a:endParaRPr lang="en-US" altLang="zh-CN" dirty="0" smtClean="0">
              <a:latin typeface="+mn-ea"/>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2800" dirty="0">
                <a:latin typeface="Times New Roman" panose="02020603050405020304" charset="0"/>
                <a:cs typeface="Times New Roman" panose="02020603050405020304" charset="0"/>
              </a:rPr>
              <a:t>(I) International Arbitration </a:t>
            </a:r>
            <a:endParaRPr lang="en-US" altLang="zh-CN" sz="2800"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p:txBody>
          <a:bodyPr/>
          <a:lstStyle/>
          <a:p>
            <a:pPr marL="114300" indent="0">
              <a:buNone/>
            </a:pPr>
            <a:endParaRPr lang="en-US" altLang="zh-CN" b="1" dirty="0" smtClean="0"/>
          </a:p>
          <a:p>
            <a:pPr marL="114300" indent="0">
              <a:buNone/>
            </a:pPr>
            <a:r>
              <a:rPr lang="en-US" altLang="zh-CN" dirty="0"/>
              <a:t>International arbitration is a method of dispute settlement in which the parties jointly agree to submit their dispute to arbitrators of their own choice and undertake to abide by the ensuing award.  </a:t>
            </a:r>
            <a:endParaRPr lang="en-US" altLang="zh-CN" dirty="0"/>
          </a:p>
          <a:p>
            <a:pPr marL="114300" indent="0">
              <a:buNone/>
            </a:pPr>
            <a:r>
              <a:rPr lang="en-US" altLang="zh-CN" dirty="0"/>
              <a:t>International arbitration is characterized by “voluntary jurisdiction.”  </a:t>
            </a:r>
            <a:endParaRPr lang="en-US" altLang="zh-CN" dirty="0"/>
          </a:p>
          <a:p>
            <a:pPr marL="114300" indent="0">
              <a:buNone/>
            </a:pPr>
            <a:r>
              <a:rPr lang="en-US" altLang="zh-CN" dirty="0"/>
              <a:t>An international arbitral award is legally binding on the parties to the dispute.</a:t>
            </a:r>
            <a:endParaRPr lang="en-US" altLang="zh-CN"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(II) Judicial Settlement </a:t>
            </a:r>
            <a:endParaRPr lang="zh-CN" altLang="en-US" sz="3200" dirty="0"/>
          </a:p>
        </p:txBody>
      </p:sp>
      <p:sp>
        <p:nvSpPr>
          <p:cNvPr id="3" name="内容占位符 2"/>
          <p:cNvSpPr>
            <a:spLocks noGrp="1"/>
          </p:cNvSpPr>
          <p:nvPr>
            <p:ph idx="1"/>
          </p:nvPr>
        </p:nvSpPr>
        <p:spPr>
          <a:xfrm>
            <a:off x="346075" y="1752600"/>
            <a:ext cx="8398510" cy="4862195"/>
          </a:xfrm>
        </p:spPr>
        <p:txBody>
          <a:bodyPr>
            <a:normAutofit fontScale="70000"/>
          </a:bodyPr>
          <a:lstStyle/>
          <a:p>
            <a:pPr marL="114300" indent="0">
              <a:lnSpc>
                <a:spcPct val="110000"/>
              </a:lnSpc>
              <a:buNone/>
            </a:pPr>
            <a:r>
              <a:rPr lang="en-US" altLang="zh-CN" sz="2570" dirty="0" smtClean="0"/>
              <a:t>Judicial settlement is a procedure whereby the parties to a dispute submit it to a pre-existing international body—such as an international court or tribunal composed of independent judges—which renders a legally binding decision on the dispute referred to it by mutual agreement of the parties, in accordance with international law.  </a:t>
            </a:r>
            <a:endParaRPr lang="en-US" altLang="zh-CN" sz="2570" dirty="0" smtClean="0"/>
          </a:p>
          <a:p>
            <a:pPr marL="114300" indent="0">
              <a:lnSpc>
                <a:spcPct val="110000"/>
              </a:lnSpc>
              <a:buNone/>
            </a:pPr>
            <a:endParaRPr lang="en-US" altLang="zh-CN" sz="2570" dirty="0" smtClean="0"/>
          </a:p>
          <a:p>
            <a:pPr marL="114300" indent="0">
              <a:lnSpc>
                <a:spcPct val="110000"/>
              </a:lnSpc>
              <a:buNone/>
            </a:pPr>
            <a:r>
              <a:rPr lang="en-US" altLang="zh-CN" sz="2570" dirty="0" smtClean="0"/>
              <a:t>Global judicial institutions:  </a:t>
            </a:r>
            <a:endParaRPr lang="en-US" altLang="zh-CN" sz="2570" dirty="0" smtClean="0"/>
          </a:p>
          <a:p>
            <a:pPr marL="114300" indent="0">
              <a:lnSpc>
                <a:spcPct val="110000"/>
              </a:lnSpc>
              <a:buNone/>
            </a:pPr>
            <a:r>
              <a:rPr lang="en-US" altLang="zh-CN" sz="2570" dirty="0" smtClean="0"/>
              <a:t>- International Court of Justice  </a:t>
            </a:r>
            <a:endParaRPr lang="en-US" altLang="zh-CN" sz="2570" dirty="0" smtClean="0"/>
          </a:p>
          <a:p>
            <a:pPr marL="114300" indent="0">
              <a:lnSpc>
                <a:spcPct val="110000"/>
              </a:lnSpc>
              <a:buNone/>
            </a:pPr>
            <a:r>
              <a:rPr lang="en-US" altLang="zh-CN" sz="2570" dirty="0" smtClean="0"/>
              <a:t>- Permanent Court of Arbitration  </a:t>
            </a:r>
            <a:endParaRPr lang="en-US" altLang="zh-CN" sz="2570" dirty="0" smtClean="0"/>
          </a:p>
          <a:p>
            <a:pPr marL="114300" indent="0">
              <a:lnSpc>
                <a:spcPct val="110000"/>
              </a:lnSpc>
              <a:buNone/>
            </a:pPr>
            <a:r>
              <a:rPr lang="en-US" altLang="zh-CN" sz="2570" dirty="0" smtClean="0"/>
              <a:t>- International Tribunal for the Law of the Sea  </a:t>
            </a:r>
            <a:endParaRPr lang="en-US" altLang="zh-CN" sz="2570" dirty="0" smtClean="0"/>
          </a:p>
          <a:p>
            <a:pPr marL="114300" indent="0">
              <a:lnSpc>
                <a:spcPct val="110000"/>
              </a:lnSpc>
              <a:buNone/>
            </a:pPr>
            <a:endParaRPr lang="en-US" altLang="zh-CN" sz="2570" dirty="0" smtClean="0"/>
          </a:p>
          <a:p>
            <a:pPr marL="114300" indent="0">
              <a:lnSpc>
                <a:spcPct val="110000"/>
              </a:lnSpc>
              <a:buNone/>
            </a:pPr>
            <a:r>
              <a:rPr lang="en-US" altLang="zh-CN" sz="2570" dirty="0" smtClean="0"/>
              <a:t>Specialized or regional judicial institutions:  </a:t>
            </a:r>
            <a:endParaRPr lang="en-US" altLang="zh-CN" sz="2570" dirty="0" smtClean="0"/>
          </a:p>
          <a:p>
            <a:pPr marL="114300" indent="0">
              <a:lnSpc>
                <a:spcPct val="110000"/>
              </a:lnSpc>
              <a:buNone/>
            </a:pPr>
            <a:r>
              <a:rPr lang="en-US" altLang="zh-CN" sz="2570" dirty="0" smtClean="0"/>
              <a:t>- Court of Justice of the European Union  </a:t>
            </a:r>
            <a:endParaRPr lang="en-US" altLang="zh-CN" sz="2570" dirty="0" smtClean="0"/>
          </a:p>
          <a:p>
            <a:pPr marL="114300" indent="0">
              <a:lnSpc>
                <a:spcPct val="110000"/>
              </a:lnSpc>
              <a:buNone/>
            </a:pPr>
            <a:r>
              <a:rPr lang="en-US" altLang="zh-CN" sz="2570" dirty="0" smtClean="0"/>
              <a:t>- Inter-American Court of Human Rights  </a:t>
            </a:r>
            <a:endParaRPr lang="en-US" altLang="zh-CN" sz="2570" dirty="0" smtClean="0"/>
          </a:p>
          <a:p>
            <a:pPr marL="114300" indent="0">
              <a:lnSpc>
                <a:spcPct val="110000"/>
              </a:lnSpc>
              <a:buNone/>
            </a:pPr>
            <a:r>
              <a:rPr lang="en-US" altLang="zh-CN" sz="2570" dirty="0" smtClean="0"/>
              <a:t>- European Court of Human Rights</a:t>
            </a:r>
            <a:endParaRPr lang="en-US" altLang="zh-CN" sz="2570"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sz="3110" dirty="0">
                <a:latin typeface="Times New Roman" panose="02020603050405020304" charset="0"/>
                <a:cs typeface="Times New Roman" panose="02020603050405020304" charset="0"/>
              </a:rPr>
              <a:t>IV. Coercive Measures for International Dispute Settlement by International Organizations</a:t>
            </a:r>
            <a:r>
              <a:rPr lang="en-US" altLang="zh-CN" dirty="0"/>
              <a:t>  </a:t>
            </a:r>
            <a:endParaRPr lang="en-US" altLang="zh-CN" dirty="0"/>
          </a:p>
        </p:txBody>
      </p:sp>
      <p:sp>
        <p:nvSpPr>
          <p:cNvPr id="3" name="内容占位符 2"/>
          <p:cNvSpPr>
            <a:spLocks noGrp="1"/>
          </p:cNvSpPr>
          <p:nvPr>
            <p:ph idx="1"/>
          </p:nvPr>
        </p:nvSpPr>
        <p:spPr>
          <a:xfrm>
            <a:off x="457200" y="2151781"/>
            <a:ext cx="8229600" cy="4373563"/>
          </a:xfrm>
        </p:spPr>
        <p:txBody>
          <a:bodyPr/>
          <a:lstStyle/>
          <a:p>
            <a:pPr marL="114300" indent="0">
              <a:buNone/>
            </a:pPr>
            <a:endParaRPr lang="en-US" altLang="zh-CN" dirty="0" smtClean="0"/>
          </a:p>
          <a:p>
            <a:pPr marL="114300" indent="0">
              <a:buNone/>
            </a:pPr>
            <a:endParaRPr lang="en-US" altLang="zh-CN" dirty="0" smtClean="0">
              <a:latin typeface="+mn-ea"/>
            </a:endParaRPr>
          </a:p>
          <a:p>
            <a:pPr marL="114300" indent="0">
              <a:buNone/>
            </a:pPr>
            <a:r>
              <a:rPr lang="en-US" altLang="zh-CN" sz="2800" dirty="0" smtClean="0">
                <a:latin typeface="Times New Roman" panose="02020603050405020304" charset="0"/>
                <a:cs typeface="Times New Roman" panose="02020603050405020304" charset="0"/>
              </a:rPr>
              <a:t>- The United Nations Security Council is the only organ of an international organization empowered to take compulsory action.  </a:t>
            </a:r>
            <a:endParaRPr lang="en-US" altLang="zh-CN" sz="2800" dirty="0" smtClean="0">
              <a:latin typeface="Times New Roman" panose="02020603050405020304" charset="0"/>
              <a:cs typeface="Times New Roman" panose="02020603050405020304" charset="0"/>
            </a:endParaRPr>
          </a:p>
          <a:p>
            <a:pPr marL="114300" indent="0">
              <a:buNone/>
            </a:pPr>
            <a:endParaRPr lang="en-US" altLang="zh-CN" sz="2800" dirty="0" smtClean="0">
              <a:latin typeface="Times New Roman" panose="02020603050405020304" charset="0"/>
              <a:cs typeface="Times New Roman" panose="02020603050405020304" charset="0"/>
            </a:endParaRPr>
          </a:p>
          <a:p>
            <a:pPr marL="114300" indent="0">
              <a:buNone/>
            </a:pPr>
            <a:r>
              <a:rPr lang="en-US" altLang="zh-CN" sz="2800" dirty="0" smtClean="0">
                <a:latin typeface="Times New Roman" panose="02020603050405020304" charset="0"/>
                <a:cs typeface="Times New Roman" panose="02020603050405020304" charset="0"/>
              </a:rPr>
              <a:t>- Sanctions  </a:t>
            </a:r>
            <a:endParaRPr lang="en-US" altLang="zh-CN" sz="2800" dirty="0" smtClean="0">
              <a:latin typeface="Times New Roman" panose="02020603050405020304" charset="0"/>
              <a:cs typeface="Times New Roman" panose="02020603050405020304" charset="0"/>
            </a:endParaRPr>
          </a:p>
          <a:p>
            <a:pPr marL="114300" indent="0">
              <a:buNone/>
            </a:pPr>
            <a:r>
              <a:rPr lang="en-US" altLang="zh-CN" sz="2800" dirty="0" smtClean="0">
                <a:latin typeface="Times New Roman" panose="02020603050405020304" charset="0"/>
                <a:cs typeface="Times New Roman" panose="02020603050405020304" charset="0"/>
              </a:rPr>
              <a:t>- Use of force</a:t>
            </a:r>
            <a:endParaRPr lang="en-US" altLang="zh-CN" sz="2800" dirty="0" smtClean="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(I) Sanctions  </a:t>
            </a:r>
            <a:endParaRPr lang="en-US" altLang="zh-CN" sz="3200" dirty="0"/>
          </a:p>
        </p:txBody>
      </p:sp>
      <p:sp>
        <p:nvSpPr>
          <p:cNvPr id="3" name="内容占位符 2"/>
          <p:cNvSpPr>
            <a:spLocks noGrp="1"/>
          </p:cNvSpPr>
          <p:nvPr>
            <p:ph idx="1"/>
          </p:nvPr>
        </p:nvSpPr>
        <p:spPr/>
        <p:txBody>
          <a:bodyPr/>
          <a:lstStyle/>
          <a:p>
            <a:pPr marL="114300" indent="0">
              <a:buNone/>
            </a:pPr>
            <a:endParaRPr lang="en-US" altLang="zh-CN" b="1" dirty="0" smtClean="0"/>
          </a:p>
          <a:p>
            <a:pPr marL="114300" indent="0">
              <a:buNone/>
            </a:pPr>
            <a:r>
              <a:rPr lang="en-US" altLang="zh-CN" dirty="0"/>
              <a:t>Sanctions mainly comprise measures such as economic sanctions, financial sanctions, arms embargoes, travel bans, asset freezes, and other restrictive steps.  </a:t>
            </a:r>
            <a:endParaRPr lang="en-US" altLang="zh-CN" dirty="0"/>
          </a:p>
          <a:p>
            <a:pPr marL="114300" indent="0">
              <a:buNone/>
            </a:pPr>
            <a:endParaRPr lang="en-US" altLang="zh-CN" dirty="0"/>
          </a:p>
          <a:p>
            <a:pPr marL="114300" indent="0">
              <a:buNone/>
            </a:pPr>
            <a:r>
              <a:rPr lang="en-US" altLang="zh-CN" dirty="0"/>
              <a:t>The purpose of sanctions is to alter the policy conduct of the target or to convey a specific message from the sanctioning party to the target.</a:t>
            </a:r>
            <a:endParaRPr lang="en-US" altLang="zh-CN"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(II) Use of Force </a:t>
            </a:r>
            <a:endParaRPr lang="en-US" altLang="zh-CN" sz="3200" dirty="0"/>
          </a:p>
        </p:txBody>
      </p:sp>
      <p:sp>
        <p:nvSpPr>
          <p:cNvPr id="3" name="内容占位符 2"/>
          <p:cNvSpPr>
            <a:spLocks noGrp="1"/>
          </p:cNvSpPr>
          <p:nvPr>
            <p:ph idx="1"/>
          </p:nvPr>
        </p:nvSpPr>
        <p:spPr/>
        <p:txBody>
          <a:bodyPr>
            <a:noAutofit/>
          </a:bodyPr>
          <a:lstStyle/>
          <a:p>
            <a:pPr>
              <a:lnSpc>
                <a:spcPct val="120000"/>
              </a:lnSpc>
            </a:pPr>
            <a:r>
              <a:rPr lang="en-US" altLang="zh-CN" dirty="0" smtClean="0">
                <a:latin typeface="Times New Roman" panose="02020603050405020304" charset="0"/>
                <a:cs typeface="Times New Roman" panose="02020603050405020304" charset="0"/>
              </a:rPr>
              <a:t>· Chapter VII of the United Nations Charter empowers the Security Council to take enforcement action when there are threats to, or breaches of, international peace and security.  </a:t>
            </a:r>
            <a:endParaRPr lang="en-US" altLang="zh-CN" dirty="0" smtClean="0">
              <a:latin typeface="Times New Roman" panose="02020603050405020304" charset="0"/>
              <a:cs typeface="Times New Roman" panose="02020603050405020304" charset="0"/>
            </a:endParaRPr>
          </a:p>
          <a:p>
            <a:pPr>
              <a:lnSpc>
                <a:spcPct val="120000"/>
              </a:lnSpc>
            </a:pPr>
            <a:endParaRPr lang="en-US" altLang="zh-CN" dirty="0" smtClean="0">
              <a:latin typeface="Times New Roman" panose="02020603050405020304" charset="0"/>
              <a:cs typeface="Times New Roman" panose="02020603050405020304" charset="0"/>
            </a:endParaRPr>
          </a:p>
          <a:p>
            <a:pPr>
              <a:lnSpc>
                <a:spcPct val="120000"/>
              </a:lnSpc>
            </a:pPr>
            <a:r>
              <a:rPr lang="en-US" altLang="zh-CN" dirty="0" smtClean="0">
                <a:latin typeface="Times New Roman" panose="02020603050405020304" charset="0"/>
                <a:cs typeface="Times New Roman" panose="02020603050405020304" charset="0"/>
              </a:rPr>
              <a:t>· Forms of force employed by international organizations:  </a:t>
            </a:r>
            <a:endParaRPr lang="en-US" altLang="zh-CN" dirty="0" smtClean="0">
              <a:latin typeface="Times New Roman" panose="02020603050405020304" charset="0"/>
              <a:cs typeface="Times New Roman" panose="02020603050405020304" charset="0"/>
            </a:endParaRPr>
          </a:p>
          <a:p>
            <a:pPr>
              <a:lnSpc>
                <a:spcPct val="120000"/>
              </a:lnSpc>
            </a:pPr>
            <a:r>
              <a:rPr lang="en-US" altLang="zh-CN" dirty="0" smtClean="0">
                <a:latin typeface="Times New Roman" panose="02020603050405020304" charset="0"/>
                <a:cs typeface="Times New Roman" panose="02020603050405020304" charset="0"/>
              </a:rPr>
              <a:t>(1) Peace-keeping intervention, aimed primarily at halting conflict and securing a cease-fire between the parties; such peace-keeping operations must remain impartial.  </a:t>
            </a:r>
            <a:endParaRPr lang="en-US" altLang="zh-CN" dirty="0" smtClean="0">
              <a:latin typeface="Times New Roman" panose="02020603050405020304" charset="0"/>
              <a:cs typeface="Times New Roman" panose="02020603050405020304" charset="0"/>
            </a:endParaRPr>
          </a:p>
          <a:p>
            <a:pPr>
              <a:lnSpc>
                <a:spcPct val="120000"/>
              </a:lnSpc>
            </a:pPr>
            <a:r>
              <a:rPr lang="en-US" altLang="zh-CN" dirty="0" smtClean="0">
                <a:latin typeface="Times New Roman" panose="02020603050405020304" charset="0"/>
                <a:cs typeface="Times New Roman" panose="02020603050405020304" charset="0"/>
              </a:rPr>
              <a:t>(2) Authorization by the UN Security Council for third-party military forces to intervene directly.</a:t>
            </a:r>
            <a:endParaRPr lang="en-US" altLang="zh-CN" dirty="0" smtClean="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latin typeface="Times New Roman" panose="02020603050405020304" charset="0"/>
                <a:cs typeface="Times New Roman" panose="02020603050405020304" charset="0"/>
              </a:rPr>
              <a:t>Section two Peace-Keeping Functions of International Organizations</a:t>
            </a:r>
            <a:endParaRPr lang="en-US" altLang="zh-CN" sz="2800" dirty="0">
              <a:latin typeface="Times New Roman" panose="02020603050405020304" charset="0"/>
              <a:cs typeface="Times New Roman" panose="02020603050405020304" charset="0"/>
            </a:endParaRPr>
          </a:p>
        </p:txBody>
      </p:sp>
      <p:sp>
        <p:nvSpPr>
          <p:cNvPr id="3" name="文本占位符 2"/>
          <p:cNvSpPr>
            <a:spLocks noGrp="1"/>
          </p:cNvSpPr>
          <p:nvPr>
            <p:ph type="body" idx="1"/>
          </p:nvPr>
        </p:nvSpPr>
        <p:spPr/>
        <p:txBody>
          <a:bodyPr/>
          <a:lstStyle/>
          <a:p>
            <a:endParaRPr lang="zh-CN" alt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Peace-Keeping Operations  </a:t>
            </a:r>
            <a:endParaRPr lang="en-US" altLang="zh-CN" dirty="0"/>
          </a:p>
        </p:txBody>
      </p:sp>
      <p:sp>
        <p:nvSpPr>
          <p:cNvPr id="5" name="内容占位符 4"/>
          <p:cNvSpPr>
            <a:spLocks noGrp="1"/>
          </p:cNvSpPr>
          <p:nvPr>
            <p:ph idx="1"/>
          </p:nvPr>
        </p:nvSpPr>
        <p:spPr/>
        <p:txBody>
          <a:bodyPr>
            <a:noAutofit/>
          </a:bodyPr>
          <a:lstStyle/>
          <a:p>
            <a:pPr marL="114300" indent="0">
              <a:buNone/>
            </a:pPr>
            <a:endParaRPr lang="en-US" altLang="zh-CN" sz="2300" dirty="0"/>
          </a:p>
          <a:p>
            <a:pPr marL="114300" indent="0">
              <a:buNone/>
            </a:pPr>
            <a:r>
              <a:rPr lang="en-US" altLang="zh-CN" sz="2300" dirty="0"/>
              <a:t>The “maintenance of peace and operations” (peace-keeping operations) undertaken by international organizations are the most conspicuous innovations carried out by organizations such as the United Nations to preserve international peace and security.  </a:t>
            </a:r>
            <a:endParaRPr lang="en-US" altLang="zh-CN" sz="2300" dirty="0"/>
          </a:p>
          <a:p>
            <a:pPr marL="114300" indent="0">
              <a:buNone/>
            </a:pPr>
            <a:endParaRPr lang="en-US" altLang="zh-CN" sz="2300" dirty="0"/>
          </a:p>
          <a:p>
            <a:pPr marL="114300" indent="0">
              <a:buNone/>
            </a:pPr>
            <a:r>
              <a:rPr lang="en-US" altLang="zh-CN" sz="2300" dirty="0"/>
              <a:t>United Nations peace-keeping began in 1948; by 31 December 2017 a total of 71 operations had been launched, of which 15 were still underway.  </a:t>
            </a:r>
            <a:endParaRPr lang="en-US" altLang="zh-CN" sz="2300" dirty="0"/>
          </a:p>
          <a:p>
            <a:pPr marL="114300" indent="0">
              <a:buNone/>
            </a:pPr>
            <a:endParaRPr lang="en-US" altLang="zh-CN" sz="2300" dirty="0"/>
          </a:p>
          <a:p>
            <a:pPr marL="114300" indent="0">
              <a:buNone/>
            </a:pPr>
            <a:r>
              <a:rPr lang="en-US" altLang="zh-CN" sz="2300" dirty="0"/>
              <a:t>The basic principles of UN peace-keeping are: consent of the parties, impartiality, and non-use of force except in self-defence.</a:t>
            </a:r>
            <a:endParaRPr lang="en-US" altLang="zh-CN" sz="23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Times New Roman" panose="02020603050405020304" charset="0"/>
                <a:cs typeface="Times New Roman" panose="02020603050405020304" charset="0"/>
              </a:rPr>
              <a:t>I. Evolution of Peace-keeping Operations </a:t>
            </a:r>
            <a:endParaRPr lang="en-US" altLang="zh-CN"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p:txBody>
          <a:bodyPr>
            <a:normAutofit lnSpcReduction="10000"/>
          </a:bodyPr>
          <a:lstStyle/>
          <a:p>
            <a:pPr marL="114300" indent="0">
              <a:buNone/>
            </a:pPr>
            <a:endParaRPr lang="en-US" altLang="zh-CN" dirty="0" smtClean="0"/>
          </a:p>
          <a:p>
            <a:pPr marL="114300" indent="0">
              <a:buNone/>
            </a:pPr>
            <a:r>
              <a:rPr lang="en-US" altLang="zh-CN" dirty="0"/>
              <a:t>· On 29 May 1948 the UN Security Council adopted Resolution 50 (1948), establishing the United Nations Truce Supervision Organization in Palestine—the first peace-keeping operation ever deployed by the United Nations.  </a:t>
            </a:r>
            <a:endParaRPr lang="en-US" altLang="zh-CN" dirty="0"/>
          </a:p>
          <a:p>
            <a:pPr marL="114300" indent="0">
              <a:buNone/>
            </a:pPr>
            <a:endParaRPr lang="en-US" altLang="zh-CN" dirty="0"/>
          </a:p>
          <a:p>
            <a:pPr marL="114300" indent="0">
              <a:buNone/>
            </a:pPr>
            <a:r>
              <a:rPr lang="en-US" altLang="zh-CN" dirty="0"/>
              <a:t>· Three stages of UN peace-keeping:  </a:t>
            </a:r>
            <a:endParaRPr lang="en-US" altLang="zh-CN" dirty="0"/>
          </a:p>
          <a:p>
            <a:pPr marL="114300" indent="0">
              <a:buNone/>
            </a:pPr>
            <a:r>
              <a:rPr lang="en-US" altLang="zh-CN" dirty="0"/>
              <a:t>- First-generation operations during the Cold War  </a:t>
            </a:r>
            <a:endParaRPr lang="en-US" altLang="zh-CN" dirty="0"/>
          </a:p>
          <a:p>
            <a:pPr marL="114300" indent="0">
              <a:buNone/>
            </a:pPr>
            <a:r>
              <a:rPr lang="en-US" altLang="zh-CN" dirty="0"/>
              <a:t>- Second-generation operations after the end of the Cold War  </a:t>
            </a:r>
            <a:endParaRPr lang="en-US" altLang="zh-CN" dirty="0"/>
          </a:p>
          <a:p>
            <a:pPr marL="114300" indent="0">
              <a:buNone/>
            </a:pPr>
            <a:r>
              <a:rPr lang="en-US" altLang="zh-CN" dirty="0"/>
              <a:t>- Third-generation operations since the beginning of the 21st century</a:t>
            </a:r>
            <a:endParaRPr lang="en-US" altLang="zh-CN"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110" dirty="0">
                <a:latin typeface="Times New Roman" panose="02020603050405020304" charset="0"/>
                <a:cs typeface="Times New Roman" panose="02020603050405020304" charset="0"/>
              </a:rPr>
              <a:t>(I) First-Generation Traditional Peace-keeping Operations  </a:t>
            </a:r>
            <a:endParaRPr lang="en-US" altLang="zh-CN" sz="3110"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457200" y="1675130"/>
            <a:ext cx="8229600" cy="4904740"/>
          </a:xfrm>
        </p:spPr>
        <p:txBody>
          <a:bodyPr>
            <a:normAutofit fontScale="90000" lnSpcReduction="20000"/>
          </a:bodyPr>
          <a:lstStyle/>
          <a:p>
            <a:r>
              <a:rPr lang="en-US" altLang="zh-CN" sz="2500" dirty="0"/>
              <a:t>Guiding concepts: “preventive diplomacy” and the three peace-keeping principles  </a:t>
            </a:r>
            <a:endParaRPr lang="en-US" altLang="zh-CN" sz="2500" dirty="0"/>
          </a:p>
          <a:p>
            <a:endParaRPr lang="en-US" altLang="zh-CN" sz="2500" dirty="0"/>
          </a:p>
          <a:p>
            <a:r>
              <a:rPr lang="en-US" altLang="zh-CN" sz="2500" dirty="0"/>
              <a:t>Main tasks: to address regional conflicts that might threaten international peace and security, or “power vacuums created by the process of decolonization,” acting as an “impartial and objective third party” to help calm the conflict and create conditions for restoring peace.  </a:t>
            </a:r>
            <a:endParaRPr lang="en-US" altLang="zh-CN" sz="2500" dirty="0"/>
          </a:p>
          <a:p>
            <a:endParaRPr lang="en-US" altLang="zh-CN" sz="2500" dirty="0"/>
          </a:p>
          <a:p>
            <a:r>
              <a:rPr lang="en-US" altLang="zh-CN" sz="2500" dirty="0"/>
              <a:t>Hammarskj</a:t>
            </a:r>
            <a:r>
              <a:rPr lang="en-US" altLang="en-US" sz="2500" dirty="0"/>
              <a:t>ö</a:t>
            </a:r>
            <a:r>
              <a:rPr lang="en-US" altLang="zh-CN" sz="2500" dirty="0"/>
              <a:t>ld’s three principles: </a:t>
            </a:r>
            <a:endParaRPr lang="en-US" altLang="zh-CN" sz="2500" dirty="0"/>
          </a:p>
          <a:p>
            <a:r>
              <a:rPr lang="en-US" altLang="zh-CN" sz="2500" dirty="0"/>
              <a:t>peace-keeping operations may be deployed only with the consent of the main parties to the conflict; </a:t>
            </a:r>
            <a:endParaRPr lang="en-US" altLang="zh-CN" sz="2500" dirty="0"/>
          </a:p>
          <a:p>
            <a:r>
              <a:rPr lang="en-US" altLang="zh-CN" sz="2500" dirty="0"/>
              <a:t>peace-keepers must remain neutral; </a:t>
            </a:r>
            <a:endParaRPr lang="en-US" altLang="zh-CN" sz="2500" dirty="0"/>
          </a:p>
          <a:p>
            <a:r>
              <a:rPr lang="en-US" altLang="zh-CN" sz="2500" dirty="0"/>
              <a:t>and they may use force only in self-defence or to carry out their mandate.</a:t>
            </a:r>
            <a:endParaRPr lang="en-US" altLang="zh-CN" sz="25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l"/>
            <a:r>
              <a:rPr lang="en-US" altLang="zh-CN" sz="3110" dirty="0">
                <a:latin typeface="Times New Roman" panose="02020603050405020304" charset="0"/>
                <a:cs typeface="Times New Roman" panose="02020603050405020304" charset="0"/>
              </a:rPr>
              <a:t>(II) Second-Generation Multi-Dimensional Peacekeeping Operations</a:t>
            </a:r>
            <a:r>
              <a:rPr lang="en-US" altLang="zh-CN" sz="3200" dirty="0"/>
              <a:t>  </a:t>
            </a:r>
            <a:endParaRPr lang="en-US" altLang="zh-CN" sz="3200" dirty="0"/>
          </a:p>
        </p:txBody>
      </p:sp>
      <p:sp>
        <p:nvSpPr>
          <p:cNvPr id="3" name="内容占位符 2"/>
          <p:cNvSpPr>
            <a:spLocks noGrp="1"/>
          </p:cNvSpPr>
          <p:nvPr>
            <p:ph idx="1"/>
          </p:nvPr>
        </p:nvSpPr>
        <p:spPr>
          <a:xfrm>
            <a:off x="457200" y="1752600"/>
            <a:ext cx="8229600" cy="4700736"/>
          </a:xfrm>
        </p:spPr>
        <p:txBody>
          <a:bodyPr>
            <a:normAutofit/>
          </a:bodyPr>
          <a:lstStyle/>
          <a:p>
            <a:endParaRPr lang="en-US" altLang="zh-CN" dirty="0" smtClean="0"/>
          </a:p>
          <a:p>
            <a:r>
              <a:rPr lang="en-US" altLang="zh-CN" sz="2600" dirty="0" smtClean="0"/>
              <a:t>Conceptual basis: Boutros-Ghali’s 1992 “Agenda for Peace”  </a:t>
            </a:r>
            <a:endParaRPr lang="en-US" altLang="zh-CN" sz="2600" dirty="0" smtClean="0"/>
          </a:p>
          <a:p>
            <a:endParaRPr lang="en-US" altLang="zh-CN" sz="2600" dirty="0" smtClean="0"/>
          </a:p>
          <a:p>
            <a:r>
              <a:rPr lang="en-US" altLang="zh-CN" sz="2600" dirty="0" smtClean="0"/>
              <a:t> “Peace operations”: peacemaking, peacekeeping, and peace-building  </a:t>
            </a:r>
            <a:endParaRPr lang="en-US" altLang="zh-CN" sz="2600" dirty="0" smtClean="0"/>
          </a:p>
          <a:p>
            <a:endParaRPr lang="en-US" altLang="zh-CN" sz="2600" dirty="0" smtClean="0"/>
          </a:p>
          <a:p>
            <a:r>
              <a:rPr lang="en-US" altLang="zh-CN" sz="2600" dirty="0" smtClean="0"/>
              <a:t>1992–1995 Somalia peacekeeping operation suffered setbacks and failure.</a:t>
            </a:r>
            <a:endParaRPr lang="en-US" altLang="zh-CN" sz="2600" dirty="0" smtClean="0"/>
          </a:p>
          <a:p>
            <a:pPr marL="571500" indent="-457200">
              <a:lnSpc>
                <a:spcPct val="110000"/>
              </a:lnSpc>
              <a:buNone/>
            </a:pPr>
            <a:endParaRPr lang="zh-CN" altLang="en-US" sz="26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110" dirty="0">
                <a:latin typeface="Times New Roman" panose="02020603050405020304" charset="0"/>
                <a:cs typeface="Times New Roman" panose="02020603050405020304" charset="0"/>
              </a:rPr>
              <a:t>(III) Third-Generation Governance-Oriented Peacekeeping Operations </a:t>
            </a:r>
            <a:endParaRPr lang="en-US" altLang="zh-CN" sz="3110"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296545" y="1638935"/>
            <a:ext cx="8642350" cy="5005705"/>
          </a:xfrm>
        </p:spPr>
        <p:txBody>
          <a:bodyPr>
            <a:noAutofit/>
          </a:bodyPr>
          <a:lstStyle/>
          <a:p>
            <a:pPr marL="571500" indent="-457200">
              <a:buNone/>
            </a:pPr>
            <a:r>
              <a:rPr lang="en-US" altLang="zh-CN" sz="1900" dirty="0">
                <a:latin typeface="Times New Roman" panose="02020603050405020304" charset="0"/>
                <a:cs typeface="Times New Roman" panose="02020603050405020304" charset="0"/>
              </a:rPr>
              <a:t>· Peacekeeping operations have become more rational overall, shifting from “enforcement of peace” back to “peacekeeping” and avoiding coercive measures whenever possible.  </a:t>
            </a:r>
            <a:endParaRPr lang="en-US" altLang="zh-CN" sz="1900" dirty="0">
              <a:latin typeface="Times New Roman" panose="02020603050405020304" charset="0"/>
              <a:cs typeface="Times New Roman" panose="02020603050405020304" charset="0"/>
            </a:endParaRPr>
          </a:p>
          <a:p>
            <a:pPr marL="571500" indent="-457200">
              <a:buNone/>
            </a:pPr>
            <a:r>
              <a:rPr lang="en-US" altLang="zh-CN" sz="1900" dirty="0">
                <a:latin typeface="Times New Roman" panose="02020603050405020304" charset="0"/>
                <a:cs typeface="Times New Roman" panose="02020603050405020304" charset="0"/>
              </a:rPr>
              <a:t>· The 2005 Brahimi Report outlined four key components of “peace operations”: preventive diplomacy, peacemaking, peacekeeping, and post-conflict peacebuilding.  </a:t>
            </a:r>
            <a:endParaRPr lang="en-US" altLang="zh-CN" sz="1900" dirty="0">
              <a:latin typeface="Times New Roman" panose="02020603050405020304" charset="0"/>
              <a:cs typeface="Times New Roman" panose="02020603050405020304" charset="0"/>
            </a:endParaRPr>
          </a:p>
          <a:p>
            <a:pPr marL="571500" indent="-457200">
              <a:buNone/>
            </a:pPr>
            <a:r>
              <a:rPr lang="en-US" altLang="zh-CN" sz="1900" dirty="0">
                <a:latin typeface="Times New Roman" panose="02020603050405020304" charset="0"/>
                <a:cs typeface="Times New Roman" panose="02020603050405020304" charset="0"/>
              </a:rPr>
              <a:t>· The 2015 HIPPO (High-Level Independent Panel on Peace Operations) Report proposed reforms centered on political solutions, a people-centric approach, and partnerships.  </a:t>
            </a:r>
            <a:endParaRPr lang="en-US" altLang="zh-CN" sz="1900" dirty="0">
              <a:latin typeface="Times New Roman" panose="02020603050405020304" charset="0"/>
              <a:cs typeface="Times New Roman" panose="02020603050405020304" charset="0"/>
            </a:endParaRPr>
          </a:p>
          <a:p>
            <a:pPr marL="571500" indent="-457200">
              <a:buNone/>
            </a:pPr>
            <a:endParaRPr lang="en-US" altLang="zh-CN" sz="1900" dirty="0">
              <a:latin typeface="Times New Roman" panose="02020603050405020304" charset="0"/>
              <a:cs typeface="Times New Roman" panose="02020603050405020304" charset="0"/>
            </a:endParaRPr>
          </a:p>
          <a:p>
            <a:pPr marL="571500" indent="-457200">
              <a:buNone/>
            </a:pPr>
            <a:r>
              <a:rPr lang="en-US" altLang="zh-CN" sz="1900" dirty="0">
                <a:latin typeface="Times New Roman" panose="02020603050405020304" charset="0"/>
                <a:cs typeface="Times New Roman" panose="02020603050405020304" charset="0"/>
              </a:rPr>
              <a:t>· Transformation of peacekeeping:  </a:t>
            </a:r>
            <a:endParaRPr lang="en-US" altLang="zh-CN" sz="1900" dirty="0">
              <a:latin typeface="Times New Roman" panose="02020603050405020304" charset="0"/>
              <a:cs typeface="Times New Roman" panose="02020603050405020304" charset="0"/>
            </a:endParaRPr>
          </a:p>
          <a:p>
            <a:pPr marL="571500" indent="-457200">
              <a:buNone/>
            </a:pPr>
            <a:r>
              <a:rPr lang="en-US" altLang="zh-CN" sz="1900" dirty="0">
                <a:latin typeface="Times New Roman" panose="02020603050405020304" charset="0"/>
                <a:cs typeface="Times New Roman" panose="02020603050405020304" charset="0"/>
              </a:rPr>
              <a:t>  - From operations to governance  </a:t>
            </a:r>
            <a:endParaRPr lang="en-US" altLang="zh-CN" sz="1900" dirty="0">
              <a:latin typeface="Times New Roman" panose="02020603050405020304" charset="0"/>
              <a:cs typeface="Times New Roman" panose="02020603050405020304" charset="0"/>
            </a:endParaRPr>
          </a:p>
          <a:p>
            <a:pPr marL="571500" indent="-457200">
              <a:buNone/>
            </a:pPr>
            <a:r>
              <a:rPr lang="en-US" altLang="zh-CN" sz="1900" dirty="0">
                <a:latin typeface="Times New Roman" panose="02020603050405020304" charset="0"/>
                <a:cs typeface="Times New Roman" panose="02020603050405020304" charset="0"/>
              </a:rPr>
              <a:t>  - From government to people, or from state to local level  </a:t>
            </a:r>
            <a:endParaRPr lang="en-US" altLang="zh-CN" sz="1900" dirty="0">
              <a:latin typeface="Times New Roman" panose="02020603050405020304" charset="0"/>
              <a:cs typeface="Times New Roman" panose="02020603050405020304" charset="0"/>
            </a:endParaRPr>
          </a:p>
          <a:p>
            <a:pPr marL="571500" indent="-457200">
              <a:buNone/>
            </a:pPr>
            <a:r>
              <a:rPr lang="en-US" altLang="zh-CN" sz="1900" dirty="0">
                <a:latin typeface="Times New Roman" panose="02020603050405020304" charset="0"/>
                <a:cs typeface="Times New Roman" panose="02020603050405020304" charset="0"/>
              </a:rPr>
              <a:t>  - From reacting to conflicts to preventing them  </a:t>
            </a:r>
            <a:endParaRPr lang="en-US" altLang="zh-CN" sz="1900" dirty="0">
              <a:latin typeface="Times New Roman" panose="02020603050405020304" charset="0"/>
              <a:cs typeface="Times New Roman" panose="02020603050405020304" charset="0"/>
            </a:endParaRPr>
          </a:p>
          <a:p>
            <a:pPr marL="571500" indent="-457200">
              <a:buNone/>
            </a:pPr>
            <a:r>
              <a:rPr lang="en-US" altLang="zh-CN" sz="1900" dirty="0">
                <a:latin typeface="Times New Roman" panose="02020603050405020304" charset="0"/>
                <a:cs typeface="Times New Roman" panose="02020603050405020304" charset="0"/>
              </a:rPr>
              <a:t>  - Toward achieving sustainable peace</a:t>
            </a:r>
            <a:endParaRPr lang="en-US" altLang="zh-CN" sz="1900"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II. Characteristics of Peace-keeping Operations  </a:t>
            </a:r>
            <a:endParaRPr lang="en-US" altLang="zh-CN" dirty="0"/>
          </a:p>
        </p:txBody>
      </p:sp>
      <p:sp>
        <p:nvSpPr>
          <p:cNvPr id="3" name="内容占位符 2"/>
          <p:cNvSpPr>
            <a:spLocks noGrp="1"/>
          </p:cNvSpPr>
          <p:nvPr>
            <p:ph idx="1"/>
          </p:nvPr>
        </p:nvSpPr>
        <p:spPr/>
        <p:txBody>
          <a:bodyPr/>
          <a:lstStyle/>
          <a:p>
            <a:pPr marL="571500" indent="-457200">
              <a:buFont typeface="+mj-lt"/>
              <a:buAutoNum type="arabicPeriod"/>
            </a:pPr>
            <a:endParaRPr lang="en-US" altLang="zh-CN" dirty="0" smtClean="0"/>
          </a:p>
          <a:p>
            <a:pPr marL="114300" indent="0">
              <a:buFont typeface="+mj-lt"/>
              <a:buNone/>
            </a:pPr>
            <a:r>
              <a:rPr lang="en-US" altLang="zh-CN" dirty="0"/>
              <a:t>1. The content and scope of international peace-keeping have expanded, shifting from simple “peace-keeping” to post-conflict peace-building.  </a:t>
            </a:r>
            <a:endParaRPr lang="en-US" altLang="zh-CN" dirty="0"/>
          </a:p>
          <a:p>
            <a:pPr marL="571500" indent="-457200">
              <a:buFont typeface="+mj-lt"/>
              <a:buAutoNum type="arabicPeriod"/>
            </a:pPr>
            <a:endParaRPr lang="en-US" altLang="zh-CN" dirty="0"/>
          </a:p>
          <a:p>
            <a:pPr marL="114300" indent="0">
              <a:buFont typeface="+mj-lt"/>
              <a:buNone/>
            </a:pPr>
            <a:r>
              <a:rPr lang="en-US" altLang="zh-CN" dirty="0"/>
              <a:t>2. The “coercive” element of peace-keeping operations has steadily increased.  </a:t>
            </a:r>
            <a:endParaRPr lang="en-US" altLang="zh-CN" dirty="0"/>
          </a:p>
          <a:p>
            <a:pPr marL="571500" indent="-457200">
              <a:buFont typeface="+mj-lt"/>
              <a:buAutoNum type="arabicPeriod"/>
            </a:pPr>
            <a:endParaRPr lang="en-US" altLang="zh-CN" dirty="0"/>
          </a:p>
          <a:p>
            <a:pPr marL="114300" indent="0">
              <a:buFont typeface="+mj-lt"/>
              <a:buNone/>
            </a:pPr>
            <a:r>
              <a:rPr lang="en-US" altLang="zh-CN" dirty="0"/>
              <a:t>3. United Nations peace-keeping has become more pluralistic and multi-dimensional.</a:t>
            </a:r>
            <a:endParaRPr lang="en-US" altLang="zh-CN"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sz="3110" dirty="0">
                <a:latin typeface="Times New Roman" panose="02020603050405020304" charset="0"/>
                <a:cs typeface="Times New Roman" panose="02020603050405020304" charset="0"/>
              </a:rPr>
              <a:t>III. Innovations in Peace-keeping Operations</a:t>
            </a:r>
            <a:r>
              <a:rPr lang="en-US" altLang="zh-CN" dirty="0"/>
              <a:t> </a:t>
            </a:r>
            <a:endParaRPr lang="en-US" altLang="zh-CN" dirty="0"/>
          </a:p>
        </p:txBody>
      </p:sp>
      <p:sp>
        <p:nvSpPr>
          <p:cNvPr id="3" name="内容占位符 2"/>
          <p:cNvSpPr>
            <a:spLocks noGrp="1"/>
          </p:cNvSpPr>
          <p:nvPr>
            <p:ph idx="1"/>
          </p:nvPr>
        </p:nvSpPr>
        <p:spPr/>
        <p:txBody>
          <a:bodyPr>
            <a:normAutofit/>
          </a:bodyPr>
          <a:lstStyle/>
          <a:p>
            <a:pPr marL="114300" indent="0">
              <a:buNone/>
            </a:pPr>
            <a:endParaRPr lang="en-US" altLang="zh-CN" sz="2800" b="1" dirty="0" smtClean="0">
              <a:latin typeface="+mj-ea"/>
              <a:ea typeface="+mj-ea"/>
            </a:endParaRPr>
          </a:p>
          <a:p>
            <a:pPr marL="114300" indent="0">
              <a:buNone/>
            </a:pPr>
            <a:r>
              <a:rPr lang="en-US" altLang="zh-CN" sz="2500" dirty="0">
                <a:latin typeface="Times New Roman" panose="02020603050405020304" charset="0"/>
                <a:cs typeface="Times New Roman" panose="02020603050405020304" charset="0"/>
              </a:rPr>
              <a:t>Innovation in peace-keeping concepts and principles: emphasis on impartiality and robust self-defence.  </a:t>
            </a:r>
            <a:endParaRPr lang="en-US" altLang="zh-CN" sz="2500" dirty="0">
              <a:latin typeface="Times New Roman" panose="02020603050405020304" charset="0"/>
              <a:cs typeface="Times New Roman" panose="02020603050405020304" charset="0"/>
            </a:endParaRPr>
          </a:p>
          <a:p>
            <a:pPr marL="114300" indent="0">
              <a:buNone/>
            </a:pPr>
            <a:endParaRPr lang="en-US" altLang="zh-CN" sz="2500" dirty="0">
              <a:latin typeface="Times New Roman" panose="02020603050405020304" charset="0"/>
              <a:cs typeface="Times New Roman" panose="02020603050405020304" charset="0"/>
            </a:endParaRPr>
          </a:p>
          <a:p>
            <a:pPr marL="114300" indent="0">
              <a:buNone/>
            </a:pPr>
            <a:r>
              <a:rPr lang="en-US" altLang="zh-CN" sz="2500" dirty="0">
                <a:latin typeface="Times New Roman" panose="02020603050405020304" charset="0"/>
                <a:cs typeface="Times New Roman" panose="02020603050405020304" charset="0"/>
              </a:rPr>
              <a:t>Innovation in peace-keeping mechanisms: peace-keeping standby arrangements and the Peace-building Commission.</a:t>
            </a:r>
            <a:endParaRPr lang="en-US" altLang="zh-CN" sz="2500" dirty="0">
              <a:latin typeface="Times New Roman" panose="02020603050405020304" charset="0"/>
              <a:cs typeface="Times New Roman" panose="02020603050405020304" charset="0"/>
            </a:endParaRPr>
          </a:p>
          <a:p>
            <a:pPr marL="114300" indent="0">
              <a:buNone/>
            </a:pPr>
            <a:r>
              <a:rPr lang="en-US" altLang="zh-CN" sz="2500" dirty="0">
                <a:latin typeface="Times New Roman" panose="02020603050405020304" charset="0"/>
                <a:cs typeface="Times New Roman" panose="02020603050405020304" charset="0"/>
              </a:rPr>
              <a:t>  </a:t>
            </a:r>
            <a:endParaRPr lang="en-US" altLang="zh-CN" sz="2500" dirty="0">
              <a:latin typeface="Times New Roman" panose="02020603050405020304" charset="0"/>
              <a:cs typeface="Times New Roman" panose="02020603050405020304" charset="0"/>
            </a:endParaRPr>
          </a:p>
          <a:p>
            <a:pPr marL="114300" indent="0">
              <a:buNone/>
            </a:pPr>
            <a:r>
              <a:rPr lang="en-US" altLang="zh-CN" sz="2500" dirty="0">
                <a:latin typeface="Times New Roman" panose="02020603050405020304" charset="0"/>
                <a:cs typeface="Times New Roman" panose="02020603050405020304" charset="0"/>
              </a:rPr>
              <a:t>Capacity-building for peace-keeping operations: strengthened cooperation with regional international organizations.</a:t>
            </a:r>
            <a:endParaRPr lang="en-US" altLang="zh-CN" sz="2500"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sz="2800" dirty="0">
                <a:latin typeface="Times New Roman" panose="02020603050405020304" charset="0"/>
                <a:cs typeface="Times New Roman" panose="02020603050405020304" charset="0"/>
              </a:rPr>
              <a:t>Section </a:t>
            </a:r>
            <a:r>
              <a:rPr lang="en-US" altLang="zh-CN" sz="2800" dirty="0">
                <a:latin typeface="Times New Roman" panose="02020603050405020304" charset="0"/>
                <a:cs typeface="Times New Roman" panose="02020603050405020304" charset="0"/>
              </a:rPr>
              <a:t>three </a:t>
            </a:r>
            <a:br>
              <a:rPr lang="en-US" altLang="zh-CN" sz="2800" dirty="0">
                <a:latin typeface="Times New Roman" panose="02020603050405020304" charset="0"/>
                <a:cs typeface="Times New Roman" panose="02020603050405020304" charset="0"/>
              </a:rPr>
            </a:br>
            <a:r>
              <a:rPr lang="en-US" altLang="zh-CN" sz="2800" dirty="0">
                <a:latin typeface="Times New Roman" panose="02020603050405020304" charset="0"/>
                <a:cs typeface="Times New Roman" panose="02020603050405020304" charset="0"/>
              </a:rPr>
              <a:t>Security Functions of International Organizations</a:t>
            </a:r>
            <a:endParaRPr lang="en-US" altLang="zh-CN" sz="2800" dirty="0">
              <a:latin typeface="Times New Roman" panose="02020603050405020304" charset="0"/>
              <a:cs typeface="Times New Roman" panose="02020603050405020304" charset="0"/>
            </a:endParaRPr>
          </a:p>
        </p:txBody>
      </p:sp>
      <p:sp>
        <p:nvSpPr>
          <p:cNvPr id="5" name="文本占位符 4"/>
          <p:cNvSpPr>
            <a:spLocks noGrp="1"/>
          </p:cNvSpPr>
          <p:nvPr>
            <p:ph type="body" idx="1"/>
          </p:nvPr>
        </p:nvSpPr>
        <p:spPr/>
        <p:txBody>
          <a:bodyPr/>
          <a:lstStyle/>
          <a:p>
            <a:endParaRPr lang="zh-CN" alt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sz="3110" dirty="0">
                <a:latin typeface="Times New Roman" panose="02020603050405020304" charset="0"/>
                <a:cs typeface="Times New Roman" panose="02020603050405020304" charset="0"/>
              </a:rPr>
              <a:t>I. Prevention of the Proliferation of Weapons of Mass Destruction</a:t>
            </a:r>
            <a:r>
              <a:rPr lang="en-US" altLang="zh-CN" dirty="0"/>
              <a:t>  </a:t>
            </a:r>
            <a:endParaRPr lang="en-US" altLang="zh-CN" dirty="0"/>
          </a:p>
        </p:txBody>
      </p:sp>
      <p:sp>
        <p:nvSpPr>
          <p:cNvPr id="3" name="内容占位符 2"/>
          <p:cNvSpPr>
            <a:spLocks noGrp="1"/>
          </p:cNvSpPr>
          <p:nvPr>
            <p:ph idx="1"/>
          </p:nvPr>
        </p:nvSpPr>
        <p:spPr/>
        <p:txBody>
          <a:bodyPr/>
          <a:lstStyle/>
          <a:p>
            <a:pPr marL="571500" indent="-457200">
              <a:buFont typeface="+mj-lt"/>
              <a:buAutoNum type="arabicPeriod"/>
            </a:pPr>
            <a:r>
              <a:rPr lang="en-US" altLang="zh-CN" sz="2500" dirty="0">
                <a:latin typeface="Times New Roman" panose="02020603050405020304" charset="0"/>
                <a:cs typeface="Times New Roman" panose="02020603050405020304" charset="0"/>
              </a:rPr>
              <a:t>Treaty on the Non-Proliferation of Nuclear Weapons (NPT)  </a:t>
            </a:r>
            <a:endParaRPr lang="en-US" altLang="zh-CN" sz="2500" dirty="0">
              <a:latin typeface="Times New Roman" panose="02020603050405020304" charset="0"/>
              <a:cs typeface="Times New Roman" panose="02020603050405020304" charset="0"/>
            </a:endParaRPr>
          </a:p>
          <a:p>
            <a:pPr marL="571500" indent="-457200">
              <a:buFont typeface="+mj-lt"/>
              <a:buAutoNum type="arabicPeriod"/>
            </a:pPr>
            <a:r>
              <a:rPr lang="en-US" altLang="zh-CN" sz="2500" dirty="0">
                <a:latin typeface="Times New Roman" panose="02020603050405020304" charset="0"/>
                <a:cs typeface="Times New Roman" panose="02020603050405020304" charset="0"/>
              </a:rPr>
              <a:t>- International Atomic Energy Agency (IAEA)  </a:t>
            </a:r>
            <a:endParaRPr lang="en-US" altLang="zh-CN" sz="2500" dirty="0">
              <a:latin typeface="Times New Roman" panose="02020603050405020304" charset="0"/>
              <a:cs typeface="Times New Roman" panose="02020603050405020304" charset="0"/>
            </a:endParaRPr>
          </a:p>
          <a:p>
            <a:pPr marL="571500" indent="-457200">
              <a:buFont typeface="+mj-lt"/>
              <a:buAutoNum type="arabicPeriod"/>
            </a:pPr>
            <a:r>
              <a:rPr lang="en-US" altLang="zh-CN" sz="2500" dirty="0">
                <a:latin typeface="Times New Roman" panose="02020603050405020304" charset="0"/>
                <a:cs typeface="Times New Roman" panose="02020603050405020304" charset="0"/>
              </a:rPr>
              <a:t>- Organisation for the Prohibition of Chemical Weapons (OPCW)  </a:t>
            </a:r>
            <a:endParaRPr lang="en-US" altLang="zh-CN" sz="2500" dirty="0">
              <a:latin typeface="Times New Roman" panose="02020603050405020304" charset="0"/>
              <a:cs typeface="Times New Roman" panose="02020603050405020304" charset="0"/>
            </a:endParaRPr>
          </a:p>
          <a:p>
            <a:pPr marL="571500" indent="-457200">
              <a:buFont typeface="+mj-lt"/>
              <a:buAutoNum type="arabicPeriod"/>
            </a:pPr>
            <a:r>
              <a:rPr lang="en-US" altLang="zh-CN" sz="2500" dirty="0">
                <a:latin typeface="Times New Roman" panose="02020603050405020304" charset="0"/>
                <a:cs typeface="Times New Roman" panose="02020603050405020304" charset="0"/>
              </a:rPr>
              <a:t>- Establishment of nuclear-weapon-free zones  </a:t>
            </a:r>
            <a:endParaRPr lang="en-US" altLang="zh-CN" sz="2500" dirty="0">
              <a:latin typeface="Times New Roman" panose="02020603050405020304" charset="0"/>
              <a:cs typeface="Times New Roman" panose="02020603050405020304" charset="0"/>
            </a:endParaRPr>
          </a:p>
          <a:p>
            <a:pPr marL="571500" indent="-457200">
              <a:buFont typeface="+mj-lt"/>
              <a:buAutoNum type="arabicPeriod"/>
            </a:pPr>
            <a:r>
              <a:rPr lang="en-US" altLang="zh-CN" sz="2500" dirty="0">
                <a:latin typeface="Times New Roman" panose="02020603050405020304" charset="0"/>
                <a:cs typeface="Times New Roman" panose="02020603050405020304" charset="0"/>
              </a:rPr>
              <a:t>- Comprehensive Nuclear-Test-Ban Treaty (CTBT)</a:t>
            </a:r>
            <a:endParaRPr lang="en-US" altLang="zh-CN" sz="2500"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l"/>
            <a:r>
              <a:rPr lang="en-US" altLang="zh-CN" sz="3200" dirty="0"/>
              <a:t>(I) Treaty on the Non-Proliferation of Nuclear Weapons (NPT)</a:t>
            </a:r>
            <a:endParaRPr lang="en-US" altLang="zh-CN" sz="3200" dirty="0"/>
          </a:p>
        </p:txBody>
      </p:sp>
      <p:sp>
        <p:nvSpPr>
          <p:cNvPr id="3" name="内容占位符 2"/>
          <p:cNvSpPr>
            <a:spLocks noGrp="1"/>
          </p:cNvSpPr>
          <p:nvPr>
            <p:ph idx="1"/>
          </p:nvPr>
        </p:nvSpPr>
        <p:spPr>
          <a:xfrm>
            <a:off x="280035" y="1755140"/>
            <a:ext cx="8757920" cy="4966970"/>
          </a:xfrm>
        </p:spPr>
        <p:txBody>
          <a:bodyPr>
            <a:noAutofit/>
          </a:bodyPr>
          <a:lstStyle/>
          <a:p>
            <a:pPr marL="114300" indent="0">
              <a:buNone/>
            </a:pPr>
            <a:r>
              <a:rPr lang="en-US" altLang="zh-CN" sz="1800" dirty="0" smtClean="0"/>
              <a:t>The NPT is the cornerstone and core of the international non-proliferation regime.</a:t>
            </a:r>
            <a:endParaRPr lang="en-US" altLang="zh-CN" sz="1800" dirty="0" smtClean="0"/>
          </a:p>
          <a:p>
            <a:pPr marL="114300" indent="0">
              <a:buNone/>
            </a:pPr>
            <a:endParaRPr lang="en-US" altLang="zh-CN" sz="1800" dirty="0" smtClean="0"/>
          </a:p>
          <a:p>
            <a:pPr marL="114300" indent="0">
              <a:buNone/>
            </a:pPr>
            <a:r>
              <a:rPr lang="en-US" altLang="zh-CN" sz="1800" dirty="0" smtClean="0"/>
              <a:t>Three pillars:  </a:t>
            </a:r>
            <a:endParaRPr lang="en-US" altLang="zh-CN" sz="1800" dirty="0" smtClean="0"/>
          </a:p>
          <a:p>
            <a:pPr marL="114300" indent="0">
              <a:buNone/>
            </a:pPr>
            <a:r>
              <a:rPr lang="en-US" altLang="zh-CN" sz="1800" dirty="0" smtClean="0"/>
              <a:t>- nuclear non-proliferation  </a:t>
            </a:r>
            <a:endParaRPr lang="en-US" altLang="zh-CN" sz="1800" dirty="0" smtClean="0"/>
          </a:p>
          <a:p>
            <a:pPr marL="114300" indent="0">
              <a:buNone/>
            </a:pPr>
            <a:r>
              <a:rPr lang="en-US" altLang="zh-CN" sz="1800" dirty="0" smtClean="0"/>
              <a:t>- nuclear disarmament  </a:t>
            </a:r>
            <a:endParaRPr lang="en-US" altLang="zh-CN" sz="1800" dirty="0" smtClean="0"/>
          </a:p>
          <a:p>
            <a:pPr marL="114300" indent="0">
              <a:buNone/>
            </a:pPr>
            <a:r>
              <a:rPr lang="en-US" altLang="zh-CN" sz="1800" dirty="0" smtClean="0"/>
              <a:t>- peaceful uses of nuclear energy  </a:t>
            </a:r>
            <a:endParaRPr lang="en-US" altLang="zh-CN" sz="1800" dirty="0" smtClean="0"/>
          </a:p>
          <a:p>
            <a:pPr marL="114300" indent="0">
              <a:buNone/>
            </a:pPr>
            <a:endParaRPr lang="en-US" altLang="zh-CN" sz="1800" dirty="0" smtClean="0"/>
          </a:p>
          <a:p>
            <a:pPr marL="114300" indent="0">
              <a:buNone/>
            </a:pPr>
            <a:r>
              <a:rPr lang="en-US" altLang="zh-CN" sz="1800" dirty="0" smtClean="0"/>
              <a:t>Positive effects:  </a:t>
            </a:r>
            <a:endParaRPr lang="en-US" altLang="zh-CN" sz="1800" dirty="0" smtClean="0"/>
          </a:p>
          <a:p>
            <a:pPr marL="114300" indent="0">
              <a:buNone/>
            </a:pPr>
            <a:r>
              <a:rPr lang="en-US" altLang="zh-CN" sz="1800" dirty="0" smtClean="0"/>
              <a:t>- nuclear proliferation has been curbed to a certain extent  </a:t>
            </a:r>
            <a:endParaRPr lang="en-US" altLang="zh-CN" sz="1800" dirty="0" smtClean="0"/>
          </a:p>
          <a:p>
            <a:pPr marL="114300" indent="0">
              <a:buNone/>
            </a:pPr>
            <a:r>
              <a:rPr lang="en-US" altLang="zh-CN" sz="1800" dirty="0" smtClean="0"/>
              <a:t>- seven regions of the world have been declared nuclear-weapon-free zones  </a:t>
            </a:r>
            <a:endParaRPr lang="en-US" altLang="zh-CN" sz="1800" dirty="0" smtClean="0"/>
          </a:p>
          <a:p>
            <a:pPr marL="114300" indent="0">
              <a:buNone/>
            </a:pPr>
            <a:endParaRPr lang="en-US" altLang="zh-CN" sz="1800" dirty="0" smtClean="0"/>
          </a:p>
          <a:p>
            <a:pPr marL="114300" indent="0">
              <a:buNone/>
            </a:pPr>
            <a:r>
              <a:rPr lang="en-US" altLang="zh-CN" sz="1800" dirty="0" smtClean="0"/>
              <a:t>Main challenges:  </a:t>
            </a:r>
            <a:endParaRPr lang="en-US" altLang="zh-CN" sz="1800" dirty="0" smtClean="0"/>
          </a:p>
          <a:p>
            <a:pPr marL="114300" indent="0">
              <a:buNone/>
            </a:pPr>
            <a:r>
              <a:rPr lang="en-US" altLang="zh-CN" sz="1800" dirty="0" smtClean="0"/>
              <a:t>- nuclear strategies and policies of major powers  </a:t>
            </a:r>
            <a:endParaRPr lang="en-US" altLang="zh-CN" sz="1800" dirty="0" smtClean="0"/>
          </a:p>
          <a:p>
            <a:pPr marL="114300" indent="0">
              <a:buNone/>
            </a:pPr>
            <a:r>
              <a:rPr lang="en-US" altLang="zh-CN" sz="1800" dirty="0" smtClean="0"/>
              <a:t>- regional security dilemmas  </a:t>
            </a:r>
            <a:endParaRPr lang="en-US" altLang="zh-CN" sz="1800" dirty="0" smtClean="0"/>
          </a:p>
          <a:p>
            <a:pPr marL="114300" indent="0">
              <a:buNone/>
            </a:pPr>
            <a:r>
              <a:rPr lang="en-US" altLang="zh-CN" sz="1800" dirty="0" smtClean="0"/>
              <a:t>- proliferation by non-state actors</a:t>
            </a:r>
            <a:endParaRPr lang="en-US" altLang="zh-CN" sz="1800" dirty="0" smtClean="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110" dirty="0">
                <a:latin typeface="Times New Roman" panose="02020603050405020304" charset="0"/>
                <a:cs typeface="Times New Roman" panose="02020603050405020304" charset="0"/>
              </a:rPr>
              <a:t>(II) International Atomic Energy Agency (IAEA)</a:t>
            </a:r>
            <a:endParaRPr lang="en-US" altLang="zh-CN" sz="3110"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457200" y="1683385"/>
            <a:ext cx="8229600" cy="4895215"/>
          </a:xfrm>
        </p:spPr>
        <p:txBody>
          <a:bodyPr>
            <a:normAutofit fontScale="80000"/>
          </a:bodyPr>
          <a:lstStyle/>
          <a:p>
            <a:pPr marL="114300" indent="0">
              <a:buNone/>
            </a:pPr>
            <a:r>
              <a:rPr lang="en-US" altLang="zh-CN" dirty="0"/>
              <a:t>The IAEA was formally established in October 1957 and is headquartered in Vienna.</a:t>
            </a:r>
            <a:endParaRPr lang="en-US" altLang="zh-CN" dirty="0"/>
          </a:p>
          <a:p>
            <a:pPr marL="114300" indent="0">
              <a:buNone/>
            </a:pPr>
            <a:endParaRPr lang="en-US" altLang="zh-CN" dirty="0"/>
          </a:p>
          <a:p>
            <a:pPr marL="114300" indent="0">
              <a:buNone/>
            </a:pPr>
            <a:r>
              <a:rPr lang="en-US" altLang="zh-CN" dirty="0"/>
              <a:t>Three pillars (areas of work):</a:t>
            </a:r>
            <a:endParaRPr lang="en-US" altLang="zh-CN" dirty="0"/>
          </a:p>
          <a:p>
            <a:pPr marL="114300" indent="0">
              <a:buNone/>
            </a:pPr>
            <a:r>
              <a:rPr lang="en-US" altLang="zh-CN" dirty="0"/>
              <a:t>- Safety  </a:t>
            </a:r>
            <a:endParaRPr lang="en-US" altLang="zh-CN" dirty="0"/>
          </a:p>
          <a:p>
            <a:pPr marL="114300" indent="0">
              <a:buNone/>
            </a:pPr>
            <a:r>
              <a:rPr lang="en-US" altLang="zh-CN" dirty="0"/>
              <a:t>- Science and technology  </a:t>
            </a:r>
            <a:endParaRPr lang="en-US" altLang="zh-CN" dirty="0"/>
          </a:p>
          <a:p>
            <a:pPr marL="114300" indent="0">
              <a:buNone/>
            </a:pPr>
            <a:r>
              <a:rPr lang="en-US" altLang="zh-CN" dirty="0"/>
              <a:t>- Safeguards and verification  </a:t>
            </a:r>
            <a:endParaRPr lang="en-US" altLang="zh-CN" dirty="0"/>
          </a:p>
          <a:p>
            <a:pPr marL="114300" indent="0">
              <a:buNone/>
            </a:pPr>
            <a:endParaRPr lang="en-US" altLang="zh-CN" dirty="0"/>
          </a:p>
          <a:p>
            <a:pPr marL="114300" indent="0">
              <a:buNone/>
            </a:pPr>
            <a:r>
              <a:rPr lang="en-US" altLang="zh-CN" dirty="0"/>
              <a:t>Main activities:</a:t>
            </a:r>
            <a:endParaRPr lang="en-US" altLang="zh-CN" dirty="0"/>
          </a:p>
          <a:p>
            <a:pPr marL="114300" indent="0">
              <a:buNone/>
            </a:pPr>
            <a:r>
              <a:rPr lang="en-US" altLang="zh-CN" dirty="0"/>
              <a:t>- providing technical assistance to member states  </a:t>
            </a:r>
            <a:endParaRPr lang="en-US" altLang="zh-CN" dirty="0"/>
          </a:p>
          <a:p>
            <a:pPr marL="114300" indent="0">
              <a:buNone/>
            </a:pPr>
            <a:r>
              <a:rPr lang="en-US" altLang="zh-CN" dirty="0"/>
              <a:t>- concluding safeguards agreements and applying safeguards to relevant projects  </a:t>
            </a:r>
            <a:endParaRPr lang="en-US" altLang="zh-CN" dirty="0"/>
          </a:p>
          <a:p>
            <a:pPr marL="114300" indent="0">
              <a:buNone/>
            </a:pPr>
            <a:r>
              <a:rPr lang="en-US" altLang="zh-CN" dirty="0"/>
              <a:t>- organizing the development of safety regulations for the use of nuclear energy  </a:t>
            </a:r>
            <a:endParaRPr lang="en-US" altLang="zh-CN" dirty="0"/>
          </a:p>
          <a:p>
            <a:pPr marL="114300" indent="0">
              <a:buNone/>
            </a:pPr>
            <a:r>
              <a:rPr lang="en-US" altLang="zh-CN" dirty="0"/>
              <a:t>- sponsoring research, conferences, and information exchanges on the peaceful uses of atomic energy</a:t>
            </a:r>
            <a:endParaRPr lang="en-US" altLang="zh-CN"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110" dirty="0">
                <a:latin typeface="Times New Roman" panose="02020603050405020304" charset="0"/>
                <a:cs typeface="Times New Roman" panose="02020603050405020304" charset="0"/>
              </a:rPr>
              <a:t>(III) Organisation for the Prohibition of Chemical Weapons (OPCW)</a:t>
            </a:r>
            <a:endParaRPr lang="en-US" altLang="zh-CN" sz="3110"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457200" y="1752600"/>
            <a:ext cx="8229600" cy="4791075"/>
          </a:xfrm>
        </p:spPr>
        <p:txBody>
          <a:bodyPr>
            <a:normAutofit fontScale="90000" lnSpcReduction="10000"/>
          </a:bodyPr>
          <a:lstStyle/>
          <a:p>
            <a:pPr marL="114300" indent="0">
              <a:buNone/>
            </a:pPr>
            <a:r>
              <a:rPr lang="en-US" altLang="zh-CN" dirty="0"/>
              <a:t>Established on 23 May 1997 and headquartered in The Hague, the Netherlands.</a:t>
            </a:r>
            <a:endParaRPr lang="en-US" altLang="zh-CN" dirty="0"/>
          </a:p>
          <a:p>
            <a:pPr marL="114300" indent="0">
              <a:buNone/>
            </a:pPr>
            <a:endParaRPr lang="en-US" altLang="zh-CN" dirty="0"/>
          </a:p>
          <a:p>
            <a:pPr marL="114300" indent="0">
              <a:buNone/>
            </a:pPr>
            <a:r>
              <a:rPr lang="en-US" altLang="zh-CN" dirty="0"/>
              <a:t>Principal organs:</a:t>
            </a:r>
            <a:endParaRPr lang="en-US" altLang="zh-CN" dirty="0"/>
          </a:p>
          <a:p>
            <a:pPr marL="114300" indent="0">
              <a:buNone/>
            </a:pPr>
            <a:r>
              <a:rPr lang="en-US" altLang="zh-CN" dirty="0"/>
              <a:t>- Conference of the States Parties  </a:t>
            </a:r>
            <a:endParaRPr lang="en-US" altLang="zh-CN" dirty="0"/>
          </a:p>
          <a:p>
            <a:pPr marL="114300" indent="0">
              <a:buNone/>
            </a:pPr>
            <a:r>
              <a:rPr lang="en-US" altLang="zh-CN" dirty="0"/>
              <a:t>- Executive Council  </a:t>
            </a:r>
            <a:endParaRPr lang="en-US" altLang="zh-CN" dirty="0"/>
          </a:p>
          <a:p>
            <a:pPr marL="114300" indent="0">
              <a:buNone/>
            </a:pPr>
            <a:r>
              <a:rPr lang="en-US" altLang="zh-CN" dirty="0"/>
              <a:t>- Technical Secretariat  </a:t>
            </a:r>
            <a:endParaRPr lang="en-US" altLang="zh-CN" dirty="0"/>
          </a:p>
          <a:p>
            <a:pPr marL="114300" indent="0">
              <a:buNone/>
            </a:pPr>
            <a:endParaRPr lang="en-US" altLang="zh-CN" dirty="0"/>
          </a:p>
          <a:p>
            <a:pPr marL="114300" indent="0">
              <a:buNone/>
            </a:pPr>
            <a:r>
              <a:rPr lang="en-US" altLang="zh-CN" dirty="0"/>
              <a:t>Main tasks:</a:t>
            </a:r>
            <a:endParaRPr lang="en-US" altLang="zh-CN" dirty="0"/>
          </a:p>
          <a:p>
            <a:pPr marL="114300" indent="0">
              <a:buNone/>
            </a:pPr>
            <a:r>
              <a:rPr lang="en-US" altLang="zh-CN" dirty="0"/>
              <a:t>- destruction of chemical-weapon stockpiles and chemical-weapon production facilities—i.e., the demilitarization of chemistry  </a:t>
            </a:r>
            <a:endParaRPr lang="en-US" altLang="zh-CN" dirty="0"/>
          </a:p>
          <a:p>
            <a:pPr marL="114300" indent="0">
              <a:buNone/>
            </a:pPr>
            <a:r>
              <a:rPr lang="en-US" altLang="zh-CN" dirty="0"/>
              <a:t>- provision for international cooperation among States Parties in the peaceful uses of chemistry</a:t>
            </a:r>
            <a:endParaRPr lang="en-US" altLang="zh-CN"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l"/>
            <a:r>
              <a:rPr lang="en-US" altLang="zh-CN" sz="3200" dirty="0">
                <a:latin typeface="Times New Roman" panose="02020603050405020304" charset="0"/>
                <a:cs typeface="Times New Roman" panose="02020603050405020304" charset="0"/>
              </a:rPr>
              <a:t>(IV) Establishment of Nuclear-Weapon-Free Zones </a:t>
            </a:r>
            <a:r>
              <a:rPr lang="en-US" altLang="zh-CN" sz="3200" dirty="0"/>
              <a:t> </a:t>
            </a:r>
            <a:endParaRPr lang="en-US" altLang="zh-CN" sz="3200" dirty="0"/>
          </a:p>
        </p:txBody>
      </p:sp>
      <p:sp>
        <p:nvSpPr>
          <p:cNvPr id="3" name="内容占位符 2"/>
          <p:cNvSpPr>
            <a:spLocks noGrp="1"/>
          </p:cNvSpPr>
          <p:nvPr>
            <p:ph idx="1"/>
          </p:nvPr>
        </p:nvSpPr>
        <p:spPr/>
        <p:txBody>
          <a:bodyPr>
            <a:noAutofit/>
          </a:bodyPr>
          <a:lstStyle/>
          <a:p>
            <a:r>
              <a:rPr lang="en-US" altLang="zh-CN" sz="2300" dirty="0">
                <a:latin typeface="Times New Roman" panose="02020603050405020304" charset="0"/>
                <a:cs typeface="Times New Roman" panose="02020603050405020304" charset="0"/>
              </a:rPr>
              <a:t>A nuclear-weapon-free zone (NWFZ) is an area in which the States or regional groupings concerned voluntarily establish, through treaty or convention, the absence of nuclear weapons, and which is recognized as such by the United Nations General Assembly.  </a:t>
            </a:r>
            <a:endParaRPr lang="en-US" altLang="zh-CN" sz="2300" dirty="0">
              <a:latin typeface="Times New Roman" panose="02020603050405020304" charset="0"/>
              <a:cs typeface="Times New Roman" panose="02020603050405020304" charset="0"/>
            </a:endParaRPr>
          </a:p>
          <a:p>
            <a:endParaRPr lang="en-US" altLang="zh-CN" sz="2300" dirty="0">
              <a:latin typeface="Times New Roman" panose="02020603050405020304" charset="0"/>
              <a:cs typeface="Times New Roman" panose="02020603050405020304" charset="0"/>
            </a:endParaRPr>
          </a:p>
          <a:p>
            <a:r>
              <a:rPr lang="en-US" altLang="zh-CN" sz="2300" dirty="0">
                <a:latin typeface="Times New Roman" panose="02020603050405020304" charset="0"/>
                <a:cs typeface="Times New Roman" panose="02020603050405020304" charset="0"/>
              </a:rPr>
              <a:t>Significance of establishing NWFZs:  </a:t>
            </a:r>
            <a:endParaRPr lang="en-US" altLang="zh-CN" sz="2300" dirty="0">
              <a:latin typeface="Times New Roman" panose="02020603050405020304" charset="0"/>
              <a:cs typeface="Times New Roman" panose="02020603050405020304" charset="0"/>
            </a:endParaRPr>
          </a:p>
          <a:p>
            <a:r>
              <a:rPr lang="en-US" altLang="zh-CN" sz="2300" dirty="0">
                <a:latin typeface="Times New Roman" panose="02020603050405020304" charset="0"/>
                <a:cs typeface="Times New Roman" panose="02020603050405020304" charset="0"/>
              </a:rPr>
              <a:t>- advances the global nuclear non-proliferation process  </a:t>
            </a:r>
            <a:endParaRPr lang="en-US" altLang="zh-CN" sz="2300" dirty="0">
              <a:latin typeface="Times New Roman" panose="02020603050405020304" charset="0"/>
              <a:cs typeface="Times New Roman" panose="02020603050405020304" charset="0"/>
            </a:endParaRPr>
          </a:p>
          <a:p>
            <a:r>
              <a:rPr lang="en-US" altLang="zh-CN" sz="2300" dirty="0">
                <a:latin typeface="Times New Roman" panose="02020603050405020304" charset="0"/>
                <a:cs typeface="Times New Roman" panose="02020603050405020304" charset="0"/>
              </a:rPr>
              <a:t>- raises regional and global levels of nuclear security  </a:t>
            </a:r>
            <a:endParaRPr lang="en-US" altLang="zh-CN" sz="2300" dirty="0">
              <a:latin typeface="Times New Roman" panose="02020603050405020304" charset="0"/>
              <a:cs typeface="Times New Roman" panose="02020603050405020304" charset="0"/>
            </a:endParaRPr>
          </a:p>
          <a:p>
            <a:r>
              <a:rPr lang="en-US" altLang="zh-CN" sz="2300" dirty="0">
                <a:latin typeface="Times New Roman" panose="02020603050405020304" charset="0"/>
                <a:cs typeface="Times New Roman" panose="02020603050405020304" charset="0"/>
              </a:rPr>
              <a:t>- promotes nuclear disarmament  </a:t>
            </a:r>
            <a:endParaRPr lang="en-US" altLang="zh-CN" sz="2300" dirty="0">
              <a:latin typeface="Times New Roman" panose="02020603050405020304" charset="0"/>
              <a:cs typeface="Times New Roman" panose="02020603050405020304" charset="0"/>
            </a:endParaRPr>
          </a:p>
          <a:p>
            <a:r>
              <a:rPr lang="en-US" altLang="zh-CN" sz="2300" dirty="0">
                <a:latin typeface="Times New Roman" panose="02020603050405020304" charset="0"/>
                <a:cs typeface="Times New Roman" panose="02020603050405020304" charset="0"/>
              </a:rPr>
              <a:t>- fosters the worldwide peaceful use of nuclear energy</a:t>
            </a:r>
            <a:endParaRPr lang="en-US" altLang="zh-CN" sz="2300"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l"/>
            <a:r>
              <a:rPr lang="en-US" altLang="zh-CN" sz="3200" dirty="0">
                <a:latin typeface="Times New Roman" panose="02020603050405020304" charset="0"/>
                <a:cs typeface="Times New Roman" panose="02020603050405020304" charset="0"/>
              </a:rPr>
              <a:t>(V) Comprehensive Nuclear-Test-Ban Treaty (CTBT)</a:t>
            </a:r>
            <a:endParaRPr lang="en-US" altLang="zh-CN" sz="3200"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p:txBody>
          <a:bodyPr>
            <a:normAutofit fontScale="90000" lnSpcReduction="10000"/>
          </a:bodyPr>
          <a:lstStyle/>
          <a:p>
            <a:r>
              <a:rPr lang="en-US" altLang="zh-CN" dirty="0"/>
              <a:t>- Opened for signature in 1996, the CTBT has not yet entered into force.</a:t>
            </a:r>
            <a:r>
              <a:rPr lang="en-US" altLang="zh-CN" sz="1800" dirty="0"/>
              <a:t> (China, Egypt, Iran, Israel, the US and Russia, signed but not yet ratified; India, Pakistan and DPRK, not signed nor ratified. Thus, CTBT has not come into force. )</a:t>
            </a:r>
            <a:endParaRPr lang="en-US" altLang="zh-CN" dirty="0"/>
          </a:p>
          <a:p>
            <a:endParaRPr lang="en-US" altLang="zh-CN" dirty="0"/>
          </a:p>
          <a:p>
            <a:r>
              <a:rPr lang="en-US" altLang="zh-CN" dirty="0"/>
              <a:t>Verification mechanism:</a:t>
            </a:r>
            <a:endParaRPr lang="en-US" altLang="zh-CN" dirty="0"/>
          </a:p>
          <a:p>
            <a:r>
              <a:rPr lang="en-US" altLang="zh-CN" dirty="0"/>
              <a:t>- International Monitoring System, on-site inspections, and the International Data Centre</a:t>
            </a:r>
            <a:endParaRPr lang="en-US" altLang="zh-CN" dirty="0"/>
          </a:p>
          <a:p>
            <a:endParaRPr lang="en-US" altLang="zh-CN" dirty="0"/>
          </a:p>
          <a:p>
            <a:r>
              <a:rPr lang="en-US" altLang="zh-CN" dirty="0"/>
              <a:t>Purpose and objectives:</a:t>
            </a:r>
            <a:endParaRPr lang="en-US" altLang="zh-CN" dirty="0"/>
          </a:p>
          <a:p>
            <a:r>
              <a:rPr lang="en-US" altLang="zh-CN" dirty="0"/>
              <a:t>- to achieve a comprehensive ban on nuclear-weapon test explosions and any other nuclear explosions, thereby effectively promoting nuclear non-proliferation and nuclear disarmament and enhancing international peace and security</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Times New Roman" panose="02020603050405020304" charset="0"/>
                <a:cs typeface="Times New Roman" panose="02020603050405020304" charset="0"/>
              </a:rPr>
              <a:t>II. Promoting Disarmament</a:t>
            </a:r>
            <a:endParaRPr lang="en-US" altLang="zh-CN"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p:txBody>
          <a:bodyPr/>
          <a:lstStyle/>
          <a:p>
            <a:pPr marL="571500" indent="-457200">
              <a:buFont typeface="+mj-lt"/>
              <a:buAutoNum type="arabicPeriod"/>
            </a:pPr>
            <a:endParaRPr lang="en-US" altLang="zh-CN" dirty="0" smtClean="0">
              <a:latin typeface="+mn-ea"/>
            </a:endParaRPr>
          </a:p>
          <a:p>
            <a:pPr marL="571500" indent="-457200">
              <a:buNone/>
            </a:pPr>
            <a:r>
              <a:rPr lang="en-US" altLang="zh-CN" sz="2800" dirty="0">
                <a:latin typeface="Times New Roman" panose="02020603050405020304" charset="0"/>
                <a:cs typeface="Times New Roman" panose="02020603050405020304" charset="0"/>
              </a:rPr>
              <a:t>Disarmament refers to the reduction of weapons, equipment, and military personnel.  </a:t>
            </a:r>
            <a:endParaRPr lang="en-US" altLang="zh-CN" sz="2800" dirty="0">
              <a:latin typeface="Times New Roman" panose="02020603050405020304" charset="0"/>
              <a:cs typeface="Times New Roman" panose="02020603050405020304" charset="0"/>
            </a:endParaRPr>
          </a:p>
          <a:p>
            <a:pPr marL="571500" indent="-457200">
              <a:buNone/>
            </a:pPr>
            <a:endParaRPr lang="en-US" altLang="zh-CN" sz="2800" dirty="0">
              <a:latin typeface="Times New Roman" panose="02020603050405020304" charset="0"/>
              <a:cs typeface="Times New Roman" panose="02020603050405020304" charset="0"/>
            </a:endParaRPr>
          </a:p>
          <a:p>
            <a:pPr marL="571500" indent="-457200">
              <a:buNone/>
            </a:pPr>
            <a:r>
              <a:rPr lang="en-US" altLang="zh-CN" sz="2800" dirty="0">
                <a:latin typeface="Times New Roman" panose="02020603050405020304" charset="0"/>
                <a:cs typeface="Times New Roman" panose="02020603050405020304" charset="0"/>
              </a:rPr>
              <a:t>UN disarmament bodies  </a:t>
            </a:r>
            <a:endParaRPr lang="en-US" altLang="zh-CN" sz="2800" dirty="0">
              <a:latin typeface="Times New Roman" panose="02020603050405020304" charset="0"/>
              <a:cs typeface="Times New Roman" panose="02020603050405020304" charset="0"/>
            </a:endParaRPr>
          </a:p>
          <a:p>
            <a:pPr marL="571500" indent="-457200">
              <a:buNone/>
            </a:pPr>
            <a:endParaRPr lang="en-US" altLang="zh-CN" sz="2800" dirty="0">
              <a:latin typeface="Times New Roman" panose="02020603050405020304" charset="0"/>
              <a:cs typeface="Times New Roman" panose="02020603050405020304" charset="0"/>
            </a:endParaRPr>
          </a:p>
          <a:p>
            <a:pPr marL="571500" indent="-457200">
              <a:buNone/>
            </a:pPr>
            <a:r>
              <a:rPr lang="en-US" altLang="zh-CN" sz="2800" dirty="0">
                <a:latin typeface="Times New Roman" panose="02020603050405020304" charset="0"/>
                <a:cs typeface="Times New Roman" panose="02020603050405020304" charset="0"/>
              </a:rPr>
              <a:t>Geneva-based Conference on Disarmament</a:t>
            </a:r>
            <a:endParaRPr lang="en-US" altLang="zh-CN" sz="2800"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6085" y="408305"/>
            <a:ext cx="8345170" cy="1039495"/>
          </a:xfrm>
        </p:spPr>
        <p:txBody>
          <a:bodyPr>
            <a:normAutofit fontScale="90000"/>
          </a:bodyPr>
          <a:lstStyle/>
          <a:p>
            <a:pPr algn="l"/>
            <a:r>
              <a:rPr lang="en-US" altLang="zh-CN" sz="3200" dirty="0">
                <a:latin typeface="Times New Roman" panose="02020603050405020304" charset="0"/>
                <a:cs typeface="Times New Roman" panose="02020603050405020304" charset="0"/>
              </a:rPr>
              <a:t>(I) United Nations Disarmament Machinery  </a:t>
            </a:r>
            <a:endParaRPr lang="en-US" altLang="zh-CN" sz="3200"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457200" y="1752600"/>
            <a:ext cx="8229600" cy="4669155"/>
          </a:xfrm>
        </p:spPr>
        <p:txBody>
          <a:bodyPr>
            <a:noAutofit/>
          </a:bodyPr>
          <a:lstStyle/>
          <a:p>
            <a:pPr marL="114300" indent="0">
              <a:buNone/>
            </a:pPr>
            <a:endParaRPr lang="en-US" altLang="zh-CN" sz="1900" dirty="0" smtClean="0">
              <a:latin typeface="+mn-ea"/>
            </a:endParaRPr>
          </a:p>
          <a:p>
            <a:pPr marL="114300" indent="0">
              <a:buNone/>
            </a:pPr>
            <a:r>
              <a:rPr lang="en-US" altLang="zh-CN" sz="2300" dirty="0">
                <a:latin typeface="Times New Roman" panose="02020603050405020304" charset="0"/>
                <a:cs typeface="Times New Roman" panose="02020603050405020304" charset="0"/>
              </a:rPr>
              <a:t>(1) The General Assembly and disarmament  </a:t>
            </a:r>
            <a:endParaRPr lang="en-US" altLang="zh-CN" sz="2300" dirty="0">
              <a:latin typeface="Times New Roman" panose="02020603050405020304" charset="0"/>
              <a:cs typeface="Times New Roman" panose="02020603050405020304" charset="0"/>
            </a:endParaRPr>
          </a:p>
          <a:p>
            <a:pPr marL="114300" indent="0">
              <a:buNone/>
            </a:pPr>
            <a:r>
              <a:rPr lang="en-US" altLang="zh-CN" sz="2300" dirty="0">
                <a:latin typeface="Times New Roman" panose="02020603050405020304" charset="0"/>
                <a:cs typeface="Times New Roman" panose="02020603050405020304" charset="0"/>
              </a:rPr>
              <a:t>- Special Sessions of the General Assembly Devoted to Disarmament  </a:t>
            </a:r>
            <a:endParaRPr lang="en-US" altLang="zh-CN" sz="2300" dirty="0">
              <a:latin typeface="Times New Roman" panose="02020603050405020304" charset="0"/>
              <a:cs typeface="Times New Roman" panose="02020603050405020304" charset="0"/>
            </a:endParaRPr>
          </a:p>
          <a:p>
            <a:pPr marL="114300" indent="0">
              <a:buNone/>
            </a:pPr>
            <a:r>
              <a:rPr lang="en-US" altLang="zh-CN" sz="2300" dirty="0">
                <a:latin typeface="Times New Roman" panose="02020603050405020304" charset="0"/>
                <a:cs typeface="Times New Roman" panose="02020603050405020304" charset="0"/>
              </a:rPr>
              <a:t>- First Committee of the General Assembly (Disarmament and International Security)  </a:t>
            </a:r>
            <a:endParaRPr lang="en-US" altLang="zh-CN" sz="2300" dirty="0">
              <a:latin typeface="Times New Roman" panose="02020603050405020304" charset="0"/>
              <a:cs typeface="Times New Roman" panose="02020603050405020304" charset="0"/>
            </a:endParaRPr>
          </a:p>
          <a:p>
            <a:pPr marL="114300" indent="0">
              <a:buNone/>
            </a:pPr>
            <a:endParaRPr lang="en-US" altLang="zh-CN" sz="2300" dirty="0">
              <a:latin typeface="Times New Roman" panose="02020603050405020304" charset="0"/>
              <a:cs typeface="Times New Roman" panose="02020603050405020304" charset="0"/>
            </a:endParaRPr>
          </a:p>
          <a:p>
            <a:pPr marL="114300" indent="0">
              <a:buNone/>
            </a:pPr>
            <a:r>
              <a:rPr lang="en-US" altLang="zh-CN" sz="2300" dirty="0">
                <a:latin typeface="Times New Roman" panose="02020603050405020304" charset="0"/>
                <a:cs typeface="Times New Roman" panose="02020603050405020304" charset="0"/>
              </a:rPr>
              <a:t>(2) The UN Secretariat and disarmament  </a:t>
            </a:r>
            <a:endParaRPr lang="en-US" altLang="zh-CN" sz="2300" dirty="0">
              <a:latin typeface="Times New Roman" panose="02020603050405020304" charset="0"/>
              <a:cs typeface="Times New Roman" panose="02020603050405020304" charset="0"/>
            </a:endParaRPr>
          </a:p>
          <a:p>
            <a:pPr marL="114300" indent="0">
              <a:buNone/>
            </a:pPr>
            <a:r>
              <a:rPr lang="en-US" altLang="zh-CN" sz="2300" dirty="0">
                <a:latin typeface="Times New Roman" panose="02020603050405020304" charset="0"/>
                <a:cs typeface="Times New Roman" panose="02020603050405020304" charset="0"/>
              </a:rPr>
              <a:t>- Office for Disarmament Affairs  </a:t>
            </a:r>
            <a:endParaRPr lang="en-US" altLang="zh-CN" sz="2300" dirty="0">
              <a:latin typeface="Times New Roman" panose="02020603050405020304" charset="0"/>
              <a:cs typeface="Times New Roman" panose="02020603050405020304" charset="0"/>
            </a:endParaRPr>
          </a:p>
          <a:p>
            <a:pPr marL="114300" indent="0">
              <a:buNone/>
            </a:pPr>
            <a:r>
              <a:rPr lang="en-US" altLang="zh-CN" sz="2300" dirty="0">
                <a:latin typeface="Times New Roman" panose="02020603050405020304" charset="0"/>
                <a:cs typeface="Times New Roman" panose="02020603050405020304" charset="0"/>
              </a:rPr>
              <a:t>- High Representative for Disarmament Affairs  </a:t>
            </a:r>
            <a:endParaRPr lang="en-US" altLang="zh-CN" sz="2300" dirty="0">
              <a:latin typeface="Times New Roman" panose="02020603050405020304" charset="0"/>
              <a:cs typeface="Times New Roman" panose="02020603050405020304" charset="0"/>
            </a:endParaRPr>
          </a:p>
          <a:p>
            <a:pPr marL="114300" indent="0">
              <a:buNone/>
            </a:pPr>
            <a:r>
              <a:rPr lang="en-US" altLang="zh-CN" sz="2300" dirty="0">
                <a:latin typeface="Times New Roman" panose="02020603050405020304" charset="0"/>
                <a:cs typeface="Times New Roman" panose="02020603050405020304" charset="0"/>
              </a:rPr>
              <a:t>- Advisory Board on Disarmament Matters to the Secretary-General  </a:t>
            </a:r>
            <a:endParaRPr lang="en-US" altLang="zh-CN" sz="2300" dirty="0">
              <a:latin typeface="Times New Roman" panose="02020603050405020304" charset="0"/>
              <a:cs typeface="Times New Roman" panose="02020603050405020304" charset="0"/>
            </a:endParaRPr>
          </a:p>
          <a:p>
            <a:pPr marL="114300" indent="0">
              <a:buNone/>
            </a:pPr>
            <a:r>
              <a:rPr lang="en-US" altLang="zh-CN" sz="2300" dirty="0">
                <a:latin typeface="Times New Roman" panose="02020603050405020304" charset="0"/>
                <a:cs typeface="Times New Roman" panose="02020603050405020304" charset="0"/>
              </a:rPr>
              <a:t>- UN Institute for Disarmament Research</a:t>
            </a:r>
            <a:endParaRPr lang="en-US" altLang="zh-CN" sz="2300"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110" dirty="0">
                <a:latin typeface="Times New Roman" panose="02020603050405020304" charset="0"/>
                <a:cs typeface="Times New Roman" panose="02020603050405020304" charset="0"/>
              </a:rPr>
              <a:t>(II) Conference on Disarmament (Geneva)</a:t>
            </a:r>
            <a:endParaRPr lang="en-US" altLang="zh-CN" sz="3110"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457200" y="1752600"/>
            <a:ext cx="8229600" cy="4844752"/>
          </a:xfrm>
        </p:spPr>
        <p:txBody>
          <a:bodyPr>
            <a:normAutofit fontScale="90000" lnSpcReduction="20000"/>
          </a:bodyPr>
          <a:lstStyle/>
          <a:p>
            <a:r>
              <a:rPr lang="en-US" altLang="zh-CN" dirty="0"/>
              <a:t>- Established in 1979; the sole multilateral negotiating forum on disarmament for the international community.</a:t>
            </a:r>
            <a:endParaRPr lang="en-US" altLang="zh-CN" dirty="0"/>
          </a:p>
          <a:p>
            <a:endParaRPr lang="en-US" altLang="zh-CN" dirty="0"/>
          </a:p>
          <a:p>
            <a:r>
              <a:rPr lang="en-US" altLang="zh-CN" dirty="0"/>
              <a:t>Main items on the Conference’s agenda:</a:t>
            </a:r>
            <a:endParaRPr lang="en-US" altLang="zh-CN" dirty="0"/>
          </a:p>
          <a:p>
            <a:r>
              <a:rPr lang="en-US" altLang="zh-CN" dirty="0"/>
              <a:t>- halting the nuclear arms race and achieving nuclear disarmament  </a:t>
            </a:r>
            <a:endParaRPr lang="en-US" altLang="zh-CN" dirty="0"/>
          </a:p>
          <a:p>
            <a:r>
              <a:rPr lang="en-US" altLang="zh-CN" dirty="0"/>
              <a:t>- preventing nuclear war and all related matters  </a:t>
            </a:r>
            <a:endParaRPr lang="en-US" altLang="zh-CN" dirty="0"/>
          </a:p>
          <a:p>
            <a:r>
              <a:rPr lang="en-US" altLang="zh-CN" dirty="0"/>
              <a:t>- preventing an arms race in outer space  </a:t>
            </a:r>
            <a:endParaRPr lang="en-US" altLang="zh-CN" dirty="0"/>
          </a:p>
          <a:p>
            <a:r>
              <a:rPr lang="en-US" altLang="zh-CN" dirty="0"/>
              <a:t>- elaborating effective international agreements to assure non-nuclear-weapon States against the use or threat of use of nuclear weapons  </a:t>
            </a:r>
            <a:endParaRPr lang="en-US" altLang="zh-CN" dirty="0"/>
          </a:p>
          <a:p>
            <a:r>
              <a:rPr lang="en-US" altLang="zh-CN" dirty="0"/>
              <a:t>- new types of weapons of mass destruction and new systems of weapons, including radiological weapons  </a:t>
            </a:r>
            <a:endParaRPr lang="en-US" altLang="zh-CN" dirty="0"/>
          </a:p>
          <a:p>
            <a:r>
              <a:rPr lang="en-US" altLang="zh-CN" dirty="0"/>
              <a:t>- comprehensive disarmament programmes and transparency in armaments</a:t>
            </a:r>
            <a:endParaRPr lang="en-US" altLang="zh-CN"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a:latin typeface="Times New Roman" panose="02020603050405020304" charset="0"/>
                <a:cs typeface="Times New Roman" panose="02020603050405020304" charset="0"/>
              </a:rPr>
              <a:t>III. Promoting Arms Control</a:t>
            </a:r>
            <a:r>
              <a:rPr lang="en-US" altLang="zh-CN" dirty="0"/>
              <a:t>  </a:t>
            </a:r>
            <a:endParaRPr lang="en-US" altLang="zh-CN" dirty="0"/>
          </a:p>
        </p:txBody>
      </p:sp>
      <p:sp>
        <p:nvSpPr>
          <p:cNvPr id="3" name="内容占位符 2"/>
          <p:cNvSpPr>
            <a:spLocks noGrp="1"/>
          </p:cNvSpPr>
          <p:nvPr>
            <p:ph idx="1"/>
          </p:nvPr>
        </p:nvSpPr>
        <p:spPr/>
        <p:txBody>
          <a:bodyPr>
            <a:noAutofit/>
          </a:bodyPr>
          <a:lstStyle/>
          <a:p>
            <a:r>
              <a:rPr lang="en-US" altLang="zh-CN" sz="2300" dirty="0">
                <a:latin typeface="Times New Roman" panose="02020603050405020304" charset="0"/>
                <a:cs typeface="Times New Roman" panose="02020603050405020304" charset="0"/>
              </a:rPr>
              <a:t>Arms control denotes the imposition of limits and restraints on the development, testing, deployment, and use of military equipment—especially weapons of mass destruction. It is normally accomplished through international agreements and international organizations.  </a:t>
            </a:r>
            <a:endParaRPr lang="en-US" altLang="zh-CN" sz="2300" dirty="0">
              <a:latin typeface="Times New Roman" panose="02020603050405020304" charset="0"/>
              <a:cs typeface="Times New Roman" panose="02020603050405020304" charset="0"/>
            </a:endParaRPr>
          </a:p>
          <a:p>
            <a:endParaRPr lang="en-US" altLang="zh-CN" sz="2300" dirty="0">
              <a:latin typeface="Times New Roman" panose="02020603050405020304" charset="0"/>
              <a:cs typeface="Times New Roman" panose="02020603050405020304" charset="0"/>
            </a:endParaRPr>
          </a:p>
          <a:p>
            <a:r>
              <a:rPr lang="en-US" altLang="zh-CN" sz="2300" dirty="0">
                <a:latin typeface="Times New Roman" panose="02020603050405020304" charset="0"/>
                <a:cs typeface="Times New Roman" panose="02020603050405020304" charset="0"/>
              </a:rPr>
              <a:t>Key organizations and regimes:  </a:t>
            </a:r>
            <a:endParaRPr lang="en-US" altLang="zh-CN" sz="2300" dirty="0">
              <a:latin typeface="Times New Roman" panose="02020603050405020304" charset="0"/>
              <a:cs typeface="Times New Roman" panose="02020603050405020304" charset="0"/>
            </a:endParaRPr>
          </a:p>
          <a:p>
            <a:r>
              <a:rPr lang="en-US" altLang="zh-CN" sz="2300" dirty="0">
                <a:latin typeface="Times New Roman" panose="02020603050405020304" charset="0"/>
                <a:cs typeface="Times New Roman" panose="02020603050405020304" charset="0"/>
              </a:rPr>
              <a:t>- Nuclear Suppliers Group (NSG)  </a:t>
            </a:r>
            <a:endParaRPr lang="en-US" altLang="zh-CN" sz="2300" dirty="0">
              <a:latin typeface="Times New Roman" panose="02020603050405020304" charset="0"/>
              <a:cs typeface="Times New Roman" panose="02020603050405020304" charset="0"/>
            </a:endParaRPr>
          </a:p>
          <a:p>
            <a:r>
              <a:rPr lang="en-US" altLang="zh-CN" sz="2300" dirty="0">
                <a:latin typeface="Times New Roman" panose="02020603050405020304" charset="0"/>
                <a:cs typeface="Times New Roman" panose="02020603050405020304" charset="0"/>
              </a:rPr>
              <a:t>- Zangger Committee  </a:t>
            </a:r>
            <a:endParaRPr lang="en-US" altLang="zh-CN" sz="2300" dirty="0">
              <a:latin typeface="Times New Roman" panose="02020603050405020304" charset="0"/>
              <a:cs typeface="Times New Roman" panose="02020603050405020304" charset="0"/>
            </a:endParaRPr>
          </a:p>
          <a:p>
            <a:r>
              <a:rPr lang="en-US" altLang="zh-CN" sz="2300" dirty="0">
                <a:latin typeface="Times New Roman" panose="02020603050405020304" charset="0"/>
                <a:cs typeface="Times New Roman" panose="02020603050405020304" charset="0"/>
              </a:rPr>
              <a:t>- Australia Group  </a:t>
            </a:r>
            <a:endParaRPr lang="en-US" altLang="zh-CN" sz="2300" dirty="0">
              <a:latin typeface="Times New Roman" panose="02020603050405020304" charset="0"/>
              <a:cs typeface="Times New Roman" panose="02020603050405020304" charset="0"/>
            </a:endParaRPr>
          </a:p>
          <a:p>
            <a:r>
              <a:rPr lang="en-US" altLang="zh-CN" sz="2300" dirty="0">
                <a:latin typeface="Times New Roman" panose="02020603050405020304" charset="0"/>
                <a:cs typeface="Times New Roman" panose="02020603050405020304" charset="0"/>
              </a:rPr>
              <a:t>- Missile Technology Control Regime (MTCR)  </a:t>
            </a:r>
            <a:endParaRPr lang="en-US" altLang="zh-CN" sz="2300" dirty="0">
              <a:latin typeface="Times New Roman" panose="02020603050405020304" charset="0"/>
              <a:cs typeface="Times New Roman" panose="02020603050405020304" charset="0"/>
            </a:endParaRPr>
          </a:p>
          <a:p>
            <a:r>
              <a:rPr lang="en-US" altLang="zh-CN" sz="2300" dirty="0">
                <a:latin typeface="Times New Roman" panose="02020603050405020304" charset="0"/>
                <a:cs typeface="Times New Roman" panose="02020603050405020304" charset="0"/>
              </a:rPr>
              <a:t>- Wassenaar Arrangement</a:t>
            </a:r>
            <a:endParaRPr lang="en-US" altLang="zh-CN" sz="2300"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Discussion Questions  </a:t>
            </a:r>
            <a:endParaRPr lang="zh-CN" altLang="en-US" dirty="0"/>
          </a:p>
        </p:txBody>
      </p:sp>
      <p:sp>
        <p:nvSpPr>
          <p:cNvPr id="3" name="内容占位符 2"/>
          <p:cNvSpPr>
            <a:spLocks noGrp="1"/>
          </p:cNvSpPr>
          <p:nvPr>
            <p:ph idx="1"/>
          </p:nvPr>
        </p:nvSpPr>
        <p:spPr>
          <a:xfrm>
            <a:off x="457200" y="2007765"/>
            <a:ext cx="8229600" cy="4373563"/>
          </a:xfrm>
        </p:spPr>
        <p:txBody>
          <a:bodyPr/>
          <a:lstStyle/>
          <a:p>
            <a:pPr marL="114300" indent="0">
              <a:buNone/>
            </a:pPr>
            <a:r>
              <a:rPr lang="en-US" altLang="zh-CN" dirty="0"/>
              <a:t>1. What advantages do international organizations possess in the settlement of international disputes?  </a:t>
            </a:r>
            <a:endParaRPr lang="en-US" altLang="zh-CN" dirty="0"/>
          </a:p>
          <a:p>
            <a:pPr marL="114300" indent="0">
              <a:buNone/>
            </a:pPr>
            <a:r>
              <a:rPr lang="en-US" altLang="zh-CN" dirty="0"/>
              <a:t>2. How should the role of sanctions in contemporary international relations be assessed?  </a:t>
            </a:r>
            <a:endParaRPr lang="en-US" altLang="zh-CN" dirty="0"/>
          </a:p>
          <a:p>
            <a:pPr marL="114300" indent="0">
              <a:buNone/>
            </a:pPr>
            <a:r>
              <a:rPr lang="en-US" altLang="zh-CN" dirty="0"/>
              <a:t>3. What major innovations have characterized United Nations peacekeeping operations since the end of the Cold War?  </a:t>
            </a:r>
            <a:endParaRPr lang="en-US" altLang="zh-CN" dirty="0"/>
          </a:p>
          <a:p>
            <a:pPr marL="114300" indent="0">
              <a:buNone/>
            </a:pPr>
            <a:r>
              <a:rPr lang="en-US" altLang="zh-CN" dirty="0"/>
              <a:t>4. What are the principal challenges confronting the international nuclear non-proliferation regime?</a:t>
            </a:r>
            <a:endParaRPr lang="en-US" altLang="zh-CN"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药剂师">
  <a:themeElements>
    <a:clrScheme name="技巧">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药剂师">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solidFill>
          <a:schemeClr val="phClr">
            <a:tint val="93000"/>
            <a:satMod val="140000"/>
          </a:schemeClr>
        </a:solidFill>
        <a:blipFill rotWithShape="1">
          <a:blip xmlns:r="http://schemas.openxmlformats.org/officeDocument/2006/relationships" r:embed="rId1">
            <a:duotone>
              <a:schemeClr val="phClr">
                <a:tint val="70000"/>
                <a:satMod val="170000"/>
              </a:schemeClr>
              <a:schemeClr val="phClr">
                <a:shade val="70000"/>
                <a:satMod val="130000"/>
              </a:schemeClr>
            </a:duotone>
          </a:blip>
          <a:tile tx="0" ty="0" sx="100000" sy="10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Apothecary</Template>
  <TotalTime>0</TotalTime>
  <Words>16054</Words>
  <Application>WPS 演示</Application>
  <PresentationFormat>全屏显示(4:3)</PresentationFormat>
  <Paragraphs>311</Paragraphs>
  <Slides>36</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36</vt:i4>
      </vt:variant>
    </vt:vector>
  </HeadingPairs>
  <TitlesOfParts>
    <vt:vector size="45" baseType="lpstr">
      <vt:lpstr>Arial</vt:lpstr>
      <vt:lpstr>宋体</vt:lpstr>
      <vt:lpstr>Wingdings</vt:lpstr>
      <vt:lpstr>Times New Roman</vt:lpstr>
      <vt:lpstr>微软雅黑</vt:lpstr>
      <vt:lpstr>Arial Unicode MS</vt:lpstr>
      <vt:lpstr>黑体</vt:lpstr>
      <vt:lpstr>Calibri</vt:lpstr>
      <vt:lpstr>药剂师</vt:lpstr>
      <vt:lpstr>Chapter V  Political and Security Functions of International Organizations</vt:lpstr>
      <vt:lpstr>Political and Security Functions of International Organizations</vt:lpstr>
      <vt:lpstr>Section one The Dispute-Settlement Function of International Organizations</vt:lpstr>
      <vt:lpstr>I. Types and Characteristics of International Dispute Settlement by International Organizations  </vt:lpstr>
      <vt:lpstr>(I) Settlement of International Disputes within the United Nations Framework </vt:lpstr>
      <vt:lpstr>(II) Settlement of International Disputes through Regional Organizations or Regional Arrangements  </vt:lpstr>
      <vt:lpstr>II. Political Means of Dispute Settlement Employed by International Organizations </vt:lpstr>
      <vt:lpstr>(I) Negotiation and Consultation </vt:lpstr>
      <vt:lpstr>(II) Good Offices and Mediation  </vt:lpstr>
      <vt:lpstr>(III) Inquiry and Conciliation  </vt:lpstr>
      <vt:lpstr>III. Legal Means of Dispute Settlement by International Organizations  </vt:lpstr>
      <vt:lpstr>(I) International Arbitration </vt:lpstr>
      <vt:lpstr>(II) Judicial Settlement </vt:lpstr>
      <vt:lpstr>IV. Coercive Measures for International Dispute Settlement by International Organizations  </vt:lpstr>
      <vt:lpstr>(I) Sanctions  </vt:lpstr>
      <vt:lpstr>(II) Use of Force </vt:lpstr>
      <vt:lpstr>Section two Peace-Keeping Functions of International Organizations</vt:lpstr>
      <vt:lpstr>Peace-Keeping Operations  </vt:lpstr>
      <vt:lpstr>I. Evolution of Peace-keeping Operations </vt:lpstr>
      <vt:lpstr>(I) First-Generation Traditional Peace-keeping Operations  </vt:lpstr>
      <vt:lpstr>(II) Second-Generation Multi-Dimensional Peacekeeping Operations  </vt:lpstr>
      <vt:lpstr>(III) Third-Generation Governance-Oriented Peacekeeping Operations </vt:lpstr>
      <vt:lpstr>II. Characteristics of Peace-keeping Operations  </vt:lpstr>
      <vt:lpstr>III. Innovations in Peace-keeping Operations </vt:lpstr>
      <vt:lpstr>Section three  Security Functions of International Organizations</vt:lpstr>
      <vt:lpstr>I. Prevention of the Proliferation of Weapons of Mass Destruction  </vt:lpstr>
      <vt:lpstr>(I) Treaty on the Non-Proliferation of Nuclear Weapons (NPT)</vt:lpstr>
      <vt:lpstr>(II) International Atomic Energy Agency (IAEA)</vt:lpstr>
      <vt:lpstr>(III) Organisation for the Prohibition of Chemical Weapons (OPCW)</vt:lpstr>
      <vt:lpstr>(IV) Establishment of Nuclear-Weapon-Free Zones  </vt:lpstr>
      <vt:lpstr>(V) Comprehensive Nuclear-Test-Ban Treaty (CTBT)</vt:lpstr>
      <vt:lpstr>II. Promoting Disarmament</vt:lpstr>
      <vt:lpstr>(I) United Nations Disarmament Machinery  </vt:lpstr>
      <vt:lpstr>(II) Conference on Disarmament (Geneva)</vt:lpstr>
      <vt:lpstr>III. Promoting Arms Control  </vt:lpstr>
      <vt:lpstr>Discussion Questions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大唐1415436413</cp:lastModifiedBy>
  <cp:revision>138</cp:revision>
  <dcterms:created xsi:type="dcterms:W3CDTF">2017-06-19T10:04:00Z</dcterms:created>
  <dcterms:modified xsi:type="dcterms:W3CDTF">2026-03-29T01:55:56Z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76A96A5AB97B436FA43B924D35A598A7_13</vt:lpwstr>
  </property>
  <property fmtid="{D5CDD505-2E9C-101B-9397-08002B2CF9AE}" pid="3" name="KSOProductBuildVer">
    <vt:lpwstr>2052-12.1.0.25225</vt:lpwstr>
  </property>
</Properties>
</file>