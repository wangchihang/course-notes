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29"/>
  </p:notesMasterIdLst>
  <p:sldIdLst>
    <p:sldId id="256" r:id="rId4"/>
    <p:sldId id="257" r:id="rId5"/>
    <p:sldId id="259" r:id="rId6"/>
    <p:sldId id="260" r:id="rId7"/>
    <p:sldId id="262" r:id="rId8"/>
    <p:sldId id="261" r:id="rId9"/>
    <p:sldId id="290" r:id="rId10"/>
    <p:sldId id="266" r:id="rId11"/>
    <p:sldId id="291" r:id="rId12"/>
    <p:sldId id="287" r:id="rId13"/>
    <p:sldId id="288" r:id="rId14"/>
    <p:sldId id="289" r:id="rId15"/>
    <p:sldId id="292" r:id="rId16"/>
    <p:sldId id="293" r:id="rId17"/>
    <p:sldId id="294" r:id="rId18"/>
    <p:sldId id="295" r:id="rId19"/>
    <p:sldId id="276" r:id="rId20"/>
    <p:sldId id="277" r:id="rId21"/>
    <p:sldId id="278" r:id="rId22"/>
    <p:sldId id="279" r:id="rId23"/>
    <p:sldId id="280" r:id="rId24"/>
    <p:sldId id="281" r:id="rId25"/>
    <p:sldId id="283" r:id="rId26"/>
    <p:sldId id="296" r:id="rId27"/>
    <p:sldId id="285"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5" d="100"/>
          <a:sy n="65" d="100"/>
        </p:scale>
        <p:origin x="-1524" y="-114"/>
      </p:cViewPr>
      <p:guideLst>
        <p:guide orient="horz" pos="2162"/>
        <p:guide pos="287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EF0389-BBBE-47BD-84E2-4787B0BFFCE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5AB8A5-83D2-478F-9225-F6F5B115E0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0C913308-F349-4B6D-A68A-DD1791B4A57B}" type="slidenum">
              <a:rPr lang="zh-CN" altLang="en-US" smtClean="0"/>
            </a:fld>
            <a:endParaRPr lang="zh-CN" alt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zh-CN" altLang="en-US" smtClean="0"/>
              <a:t>单击此处编辑母版标题样式</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zh-CN" alt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Date Placeholder 3"/>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5" name="Footer Placeholder 4"/>
          <p:cNvSpPr>
            <a:spLocks noGrp="1"/>
          </p:cNvSpPr>
          <p:nvPr>
            <p:ph type="ftr" sz="quarter" idx="11"/>
          </p:nvPr>
        </p:nvSpPr>
        <p:spPr/>
        <p:txBody>
          <a:bodyPr/>
          <a:lstStyle/>
          <a:p>
            <a:endParaRPr lang="zh-CN" altLang="en-US">
              <a:solidFill>
                <a:srgbClr val="1F497D"/>
              </a:solidFill>
            </a:endParaRPr>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0C913308-F349-4B6D-A68A-DD1791B4A57B}" type="slidenum">
              <a:rPr lang="zh-CN" altLang="en-US" smtClean="0">
                <a:solidFill>
                  <a:srgbClr val="4F81BD">
                    <a:lumMod val="50000"/>
                  </a:srgbClr>
                </a:solidFill>
              </a:rPr>
            </a:fld>
            <a:endParaRPr lang="zh-CN" altLang="en-US">
              <a:solidFill>
                <a:srgbClr val="4F81BD">
                  <a:lumMod val="50000"/>
                </a:srgbClr>
              </a:solidFill>
            </a:endParaRPr>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5" name="Footer Placeholder 4"/>
          <p:cNvSpPr>
            <a:spLocks noGrp="1"/>
          </p:cNvSpPr>
          <p:nvPr>
            <p:ph type="ftr" sz="quarter" idx="11"/>
          </p:nvPr>
        </p:nvSpPr>
        <p:spPr/>
        <p:txBody>
          <a:bodyPr/>
          <a:lstStyle/>
          <a:p>
            <a:endParaRPr lang="zh-CN" altLang="en-US">
              <a:solidFill>
                <a:srgbClr val="1F497D"/>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Date Placeholder 3"/>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Footer Placeholder 4"/>
          <p:cNvSpPr>
            <a:spLocks noGrp="1"/>
          </p:cNvSpPr>
          <p:nvPr>
            <p:ph type="ftr" sz="quarter" idx="11"/>
          </p:nvPr>
        </p:nvSpPr>
        <p:spPr/>
        <p:txBody>
          <a:bodyPr/>
          <a:lstStyle/>
          <a:p>
            <a:endParaRPr lang="zh-CN" altLang="en-US">
              <a:solidFill>
                <a:srgbClr val="1F497D"/>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zh-CN" altLang="en-US" smtClean="0"/>
              <a:t>单击此处编辑母版标题样式</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6" name="Footer Placeholder 5"/>
          <p:cNvSpPr>
            <a:spLocks noGrp="1"/>
          </p:cNvSpPr>
          <p:nvPr>
            <p:ph type="ftr" sz="quarter" idx="11"/>
          </p:nvPr>
        </p:nvSpPr>
        <p:spPr/>
        <p:txBody>
          <a:bodyPr/>
          <a:lstStyle/>
          <a:p>
            <a:endParaRPr lang="zh-CN" altLang="en-US">
              <a:solidFill>
                <a:srgbClr val="1F497D"/>
              </a:solidFill>
            </a:endParaRP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8" name="Footer Placeholder 7"/>
          <p:cNvSpPr>
            <a:spLocks noGrp="1"/>
          </p:cNvSpPr>
          <p:nvPr>
            <p:ph type="ftr" sz="quarter" idx="11"/>
          </p:nvPr>
        </p:nvSpPr>
        <p:spPr/>
        <p:txBody>
          <a:bodyPr/>
          <a:lstStyle/>
          <a:p>
            <a:endParaRPr lang="zh-CN" altLang="en-US">
              <a:solidFill>
                <a:srgbClr val="1F497D"/>
              </a:solidFill>
            </a:endParaRPr>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4" name="Footer Placeholder 3"/>
          <p:cNvSpPr>
            <a:spLocks noGrp="1"/>
          </p:cNvSpPr>
          <p:nvPr>
            <p:ph type="ftr" sz="quarter" idx="11"/>
          </p:nvPr>
        </p:nvSpPr>
        <p:spPr/>
        <p:txBody>
          <a:bodyPr/>
          <a:lstStyle/>
          <a:p>
            <a:endParaRPr lang="zh-CN" altLang="en-US">
              <a:solidFill>
                <a:srgbClr val="1F497D"/>
              </a:solidFill>
            </a:endParaRPr>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Date Placeholder 1"/>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3" name="Footer Placeholder 2"/>
          <p:cNvSpPr>
            <a:spLocks noGrp="1"/>
          </p:cNvSpPr>
          <p:nvPr>
            <p:ph type="ftr" sz="quarter" idx="11"/>
          </p:nvPr>
        </p:nvSpPr>
        <p:spPr/>
        <p:txBody>
          <a:bodyPr/>
          <a:lstStyle/>
          <a:p>
            <a:endParaRPr lang="zh-CN" altLang="en-US">
              <a:solidFill>
                <a:srgbClr val="1F497D"/>
              </a:solidFill>
            </a:endParaRPr>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6" name="Footer Placeholder 5"/>
          <p:cNvSpPr>
            <a:spLocks noGrp="1"/>
          </p:cNvSpPr>
          <p:nvPr>
            <p:ph type="ftr" sz="quarter" idx="11"/>
          </p:nvPr>
        </p:nvSpPr>
        <p:spPr/>
        <p:txBody>
          <a:bodyPr/>
          <a:lstStyle/>
          <a:p>
            <a:endParaRPr lang="zh-CN" altLang="en-US">
              <a:solidFill>
                <a:srgbClr val="1F497D"/>
              </a:solidFill>
            </a:endParaRP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Footer Placeholder 5"/>
          <p:cNvSpPr>
            <a:spLocks noGrp="1"/>
          </p:cNvSpPr>
          <p:nvPr>
            <p:ph type="ftr" sz="quarter" idx="11"/>
          </p:nvPr>
        </p:nvSpPr>
        <p:spPr/>
        <p:txBody>
          <a:bodyPr/>
          <a:lstStyle/>
          <a:p>
            <a:endParaRPr lang="zh-CN" altLang="en-US">
              <a:solidFill>
                <a:srgbClr val="1F497D"/>
              </a:solidFill>
            </a:endParaRPr>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5" name="Footer Placeholder 4"/>
          <p:cNvSpPr>
            <a:spLocks noGrp="1"/>
          </p:cNvSpPr>
          <p:nvPr>
            <p:ph type="ftr" sz="quarter" idx="11"/>
          </p:nvPr>
        </p:nvSpPr>
        <p:spPr/>
        <p:txBody>
          <a:bodyPr/>
          <a:lstStyle/>
          <a:p>
            <a:endParaRPr lang="zh-CN" altLang="en-US">
              <a:solidFill>
                <a:srgbClr val="1F497D"/>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Vertical Title 1"/>
          <p:cNvSpPr>
            <a:spLocks noGrp="1"/>
          </p:cNvSpPr>
          <p:nvPr>
            <p:ph type="title" orient="vert"/>
          </p:nvPr>
        </p:nvSpPr>
        <p:spPr>
          <a:xfrm>
            <a:off x="7048577" y="395427"/>
            <a:ext cx="1485531" cy="578898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5" name="Footer Placeholder 4"/>
          <p:cNvSpPr>
            <a:spLocks noGrp="1"/>
          </p:cNvSpPr>
          <p:nvPr>
            <p:ph type="ftr" sz="quarter" idx="11"/>
          </p:nvPr>
        </p:nvSpPr>
        <p:spPr/>
        <p:txBody>
          <a:bodyPr/>
          <a:lstStyle/>
          <a:p>
            <a:endParaRPr lang="zh-CN" altLang="en-US">
              <a:solidFill>
                <a:srgbClr val="1F497D"/>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srgbClr val="1F497D"/>
                </a:solidFill>
              </a:rPr>
            </a:fld>
            <a:endParaRPr lang="zh-CN" altLang="en-US">
              <a:solidFill>
                <a:srgbClr val="1F497D"/>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0C913308-F349-4B6D-A68A-DD1791B4A57B}" type="slidenum">
              <a:rPr lang="zh-CN" altLang="en-US" smtClean="0"/>
            </a:fld>
            <a:endParaRPr lang="zh-CN" alt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530820CF-B880-4189-942D-D702A7CBA730}" type="datetimeFigureOut">
              <a:rPr lang="zh-CN" altLang="en-US" smtClean="0">
                <a:solidFill>
                  <a:srgbClr val="1F497D"/>
                </a:solidFill>
              </a:rPr>
            </a:fld>
            <a:endParaRPr lang="zh-CN" altLang="en-US">
              <a:solidFill>
                <a:srgbClr val="1F497D"/>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solidFill>
                <a:srgbClr val="1F497D"/>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0C913308-F349-4B6D-A68A-DD1791B4A57B}" type="slidenum">
              <a:rPr lang="zh-CN" altLang="en-US" smtClean="0">
                <a:solidFill>
                  <a:srgbClr val="1F497D"/>
                </a:solidFill>
              </a:rPr>
            </a:fld>
            <a:endParaRPr lang="zh-CN" altLang="en-US">
              <a:solidFill>
                <a:srgbClr val="1F497D"/>
              </a:solidFill>
            </a:endParaRPr>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8.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8.xml"/><Relationship Id="rId2" Type="http://schemas.openxmlformats.org/officeDocument/2006/relationships/image" Target="../media/image3.e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04520" y="3021965"/>
            <a:ext cx="6629400" cy="1332865"/>
          </a:xfrm>
        </p:spPr>
        <p:txBody>
          <a:bodyPr/>
          <a:lstStyle/>
          <a:p>
            <a:r>
              <a:rPr lang="en-US" altLang="zh-CN" sz="2800" b="1" dirty="0">
                <a:latin typeface="Times New Roman" panose="02020603050405020304" charset="0"/>
                <a:cs typeface="Times New Roman" panose="02020603050405020304" charset="0"/>
              </a:rPr>
              <a:t>Chapter 1 Overview of International Organizations</a:t>
            </a:r>
            <a:endParaRPr lang="en-US" altLang="zh-CN" sz="2800" b="1"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736600" y="2882265"/>
            <a:ext cx="7696200" cy="1613535"/>
          </a:xfrm>
        </p:spPr>
        <p:txBody>
          <a:bodyPr/>
          <a:lstStyle/>
          <a:p>
            <a:r>
              <a:rPr lang="en-US" altLang="zh-CN" sz="2800" dirty="0" smtClean="0"/>
              <a:t>Section </a:t>
            </a:r>
            <a:r>
              <a:rPr lang="en-US" altLang="zh-CN" sz="2800" dirty="0" smtClean="0"/>
              <a:t>one Concept and Composition of International Organizations</a:t>
            </a:r>
            <a:endParaRPr lang="zh-CN" alt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olidFill>
                  <a:schemeClr val="accent1">
                    <a:lumMod val="50000"/>
                  </a:schemeClr>
                </a:solidFill>
              </a:rPr>
              <a:t>I. The Concept of International Organizations  </a:t>
            </a:r>
            <a:endParaRPr lang="en-US" altLang="zh-CN" dirty="0">
              <a:solidFill>
                <a:schemeClr val="accent1">
                  <a:lumMod val="50000"/>
                </a:schemeClr>
              </a:solidFill>
            </a:endParaRPr>
          </a:p>
        </p:txBody>
      </p:sp>
      <p:sp>
        <p:nvSpPr>
          <p:cNvPr id="3" name="内容占位符 2"/>
          <p:cNvSpPr>
            <a:spLocks noGrp="1"/>
          </p:cNvSpPr>
          <p:nvPr>
            <p:ph idx="1"/>
          </p:nvPr>
        </p:nvSpPr>
        <p:spPr/>
        <p:txBody>
          <a:bodyPr>
            <a:normAutofit lnSpcReduction="20000"/>
          </a:bodyPr>
          <a:lstStyle/>
          <a:p>
            <a:pPr marL="114300" indent="0">
              <a:buNone/>
            </a:pPr>
            <a:r>
              <a:rPr lang="en-US" altLang="zh-CN" sz="2200" dirty="0"/>
              <a:t>A. Definitions across disciplines </a:t>
            </a:r>
            <a:endParaRPr lang="en-US" altLang="zh-CN" sz="2200" dirty="0"/>
          </a:p>
          <a:p>
            <a:pPr marL="114300" indent="0">
              <a:buNone/>
            </a:pPr>
            <a:endParaRPr lang="en-US" altLang="zh-CN" sz="2200" dirty="0"/>
          </a:p>
          <a:p>
            <a:pPr marL="114300" indent="0">
              <a:buNone/>
            </a:pPr>
            <a:r>
              <a:rPr lang="en-US" altLang="zh-CN" sz="2200" dirty="0"/>
              <a:t>(1) International Law</a:t>
            </a:r>
            <a:endParaRPr lang="en-US" altLang="zh-CN" sz="2200" dirty="0"/>
          </a:p>
          <a:p>
            <a:pPr marL="114300" indent="0">
              <a:buNone/>
            </a:pPr>
            <a:r>
              <a:rPr lang="en-US" altLang="zh-CN" sz="2200" dirty="0"/>
              <a:t>Emphasizes that an international organization is a subject of international law—a legal and institutional form of cooperation among states—endowed with the capacity to bear international rights and obligations.  </a:t>
            </a:r>
            <a:endParaRPr lang="en-US" altLang="zh-CN" sz="2200" dirty="0"/>
          </a:p>
          <a:p>
            <a:pPr marL="114300" indent="0">
              <a:buNone/>
            </a:pPr>
            <a:endParaRPr lang="en-US" altLang="zh-CN" sz="2200" dirty="0"/>
          </a:p>
          <a:p>
            <a:pPr marL="114300" indent="0">
              <a:buNone/>
            </a:pPr>
            <a:r>
              <a:rPr lang="en-US" altLang="zh-CN" sz="2200" dirty="0"/>
              <a:t>(2) International Relations</a:t>
            </a:r>
            <a:endParaRPr lang="en-US" altLang="zh-CN" sz="2200" dirty="0"/>
          </a:p>
          <a:p>
            <a:pPr marL="114300" indent="0">
              <a:buNone/>
            </a:pPr>
            <a:r>
              <a:rPr lang="en-US" altLang="zh-CN" sz="2200" dirty="0"/>
              <a:t>Focuses on the behavior and outcomes of international organizations, viewing them as instruments for advancing national interests, tools of international interaction, and effective channels for cooperation. As a new and increasingly important actor, an IO shapes the organizational evolution of international society.</a:t>
            </a:r>
            <a:endParaRPr lang="en-US" altLang="zh-CN" sz="2200" dirty="0"/>
          </a:p>
          <a:p>
            <a:pPr marL="114300" indent="0">
              <a:buNone/>
            </a:pPr>
            <a:endParaRPr lang="en-US" altLang="zh-CN" sz="2200" dirty="0" smtClean="0"/>
          </a:p>
          <a:p>
            <a:pPr marL="114300" indent="0">
              <a:buNone/>
            </a:pPr>
            <a:endParaRPr lang="en-US" altLang="zh-CN" sz="2200" dirty="0"/>
          </a:p>
          <a:p>
            <a:pPr marL="114300" indent="0">
              <a:buNone/>
            </a:pPr>
            <a:endParaRPr lang="en-US" altLang="zh-CN" sz="22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olidFill>
                  <a:schemeClr val="accent1">
                    <a:lumMod val="50000"/>
                  </a:schemeClr>
                </a:solidFill>
              </a:rPr>
              <a:t>I. The Concept of International Organizations  </a:t>
            </a:r>
            <a:endParaRPr lang="en-US" altLang="zh-CN" dirty="0">
              <a:solidFill>
                <a:schemeClr val="accent1">
                  <a:lumMod val="50000"/>
                </a:schemeClr>
              </a:solidFill>
            </a:endParaRPr>
          </a:p>
        </p:txBody>
      </p:sp>
      <p:sp>
        <p:nvSpPr>
          <p:cNvPr id="3" name="内容占位符 2"/>
          <p:cNvSpPr>
            <a:spLocks noGrp="1"/>
          </p:cNvSpPr>
          <p:nvPr>
            <p:ph idx="1"/>
          </p:nvPr>
        </p:nvSpPr>
        <p:spPr>
          <a:xfrm>
            <a:off x="330200" y="1752600"/>
            <a:ext cx="8528685" cy="4972685"/>
          </a:xfrm>
        </p:spPr>
        <p:txBody>
          <a:bodyPr>
            <a:normAutofit fontScale="25000"/>
          </a:bodyPr>
          <a:lstStyle/>
          <a:p>
            <a:pPr marL="114300" indent="0">
              <a:buNone/>
            </a:pPr>
            <a:r>
              <a:rPr lang="en-US" altLang="zh-CN" sz="8000" dirty="0">
                <a:solidFill>
                  <a:schemeClr val="accent1">
                    <a:lumMod val="50000"/>
                  </a:schemeClr>
                </a:solidFill>
              </a:rPr>
              <a:t>B. Broad vs. narrow definitions  </a:t>
            </a:r>
            <a:endParaRPr lang="en-US" altLang="zh-CN" sz="8000" dirty="0">
              <a:solidFill>
                <a:schemeClr val="accent1">
                  <a:lumMod val="50000"/>
                </a:schemeClr>
              </a:solidFill>
            </a:endParaRPr>
          </a:p>
          <a:p>
            <a:pPr marL="114300" indent="0">
              <a:buNone/>
            </a:pPr>
            <a:endParaRPr lang="en-US" altLang="zh-CN" sz="8000" dirty="0">
              <a:solidFill>
                <a:schemeClr val="accent1">
                  <a:lumMod val="50000"/>
                </a:schemeClr>
              </a:solidFill>
            </a:endParaRPr>
          </a:p>
          <a:p>
            <a:pPr marL="114300" indent="0">
              <a:buNone/>
            </a:pPr>
            <a:r>
              <a:rPr lang="en-US" altLang="zh-CN" sz="8000" dirty="0">
                <a:solidFill>
                  <a:schemeClr val="accent1">
                    <a:lumMod val="50000"/>
                  </a:schemeClr>
                </a:solidFill>
              </a:rPr>
              <a:t>(1) Broad definition:  </a:t>
            </a:r>
            <a:endParaRPr lang="en-US" altLang="zh-CN" sz="8000" dirty="0">
              <a:solidFill>
                <a:schemeClr val="accent1">
                  <a:lumMod val="50000"/>
                </a:schemeClr>
              </a:solidFill>
            </a:endParaRPr>
          </a:p>
          <a:p>
            <a:pPr marL="114300" indent="0">
              <a:buNone/>
            </a:pPr>
            <a:r>
              <a:rPr lang="en-US" altLang="zh-CN" sz="8000" dirty="0">
                <a:solidFill>
                  <a:schemeClr val="accent1">
                    <a:lumMod val="50000"/>
                  </a:schemeClr>
                </a:solidFill>
              </a:rPr>
              <a:t>Any multilateral body that transcends national boundaries and aims to promote international cooperation and understanding. As long as two or more states, their governmental or non-governmental entities, or even individuals establish an institution through some form of agreement for a given purpose, it counts as an international organization. This category encompasses inter-governmental organizations, non-governmental organizations, and transnational corporations.  </a:t>
            </a:r>
            <a:endParaRPr lang="en-US" altLang="zh-CN" sz="8000" dirty="0">
              <a:solidFill>
                <a:schemeClr val="accent1">
                  <a:lumMod val="50000"/>
                </a:schemeClr>
              </a:solidFill>
            </a:endParaRPr>
          </a:p>
          <a:p>
            <a:pPr marL="114300" indent="0">
              <a:buNone/>
            </a:pPr>
            <a:r>
              <a:rPr lang="en-US" altLang="zh-CN" sz="8000" dirty="0">
                <a:solidFill>
                  <a:schemeClr val="accent1">
                    <a:lumMod val="50000"/>
                  </a:schemeClr>
                </a:solidFill>
              </a:rPr>
              <a:t>(2) Narrow definition:  </a:t>
            </a:r>
            <a:endParaRPr lang="en-US" altLang="zh-CN" sz="8000" dirty="0">
              <a:solidFill>
                <a:schemeClr val="accent1">
                  <a:lumMod val="50000"/>
                </a:schemeClr>
              </a:solidFill>
            </a:endParaRPr>
          </a:p>
          <a:p>
            <a:pPr marL="114300" indent="0">
              <a:buNone/>
            </a:pPr>
            <a:r>
              <a:rPr lang="en-US" altLang="zh-CN" sz="8000" dirty="0">
                <a:solidFill>
                  <a:schemeClr val="accent1">
                    <a:lumMod val="50000"/>
                  </a:schemeClr>
                </a:solidFill>
              </a:rPr>
              <a:t>An organization in the sense of international law: a permanent system or body created by member governments through an agreement that conforms to international law in order to pursue specific objectives of common interest—namely, an inter-governmental organization endowed with the capacity to bear international rights and obligations.</a:t>
            </a:r>
            <a:endParaRPr lang="en-US" altLang="zh-CN" sz="8000" dirty="0">
              <a:solidFill>
                <a:schemeClr val="accent1">
                  <a:lumMod val="50000"/>
                </a:schemeClr>
              </a:solidFill>
            </a:endParaRPr>
          </a:p>
          <a:p>
            <a:pPr marL="114300" indent="0">
              <a:buNone/>
            </a:pPr>
            <a:endParaRPr lang="en-US" altLang="zh-CN" sz="2200" dirty="0" smtClean="0">
              <a:solidFill>
                <a:schemeClr val="accent1">
                  <a:lumMod val="50000"/>
                </a:schemeClr>
              </a:solidFill>
            </a:endParaRPr>
          </a:p>
          <a:p>
            <a:pPr marL="114300" indent="0">
              <a:buNone/>
            </a:pPr>
            <a:endParaRPr lang="en-US" altLang="zh-CN" sz="2200" dirty="0">
              <a:solidFill>
                <a:schemeClr val="accent1">
                  <a:lumMod val="50000"/>
                </a:schemeClr>
              </a:solidFill>
            </a:endParaRPr>
          </a:p>
          <a:p>
            <a:pPr marL="114300" indent="0">
              <a:buNone/>
            </a:pPr>
            <a:endParaRPr lang="en-US" altLang="zh-CN" sz="2200" dirty="0" smtClean="0">
              <a:solidFill>
                <a:schemeClr val="accent1">
                  <a:lumMod val="5000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olidFill>
                  <a:schemeClr val="accent1">
                    <a:lumMod val="50000"/>
                  </a:schemeClr>
                </a:solidFill>
                <a:sym typeface="+mn-ea"/>
              </a:rPr>
              <a:t>I. The Concept of International Organizations  </a:t>
            </a:r>
            <a:endParaRPr lang="zh-CN" altLang="en-US" dirty="0">
              <a:solidFill>
                <a:schemeClr val="accent1">
                  <a:lumMod val="50000"/>
                </a:schemeClr>
              </a:solidFill>
            </a:endParaRPr>
          </a:p>
        </p:txBody>
      </p:sp>
      <p:sp>
        <p:nvSpPr>
          <p:cNvPr id="3" name="内容占位符 2"/>
          <p:cNvSpPr>
            <a:spLocks noGrp="1"/>
          </p:cNvSpPr>
          <p:nvPr>
            <p:ph idx="1"/>
          </p:nvPr>
        </p:nvSpPr>
        <p:spPr>
          <a:xfrm>
            <a:off x="457200" y="1752600"/>
            <a:ext cx="8229600" cy="4782185"/>
          </a:xfrm>
        </p:spPr>
        <p:txBody>
          <a:bodyPr>
            <a:normAutofit fontScale="90000" lnSpcReduction="10000"/>
          </a:bodyPr>
          <a:lstStyle/>
          <a:p>
            <a:pPr marL="114300" indent="0">
              <a:buNone/>
            </a:pPr>
            <a:endParaRPr lang="en-US" altLang="zh-CN" dirty="0" smtClean="0">
              <a:solidFill>
                <a:schemeClr val="accent1">
                  <a:lumMod val="50000"/>
                </a:schemeClr>
              </a:solidFill>
              <a:latin typeface="+mj-ea"/>
              <a:ea typeface="+mj-ea"/>
            </a:endParaRPr>
          </a:p>
          <a:p>
            <a:pPr marL="114300" indent="0">
              <a:buNone/>
            </a:pPr>
            <a:r>
              <a:rPr lang="en-US" altLang="zh-CN" sz="1600" dirty="0" smtClean="0">
                <a:solidFill>
                  <a:schemeClr val="accent1">
                    <a:lumMod val="50000"/>
                  </a:schemeClr>
                </a:solidFill>
              </a:rPr>
              <a:t>  </a:t>
            </a:r>
            <a:r>
              <a:rPr lang="en-US" altLang="zh-CN" dirty="0" smtClean="0">
                <a:solidFill>
                  <a:schemeClr val="accent1">
                    <a:lumMod val="50000"/>
                  </a:schemeClr>
                </a:solidFill>
              </a:rPr>
              <a:t> C. External characteristics  </a:t>
            </a:r>
            <a:endParaRPr lang="en-US" altLang="zh-CN" dirty="0" smtClean="0">
              <a:solidFill>
                <a:schemeClr val="accent1">
                  <a:lumMod val="50000"/>
                </a:schemeClr>
              </a:solidFill>
            </a:endParaRPr>
          </a:p>
          <a:p>
            <a:pPr marL="114300" indent="0">
              <a:buNone/>
            </a:pPr>
            <a:endParaRPr lang="en-US" altLang="zh-CN" sz="1600" dirty="0" smtClean="0">
              <a:solidFill>
                <a:schemeClr val="accent1">
                  <a:lumMod val="50000"/>
                </a:schemeClr>
              </a:solidFill>
            </a:endParaRPr>
          </a:p>
          <a:p>
            <a:pPr marL="114300" indent="0">
              <a:buNone/>
            </a:pPr>
            <a:r>
              <a:rPr lang="en-US" altLang="zh-CN" sz="2200" dirty="0">
                <a:solidFill>
                  <a:schemeClr val="accent1">
                    <a:lumMod val="50000"/>
                  </a:schemeClr>
                </a:solidFill>
              </a:rPr>
              <a:t>(1) Internationality: operates between, not above, states.  </a:t>
            </a:r>
            <a:endParaRPr lang="en-US" altLang="zh-CN" sz="2200" dirty="0">
              <a:solidFill>
                <a:schemeClr val="accent1">
                  <a:lumMod val="50000"/>
                </a:schemeClr>
              </a:solidFill>
            </a:endParaRPr>
          </a:p>
          <a:p>
            <a:pPr marL="114300" indent="0">
              <a:buNone/>
            </a:pPr>
            <a:r>
              <a:rPr lang="en-US" altLang="zh-CN" sz="2200" dirty="0">
                <a:solidFill>
                  <a:schemeClr val="accent1">
                    <a:lumMod val="50000"/>
                  </a:schemeClr>
                </a:solidFill>
              </a:rPr>
              <a:t>An international organization is essentially a non-hierarchical body erected on the sovereignty-based system that prevails in an anarchic international environment; it is neither a world government nor a supranational authority, but an inter-state institution and a modality for inter-state cooperation.  </a:t>
            </a:r>
            <a:endParaRPr lang="en-US" altLang="zh-CN" sz="2200" dirty="0">
              <a:solidFill>
                <a:schemeClr val="accent1">
                  <a:lumMod val="50000"/>
                </a:schemeClr>
              </a:solidFill>
            </a:endParaRPr>
          </a:p>
          <a:p>
            <a:pPr marL="114300" indent="0">
              <a:buNone/>
            </a:pPr>
            <a:endParaRPr lang="en-US" altLang="zh-CN" sz="2200" dirty="0">
              <a:solidFill>
                <a:schemeClr val="accent1">
                  <a:lumMod val="50000"/>
                </a:schemeClr>
              </a:solidFill>
            </a:endParaRPr>
          </a:p>
          <a:p>
            <a:pPr marL="114300" indent="0">
              <a:buNone/>
            </a:pPr>
            <a:r>
              <a:rPr lang="en-US" altLang="zh-CN" sz="2200" dirty="0">
                <a:solidFill>
                  <a:schemeClr val="accent1">
                    <a:lumMod val="50000"/>
                  </a:schemeClr>
                </a:solidFill>
              </a:rPr>
              <a:t>(2) Institutionalization: possesses permanent organs and operating rules.  </a:t>
            </a:r>
            <a:endParaRPr lang="en-US" altLang="zh-CN" sz="2200" dirty="0">
              <a:solidFill>
                <a:schemeClr val="accent1">
                  <a:lumMod val="50000"/>
                </a:schemeClr>
              </a:solidFill>
            </a:endParaRPr>
          </a:p>
          <a:p>
            <a:pPr marL="114300" indent="0">
              <a:buNone/>
            </a:pPr>
            <a:r>
              <a:rPr lang="en-US" altLang="zh-CN" sz="2200" dirty="0">
                <a:solidFill>
                  <a:schemeClr val="accent1">
                    <a:lumMod val="50000"/>
                  </a:schemeClr>
                </a:solidFill>
              </a:rPr>
              <a:t>- Permanent organs give the organization durability and a measure of autonomy.  </a:t>
            </a:r>
            <a:endParaRPr lang="en-US" altLang="zh-CN" sz="2200" dirty="0">
              <a:solidFill>
                <a:schemeClr val="accent1">
                  <a:lumMod val="50000"/>
                </a:schemeClr>
              </a:solidFill>
            </a:endParaRPr>
          </a:p>
          <a:p>
            <a:pPr marL="114300" indent="0">
              <a:buNone/>
            </a:pPr>
            <a:r>
              <a:rPr lang="en-US" altLang="zh-CN" sz="2200" dirty="0">
                <a:solidFill>
                  <a:schemeClr val="accent1">
                    <a:lumMod val="50000"/>
                  </a:schemeClr>
                </a:solidFill>
              </a:rPr>
              <a:t>- Operating rules enable it to carry out actions within its competence and to bind its members.</a:t>
            </a:r>
            <a:endParaRPr lang="en-US" altLang="zh-CN" sz="2200" dirty="0">
              <a:solidFill>
                <a:schemeClr val="accent1">
                  <a:lumMod val="50000"/>
                </a:schemeClr>
              </a:solidFill>
            </a:endParaRPr>
          </a:p>
          <a:p>
            <a:pPr marL="114300" indent="0">
              <a:buNone/>
            </a:pPr>
            <a:endParaRPr lang="en-US" altLang="zh-CN" sz="2200" dirty="0" smtClean="0">
              <a:solidFill>
                <a:schemeClr val="accent1">
                  <a:lumMod val="50000"/>
                </a:schemeClr>
              </a:solidFill>
            </a:endParaRPr>
          </a:p>
          <a:p>
            <a:pPr marL="114300" indent="0">
              <a:buNone/>
            </a:pPr>
            <a:endParaRPr lang="en-US" altLang="zh-CN" sz="2200" dirty="0">
              <a:solidFill>
                <a:schemeClr val="accent1">
                  <a:lumMod val="50000"/>
                </a:schemeClr>
              </a:solidFill>
            </a:endParaRPr>
          </a:p>
          <a:p>
            <a:pPr marL="114300" indent="0">
              <a:buNone/>
            </a:pPr>
            <a:endParaRPr lang="en-US" altLang="zh-CN" sz="2200" dirty="0" smtClean="0">
              <a:solidFill>
                <a:schemeClr val="accent1">
                  <a:lumMod val="50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600" dirty="0">
                <a:solidFill>
                  <a:schemeClr val="accent1">
                    <a:lumMod val="50000"/>
                  </a:schemeClr>
                </a:solidFill>
                <a:sym typeface="+mn-ea"/>
              </a:rPr>
              <a:t>I. The Concept of International Organizations  </a:t>
            </a:r>
            <a:endParaRPr lang="zh-CN" altLang="en-US" sz="3600" dirty="0"/>
          </a:p>
        </p:txBody>
      </p:sp>
      <p:sp>
        <p:nvSpPr>
          <p:cNvPr id="3" name="内容占位符 2"/>
          <p:cNvSpPr>
            <a:spLocks noGrp="1"/>
          </p:cNvSpPr>
          <p:nvPr>
            <p:ph idx="1"/>
          </p:nvPr>
        </p:nvSpPr>
        <p:spPr>
          <a:xfrm>
            <a:off x="457200" y="1752600"/>
            <a:ext cx="8229600" cy="4561840"/>
          </a:xfrm>
        </p:spPr>
        <p:txBody>
          <a:bodyPr>
            <a:normAutofit fontScale="50000"/>
          </a:bodyPr>
          <a:lstStyle/>
          <a:p>
            <a:pPr marL="114300" indent="0">
              <a:lnSpc>
                <a:spcPct val="150000"/>
              </a:lnSpc>
              <a:buNone/>
            </a:pPr>
            <a:r>
              <a:rPr lang="en-US" altLang="zh-CN" sz="4000" dirty="0"/>
              <a:t>D. International Organizations vs. International Conferences  </a:t>
            </a:r>
            <a:endParaRPr lang="en-US" altLang="zh-CN" sz="4000" dirty="0"/>
          </a:p>
          <a:p>
            <a:pPr marL="114300" indent="0">
              <a:lnSpc>
                <a:spcPct val="150000"/>
              </a:lnSpc>
              <a:buNone/>
            </a:pPr>
            <a:endParaRPr lang="en-US" altLang="zh-CN" dirty="0"/>
          </a:p>
          <a:p>
            <a:pPr marL="114300" indent="0">
              <a:lnSpc>
                <a:spcPct val="150000"/>
              </a:lnSpc>
              <a:buNone/>
            </a:pPr>
            <a:r>
              <a:rPr lang="en-US" altLang="zh-CN" sz="4000" dirty="0"/>
              <a:t>International Conference:  </a:t>
            </a:r>
            <a:endParaRPr lang="en-US" altLang="zh-CN" sz="4000" dirty="0"/>
          </a:p>
          <a:p>
            <a:pPr marL="114300" indent="0">
              <a:lnSpc>
                <a:spcPct val="150000"/>
              </a:lnSpc>
              <a:buNone/>
            </a:pPr>
            <a:r>
              <a:rPr lang="en-US" altLang="zh-CN" sz="4000" dirty="0"/>
              <a:t>A gathering convened by states to discuss issues of mutual concern, coordinate interests, and seek or adopt joint action—such as adopting resolutions, reaching agreements, or concluding treaties—through dispatched representatives.  </a:t>
            </a:r>
            <a:endParaRPr lang="en-US" altLang="zh-CN" sz="4000" dirty="0"/>
          </a:p>
          <a:p>
            <a:pPr marL="114300" indent="0">
              <a:lnSpc>
                <a:spcPct val="150000"/>
              </a:lnSpc>
              <a:buNone/>
            </a:pPr>
            <a:r>
              <a:rPr lang="en-US" altLang="zh-CN" sz="4000" dirty="0"/>
              <a:t>Key difference from an international organization:  </a:t>
            </a:r>
            <a:endParaRPr lang="en-US" altLang="zh-CN" sz="4000" dirty="0"/>
          </a:p>
          <a:p>
            <a:pPr marL="114300" indent="0">
              <a:lnSpc>
                <a:spcPct val="150000"/>
              </a:lnSpc>
              <a:buNone/>
            </a:pPr>
            <a:r>
              <a:rPr lang="en-US" altLang="zh-CN" sz="4000" dirty="0"/>
              <a:t>It has no permanent organs.</a:t>
            </a:r>
            <a:endParaRPr lang="en-US" altLang="zh-CN" sz="4000" dirty="0"/>
          </a:p>
          <a:p>
            <a:pPr marL="114300" indent="0">
              <a:buNone/>
              <a:tabLst>
                <a:tab pos="628650" algn="l"/>
              </a:tabLst>
            </a:pPr>
            <a:endParaRPr lang="zh-CN" altLang="en-US" sz="4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 The Concept of International Organizations </a:t>
            </a:r>
            <a:endParaRPr lang="en-US" altLang="zh-CN"/>
          </a:p>
        </p:txBody>
      </p:sp>
      <p:sp>
        <p:nvSpPr>
          <p:cNvPr id="3" name="内容占位符 2"/>
          <p:cNvSpPr>
            <a:spLocks noGrp="1"/>
          </p:cNvSpPr>
          <p:nvPr>
            <p:ph idx="1"/>
          </p:nvPr>
        </p:nvSpPr>
        <p:spPr>
          <a:xfrm>
            <a:off x="255270" y="1752600"/>
            <a:ext cx="8699500" cy="4787900"/>
          </a:xfrm>
        </p:spPr>
        <p:txBody>
          <a:bodyPr>
            <a:noAutofit/>
          </a:bodyPr>
          <a:p>
            <a:r>
              <a:rPr lang="en-US" altLang="zh-CN" sz="1800"/>
              <a:t>E. International Organizations vs. International Institutions and International Regimes  </a:t>
            </a:r>
            <a:endParaRPr lang="en-US" altLang="zh-CN" sz="1800"/>
          </a:p>
          <a:p>
            <a:r>
              <a:rPr lang="en-US" altLang="zh-CN" sz="1800"/>
              <a:t>Narrow sense:  </a:t>
            </a:r>
            <a:endParaRPr lang="en-US" altLang="zh-CN" sz="1800"/>
          </a:p>
          <a:p>
            <a:r>
              <a:rPr lang="en-US" altLang="zh-CN" sz="1800"/>
              <a:t>Denotes the cluster of implicit and explicit principles, norms, rules, and decision-making procedures around which actor expectations converge in a given area of international relations.  </a:t>
            </a:r>
            <a:endParaRPr lang="en-US" altLang="zh-CN" sz="1800"/>
          </a:p>
          <a:p>
            <a:r>
              <a:rPr lang="en-US" altLang="zh-CN" sz="1800"/>
              <a:t>Broad sense:  </a:t>
            </a:r>
            <a:endParaRPr lang="en-US" altLang="zh-CN" sz="1800"/>
          </a:p>
          <a:p>
            <a:r>
              <a:rPr lang="en-US" altLang="zh-CN" sz="1800"/>
              <a:t>Encompasses international organizations, international regimes, and customary practices; it is an overarching concept that includes both the normative rule-system and its organizational embodiments.  </a:t>
            </a:r>
            <a:endParaRPr lang="en-US" altLang="zh-CN" sz="1800"/>
          </a:p>
          <a:p>
            <a:r>
              <a:rPr lang="en-US" altLang="zh-CN" sz="1800"/>
              <a:t>Relationship with international organizations:  </a:t>
            </a:r>
            <a:endParaRPr lang="en-US" altLang="zh-CN" sz="1800"/>
          </a:p>
          <a:p>
            <a:r>
              <a:rPr lang="en-US" altLang="zh-CN" sz="1800"/>
              <a:t>- Regimes operate through the physical machinery of international organizations.  </a:t>
            </a:r>
            <a:endParaRPr lang="en-US" altLang="zh-CN" sz="1800"/>
          </a:p>
          <a:p>
            <a:r>
              <a:rPr lang="en-US" altLang="zh-CN" sz="1800"/>
              <a:t>- International organizations act as coordinators, custodians, and supervisors of regimes.  </a:t>
            </a:r>
            <a:endParaRPr lang="en-US" altLang="zh-CN" sz="1800"/>
          </a:p>
          <a:p>
            <a:r>
              <a:rPr lang="en-US" altLang="zh-CN" sz="1800"/>
              <a:t>- Regimes can exist without being anchored in an organizational entity.  </a:t>
            </a:r>
            <a:endParaRPr lang="en-US" altLang="zh-CN" sz="1800"/>
          </a:p>
          <a:p>
            <a:r>
              <a:rPr lang="en-US" altLang="zh-CN" sz="1800"/>
              <a:t>Relationship with international institutions:  </a:t>
            </a:r>
            <a:endParaRPr lang="en-US" altLang="zh-CN" sz="1800"/>
          </a:p>
          <a:p>
            <a:r>
              <a:rPr lang="en-US" altLang="zh-CN" sz="1800"/>
              <a:t>International organizations are one manifestation of international institutions.</a:t>
            </a:r>
            <a:endParaRPr lang="en-US" altLang="zh-CN"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600" dirty="0">
                <a:solidFill>
                  <a:schemeClr val="accent1">
                    <a:lumMod val="50000"/>
                  </a:schemeClr>
                </a:solidFill>
                <a:sym typeface="+mn-ea"/>
              </a:rPr>
              <a:t>I. The Concept of International Organizations </a:t>
            </a:r>
            <a:endParaRPr lang="zh-CN" altLang="en-US" sz="3600" dirty="0"/>
          </a:p>
        </p:txBody>
      </p:sp>
      <p:sp>
        <p:nvSpPr>
          <p:cNvPr id="3" name="内容占位符 2"/>
          <p:cNvSpPr>
            <a:spLocks noGrp="1"/>
          </p:cNvSpPr>
          <p:nvPr>
            <p:ph idx="1"/>
          </p:nvPr>
        </p:nvSpPr>
        <p:spPr>
          <a:xfrm>
            <a:off x="339090" y="1752600"/>
            <a:ext cx="8505825" cy="4683760"/>
          </a:xfrm>
        </p:spPr>
        <p:txBody>
          <a:bodyPr>
            <a:normAutofit fontScale="80000"/>
          </a:bodyPr>
          <a:lstStyle/>
          <a:p>
            <a:pPr marL="114300" indent="0">
              <a:lnSpc>
                <a:spcPct val="150000"/>
              </a:lnSpc>
              <a:buNone/>
            </a:pPr>
            <a:r>
              <a:rPr lang="en-US" altLang="en-US" dirty="0"/>
              <a:t></a:t>
            </a:r>
            <a:r>
              <a:rPr lang="en-US" altLang="zh-CN" dirty="0"/>
              <a:t>F</a:t>
            </a:r>
            <a:r>
              <a:rPr lang="en-US" altLang="zh-CN" dirty="0"/>
              <a:t>. International Organizations and International Morality  </a:t>
            </a:r>
            <a:endParaRPr lang="en-US" altLang="zh-CN" dirty="0"/>
          </a:p>
          <a:p>
            <a:pPr marL="114300" indent="0">
              <a:lnSpc>
                <a:spcPct val="150000"/>
              </a:lnSpc>
              <a:buNone/>
            </a:pPr>
            <a:r>
              <a:rPr lang="en-US" altLang="en-US" dirty="0"/>
              <a:t></a:t>
            </a:r>
            <a:r>
              <a:rPr lang="en-US" altLang="zh-CN" dirty="0"/>
              <a:t>- The emergence and growth of international organizations reflect, to a degree, people’s aspiration for peace, friendly cooperation, and the pursuit of noble political ideals.  </a:t>
            </a:r>
            <a:endParaRPr lang="en-US" altLang="zh-CN" dirty="0"/>
          </a:p>
          <a:p>
            <a:pPr marL="114300" indent="0">
              <a:lnSpc>
                <a:spcPct val="150000"/>
              </a:lnSpc>
              <a:buNone/>
            </a:pPr>
            <a:r>
              <a:rPr lang="en-US" altLang="en-US" dirty="0"/>
              <a:t></a:t>
            </a:r>
            <a:r>
              <a:rPr lang="en-US" altLang="zh-CN" dirty="0"/>
              <a:t>- As international organizations have evolved, cooperation has gradually shifted from an exclusive emphasis on national interests and state sovereignty toward concern for international morality and the shared responsibilities of the international community.  </a:t>
            </a:r>
            <a:endParaRPr lang="en-US" altLang="zh-CN" dirty="0"/>
          </a:p>
          <a:p>
            <a:pPr marL="114300" indent="0">
              <a:lnSpc>
                <a:spcPct val="150000"/>
              </a:lnSpc>
              <a:buNone/>
            </a:pPr>
            <a:r>
              <a:rPr lang="en-US" altLang="en-US" dirty="0"/>
              <a:t></a:t>
            </a:r>
            <a:r>
              <a:rPr lang="en-US" altLang="zh-CN" dirty="0"/>
              <a:t>- Yet the moral priority claimed by international organizations does not imply moral absolutism.</a:t>
            </a:r>
            <a:endParaRPr lang="en-US" altLang="zh-C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dirty="0">
                <a:sym typeface="+mn-ea"/>
              </a:rPr>
              <a:t>II. Constituent Elements of an International Organization</a:t>
            </a:r>
            <a:endParaRPr lang="zh-CN" altLang="en-US"/>
          </a:p>
        </p:txBody>
      </p:sp>
      <p:sp>
        <p:nvSpPr>
          <p:cNvPr id="3" name="内容占位符 2"/>
          <p:cNvSpPr>
            <a:spLocks noGrp="1"/>
          </p:cNvSpPr>
          <p:nvPr>
            <p:ph idx="1"/>
          </p:nvPr>
        </p:nvSpPr>
        <p:spPr>
          <a:xfrm>
            <a:off x="262255" y="1752600"/>
            <a:ext cx="8582025" cy="4853305"/>
          </a:xfrm>
        </p:spPr>
        <p:txBody>
          <a:bodyPr>
            <a:noAutofit/>
          </a:bodyPr>
          <a:p>
            <a:r>
              <a:rPr lang="en-US" altLang="zh-CN" sz="1900" b="1">
                <a:latin typeface="Times New Roman" panose="02020603050405020304" charset="0"/>
                <a:cs typeface="Times New Roman" panose="02020603050405020304" charset="0"/>
              </a:rPr>
              <a:t>Organizational Members</a:t>
            </a:r>
            <a:r>
              <a:rPr lang="zh-CN" altLang="en-US" sz="1900" b="1">
                <a:latin typeface="Times New Roman" panose="02020603050405020304" charset="0"/>
                <a:cs typeface="Times New Roman" panose="02020603050405020304" charset="0"/>
              </a:rPr>
              <a:t>：</a:t>
            </a:r>
            <a:endParaRPr lang="zh-CN" altLang="en-US" sz="1900" b="1">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There must be at least one organ composed of representatives from two or more states and independent of any particular state.  </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Organizational members are the foundation and the source of authority of an international organization.</a:t>
            </a:r>
            <a:endParaRPr lang="en-US" altLang="zh-CN" sz="1900">
              <a:latin typeface="Times New Roman" panose="02020603050405020304" charset="0"/>
              <a:cs typeface="Times New Roman" panose="02020603050405020304" charset="0"/>
            </a:endParaRPr>
          </a:p>
          <a:p>
            <a:r>
              <a:rPr lang="en-US" altLang="zh-CN" sz="1900" b="1">
                <a:latin typeface="Times New Roman" panose="02020603050405020304" charset="0"/>
                <a:cs typeface="Times New Roman" panose="02020603050405020304" charset="0"/>
              </a:rPr>
              <a:t>Rules and Regulations</a:t>
            </a:r>
            <a:r>
              <a:rPr lang="zh-CN" altLang="en-US" sz="1900" b="1">
                <a:latin typeface="Times New Roman" panose="02020603050405020304" charset="0"/>
                <a:cs typeface="Times New Roman" panose="02020603050405020304" charset="0"/>
              </a:rPr>
              <a:t>：</a:t>
            </a:r>
            <a:endParaRPr lang="zh-CN" altLang="en-US" sz="1900" b="1">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The rules and regulations of an international organization define its purposes and principles.  </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They are the soul of the organization’s establishment and development, and the foundation that ensures its day-to-day functioning.</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Organizational Structure</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 “Deliberative and Policy-Making Bodies”  - “Executive and Judicial Organs”  </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 “Administrative and Management Agencies”  “Specialized and Subsidiary Bodies”</a:t>
            </a:r>
            <a:endParaRPr lang="en-US" altLang="zh-CN" sz="19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214313" y="500063"/>
          <a:ext cx="8786812" cy="5794375"/>
        </p:xfrm>
        <a:graphic>
          <a:graphicData uri="http://schemas.openxmlformats.org/presentationml/2006/ole">
            <mc:AlternateContent xmlns:mc="http://schemas.openxmlformats.org/markup-compatibility/2006">
              <mc:Choice xmlns:v="urn:schemas-microsoft-com:vml" Requires="v">
                <p:oleObj spid="_x0000_s1025" name="Acrobat Document" r:id="rId1" imgW="15557500" imgH="10071100" progId="AcroExch.Document.11">
                  <p:embed/>
                </p:oleObj>
              </mc:Choice>
              <mc:Fallback>
                <p:oleObj name="Acrobat Document" r:id="rId1" imgW="15557500" imgH="10071100" progId="AcroExch.Document.11">
                  <p:embed/>
                  <p:pic>
                    <p:nvPicPr>
                      <p:cNvPr id="0" name="图片 1024"/>
                      <p:cNvPicPr>
                        <a:picLocks noChangeAspect="1"/>
                      </p:cNvPicPr>
                      <p:nvPr/>
                    </p:nvPicPr>
                    <p:blipFill>
                      <a:blip r:embed="rId2"/>
                      <a:stretch>
                        <a:fillRect/>
                      </a:stretch>
                    </p:blipFill>
                    <p:spPr>
                      <a:xfrm>
                        <a:off x="214313" y="500063"/>
                        <a:ext cx="8786812" cy="5794375"/>
                      </a:xfrm>
                      <a:prstGeom prst="rect">
                        <a:avLst/>
                      </a:prstGeom>
                      <a:noFill/>
                      <a:ln w="9525">
                        <a:noFill/>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357188" y="214313"/>
          <a:ext cx="8429625" cy="6429375"/>
        </p:xfrm>
        <a:graphic>
          <a:graphicData uri="http://schemas.openxmlformats.org/presentationml/2006/ole">
            <mc:AlternateContent xmlns:mc="http://schemas.openxmlformats.org/markup-compatibility/2006">
              <mc:Choice xmlns:v="urn:schemas-microsoft-com:vml" Requires="v">
                <p:oleObj spid="_x0000_s2049" name="Acrobat Document" r:id="rId1" imgW="10071100" imgH="7785100" progId="AcroExch.Document.11">
                  <p:embed/>
                </p:oleObj>
              </mc:Choice>
              <mc:Fallback>
                <p:oleObj name="Acrobat Document" r:id="rId1" imgW="10071100" imgH="7785100" progId="AcroExch.Document.11">
                  <p:embed/>
                  <p:pic>
                    <p:nvPicPr>
                      <p:cNvPr id="0" name="图片 2048"/>
                      <p:cNvPicPr>
                        <a:picLocks noChangeAspect="1"/>
                      </p:cNvPicPr>
                      <p:nvPr/>
                    </p:nvPicPr>
                    <p:blipFill>
                      <a:blip r:embed="rId2"/>
                      <a:stretch>
                        <a:fillRect/>
                      </a:stretch>
                    </p:blipFill>
                    <p:spPr>
                      <a:xfrm>
                        <a:off x="357188" y="214313"/>
                        <a:ext cx="8429625" cy="6429375"/>
                      </a:xfrm>
                      <a:prstGeom prst="rect">
                        <a:avLst/>
                      </a:prstGeom>
                      <a:noFill/>
                      <a:ln w="9525">
                        <a:noFill/>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sz="2800" dirty="0" smtClean="0"/>
              <a:t>Section </a:t>
            </a:r>
            <a:r>
              <a:rPr lang="en-US" altLang="zh-CN" sz="2800" dirty="0" smtClean="0"/>
              <a:t>two  Classification and Characteristics of International Organizations</a:t>
            </a:r>
            <a:endParaRPr lang="zh-CN"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dirty="0">
                <a:solidFill>
                  <a:schemeClr val="accent1">
                    <a:lumMod val="50000"/>
                  </a:schemeClr>
                </a:solidFill>
                <a:sym typeface="+mn-ea"/>
              </a:rPr>
              <a:t>I. Classification of International Organizations </a:t>
            </a:r>
            <a:endParaRPr lang="zh-CN" altLang="en-US"/>
          </a:p>
        </p:txBody>
      </p:sp>
      <p:sp>
        <p:nvSpPr>
          <p:cNvPr id="3" name="内容占位符 2"/>
          <p:cNvSpPr>
            <a:spLocks noGrp="1"/>
          </p:cNvSpPr>
          <p:nvPr>
            <p:ph idx="1"/>
          </p:nvPr>
        </p:nvSpPr>
        <p:spPr/>
        <p:txBody>
          <a:bodyPr>
            <a:normAutofit lnSpcReduction="20000"/>
          </a:bodyPr>
          <a:p>
            <a:r>
              <a:rPr lang="en-US" altLang="zh-CN"/>
              <a:t>(1) Inter-governmental organizations (IGOs)  </a:t>
            </a:r>
            <a:endParaRPr lang="en-US" altLang="zh-CN"/>
          </a:p>
          <a:p>
            <a:r>
              <a:rPr lang="en-US" altLang="zh-CN"/>
              <a:t>A union or association formed by two or more sovereign states, established by their governments through an agreement governed by international law, possessing a permanent system or set of organs, and aimed at pursuing objectives of common interest through cooperation among its members.  </a:t>
            </a:r>
            <a:endParaRPr lang="en-US" altLang="zh-CN"/>
          </a:p>
          <a:p>
            <a:endParaRPr lang="en-US" altLang="zh-CN"/>
          </a:p>
          <a:p>
            <a:r>
              <a:rPr lang="en-US" altLang="zh-CN"/>
              <a:t>(2) I</a:t>
            </a:r>
            <a:r>
              <a:rPr lang="en-US" altLang="zh-CN"/>
              <a:t>nternational Non-governmental organizations (INGOs)  </a:t>
            </a:r>
            <a:endParaRPr lang="en-US" altLang="zh-CN"/>
          </a:p>
          <a:p>
            <a:r>
              <a:rPr lang="en-US" altLang="zh-CN"/>
              <a:t>- Typically unions created by private individuals or civil-society groups.  </a:t>
            </a:r>
            <a:endParaRPr lang="en-US" altLang="zh-CN"/>
          </a:p>
          <a:p>
            <a:r>
              <a:rPr lang="en-US" altLang="zh-CN"/>
              <a:t>- Two key features: non-official membership and a wide range of activity fields.</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Types of Inter-Governmental Organizations</a:t>
            </a:r>
            <a:endParaRPr lang="en-US" altLang="zh-CN"/>
          </a:p>
        </p:txBody>
      </p:sp>
      <p:sp>
        <p:nvSpPr>
          <p:cNvPr id="3" name="内容占位符 2"/>
          <p:cNvSpPr>
            <a:spLocks noGrp="1"/>
          </p:cNvSpPr>
          <p:nvPr>
            <p:ph idx="1"/>
          </p:nvPr>
        </p:nvSpPr>
        <p:spPr/>
        <p:txBody>
          <a:bodyPr>
            <a:normAutofit lnSpcReduction="20000"/>
          </a:bodyPr>
          <a:p>
            <a:r>
              <a:rPr lang="en-US" altLang="zh-CN"/>
              <a:t>Classification of Inter-Governmental Organizations</a:t>
            </a:r>
            <a:endParaRPr lang="en-US" altLang="zh-CN"/>
          </a:p>
          <a:p>
            <a:endParaRPr lang="en-US" altLang="zh-CN"/>
          </a:p>
          <a:p>
            <a:r>
              <a:rPr lang="en-US" altLang="zh-CN"/>
              <a:t>- By membership scope:  </a:t>
            </a:r>
            <a:endParaRPr lang="en-US" altLang="zh-CN"/>
          </a:p>
          <a:p>
            <a:r>
              <a:rPr lang="en-US" altLang="zh-CN"/>
              <a:t>  – Universal organizations (open to all states)  </a:t>
            </a:r>
            <a:endParaRPr lang="en-US" altLang="zh-CN"/>
          </a:p>
          <a:p>
            <a:r>
              <a:rPr lang="en-US" altLang="zh-CN"/>
              <a:t>  – Closed organizations (restricted membership)</a:t>
            </a:r>
            <a:endParaRPr lang="en-US" altLang="zh-CN"/>
          </a:p>
          <a:p>
            <a:r>
              <a:rPr lang="en-US" altLang="zh-CN"/>
              <a:t>- By nature and functional scope:  </a:t>
            </a:r>
            <a:endParaRPr lang="en-US" altLang="zh-CN"/>
          </a:p>
          <a:p>
            <a:r>
              <a:rPr lang="en-US" altLang="zh-CN"/>
              <a:t>  – General organizations (broad mandates)  </a:t>
            </a:r>
            <a:endParaRPr lang="en-US" altLang="zh-CN"/>
          </a:p>
          <a:p>
            <a:r>
              <a:rPr lang="en-US" altLang="zh-CN"/>
              <a:t>  – Specialized organizations (limited, technical mandates)</a:t>
            </a:r>
            <a:endParaRPr lang="en-US" altLang="zh-CN"/>
          </a:p>
          <a:p>
            <a:r>
              <a:rPr lang="en-US" altLang="zh-CN"/>
              <a:t>- By institutional form:  </a:t>
            </a:r>
            <a:endParaRPr lang="en-US" altLang="zh-CN"/>
          </a:p>
          <a:p>
            <a:r>
              <a:rPr lang="en-US" altLang="zh-CN"/>
              <a:t>  – Traditional treaty-based organizations </a:t>
            </a:r>
            <a:endParaRPr lang="en-US" altLang="zh-CN"/>
          </a:p>
          <a:p>
            <a:r>
              <a:rPr lang="en-US" altLang="zh-CN"/>
              <a:t>  – Forum-type organizations</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Types of Inter-Governmental Organizations</a:t>
            </a:r>
            <a:endParaRPr lang="zh-CN" altLang="en-US"/>
          </a:p>
        </p:txBody>
      </p:sp>
      <p:sp>
        <p:nvSpPr>
          <p:cNvPr id="3" name="内容占位符 2"/>
          <p:cNvSpPr>
            <a:spLocks noGrp="1"/>
          </p:cNvSpPr>
          <p:nvPr>
            <p:ph idx="1"/>
          </p:nvPr>
        </p:nvSpPr>
        <p:spPr>
          <a:xfrm>
            <a:off x="457200" y="1941830"/>
            <a:ext cx="8229600" cy="4184650"/>
          </a:xfrm>
        </p:spPr>
        <p:txBody>
          <a:bodyPr/>
          <a:p>
            <a:r>
              <a:rPr lang="en-US" altLang="zh-CN"/>
              <a:t>- By geographic scope of membership:  </a:t>
            </a:r>
            <a:endParaRPr lang="en-US" altLang="zh-CN"/>
          </a:p>
          <a:p>
            <a:r>
              <a:rPr lang="en-US" altLang="zh-CN"/>
              <a:t>  – Global organizations  </a:t>
            </a:r>
            <a:endParaRPr lang="en-US" altLang="zh-CN"/>
          </a:p>
          <a:p>
            <a:r>
              <a:rPr lang="en-US" altLang="zh-CN"/>
              <a:t>  – Regional organizations</a:t>
            </a:r>
            <a:endParaRPr lang="en-US" altLang="zh-CN"/>
          </a:p>
          <a:p>
            <a:r>
              <a:rPr lang="en-US" altLang="zh-CN"/>
              <a:t>- By degree of binding force:  </a:t>
            </a:r>
            <a:endParaRPr lang="en-US" altLang="zh-CN"/>
          </a:p>
          <a:p>
            <a:r>
              <a:rPr lang="en-US" altLang="zh-CN"/>
              <a:t>  – Binding international organizations  </a:t>
            </a:r>
            <a:endParaRPr lang="en-US" altLang="zh-CN"/>
          </a:p>
          <a:p>
            <a:r>
              <a:rPr lang="en-US" altLang="zh-CN"/>
              <a:t>  – Non-binding international organizations</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II. Characteristics of International Organizations</a:t>
            </a:r>
            <a:endParaRPr lang="en-US" altLang="zh-CN"/>
          </a:p>
        </p:txBody>
      </p:sp>
      <p:sp>
        <p:nvSpPr>
          <p:cNvPr id="3" name="内容占位符 2"/>
          <p:cNvSpPr>
            <a:spLocks noGrp="1"/>
          </p:cNvSpPr>
          <p:nvPr>
            <p:ph idx="1"/>
          </p:nvPr>
        </p:nvSpPr>
        <p:spPr>
          <a:xfrm>
            <a:off x="273050" y="1642110"/>
            <a:ext cx="8712200" cy="4989195"/>
          </a:xfrm>
        </p:spPr>
        <p:txBody>
          <a:bodyPr>
            <a:noAutofit/>
          </a:bodyPr>
          <a:p>
            <a:r>
              <a:rPr lang="en-US" altLang="zh-CN" sz="1900" b="1"/>
              <a:t>1</a:t>
            </a:r>
            <a:r>
              <a:rPr lang="zh-CN" altLang="en-US" sz="1900" b="1"/>
              <a:t>）</a:t>
            </a:r>
            <a:r>
              <a:rPr lang="en-US" altLang="zh-CN" sz="1900" b="1"/>
              <a:t>International character</a:t>
            </a:r>
            <a:r>
              <a:rPr lang="zh-CN" altLang="en-US" sz="1900"/>
              <a:t>：</a:t>
            </a:r>
            <a:r>
              <a:rPr lang="en-US" altLang="zh-CN" sz="1900"/>
              <a:t>- International membership </a:t>
            </a:r>
            <a:r>
              <a:rPr lang="zh-CN" altLang="en-US" sz="1900"/>
              <a:t>；</a:t>
            </a:r>
            <a:r>
              <a:rPr lang="en-US" altLang="zh-CN" sz="1900"/>
              <a:t>- International scope of activities and influence</a:t>
            </a:r>
            <a:endParaRPr lang="en-US" altLang="zh-CN" sz="1900"/>
          </a:p>
          <a:p>
            <a:r>
              <a:rPr lang="en-US" altLang="zh-CN" sz="1900" b="1"/>
              <a:t>2</a:t>
            </a:r>
            <a:r>
              <a:rPr lang="zh-CN" altLang="en-US" sz="1900" b="1"/>
              <a:t>）</a:t>
            </a:r>
            <a:r>
              <a:rPr lang="en-US" altLang="zh-CN" sz="1900" b="1"/>
              <a:t>Instrumentality</a:t>
            </a:r>
            <a:r>
              <a:rPr lang="en-US" altLang="zh-CN" sz="1900"/>
              <a:t>: International organizations are instruments through which member states pursue their common interests and objectives.</a:t>
            </a:r>
            <a:endParaRPr lang="en-US" altLang="zh-CN" sz="1900"/>
          </a:p>
          <a:p>
            <a:r>
              <a:rPr lang="en-US" altLang="zh-CN" sz="1900" b="1"/>
              <a:t>3</a:t>
            </a:r>
            <a:r>
              <a:rPr lang="zh-CN" altLang="en-US" sz="1900" b="1"/>
              <a:t>）</a:t>
            </a:r>
            <a:r>
              <a:rPr lang="en-US" altLang="zh-CN" sz="1900" b="1"/>
              <a:t>Non-profit character</a:t>
            </a:r>
            <a:r>
              <a:rPr lang="en-US" altLang="zh-CN" sz="1900"/>
              <a:t>:  They do not operate for profit; they rely mainly on membership dues or voluntary contributions.</a:t>
            </a:r>
            <a:endParaRPr lang="en-US" altLang="zh-CN" sz="1900"/>
          </a:p>
          <a:p>
            <a:r>
              <a:rPr lang="en-US" altLang="zh-CN" sz="1900" b="1"/>
              <a:t>4</a:t>
            </a:r>
            <a:r>
              <a:rPr lang="zh-CN" altLang="en-US" sz="1900" b="1"/>
              <a:t>）</a:t>
            </a:r>
            <a:r>
              <a:rPr lang="en-US" altLang="zh-CN" sz="1900" b="1"/>
              <a:t>Institutionalization</a:t>
            </a:r>
            <a:r>
              <a:rPr lang="en-US" altLang="zh-CN" sz="1900"/>
              <a:t>:  Unlike ad-hoc multilateral conferences, an international organization must function in accordance with its own charter, carrying out the responsibilities agreed upon by its members in order to fulfill the purposes for which it was established.</a:t>
            </a:r>
            <a:endParaRPr lang="en-US" altLang="zh-CN" sz="1900"/>
          </a:p>
          <a:p>
            <a:r>
              <a:rPr lang="en-US" altLang="zh-CN" sz="1900" b="1"/>
              <a:t>5</a:t>
            </a:r>
            <a:r>
              <a:rPr lang="zh-CN" altLang="en-US" sz="1900" b="1"/>
              <a:t>）</a:t>
            </a:r>
            <a:r>
              <a:rPr lang="en-US" altLang="zh-CN" sz="1900" b="1"/>
              <a:t>Independence</a:t>
            </a:r>
            <a:r>
              <a:rPr lang="en-US" altLang="zh-CN" sz="1900"/>
              <a:t>:  Possesses its own legal personality and autonomous will.</a:t>
            </a:r>
            <a:endParaRPr lang="en-US" altLang="zh-CN" sz="1900"/>
          </a:p>
          <a:p>
            <a:r>
              <a:rPr lang="en-US" altLang="zh-CN" sz="1900" b="1"/>
              <a:t>6</a:t>
            </a:r>
            <a:r>
              <a:rPr lang="zh-CN" altLang="en-US" sz="1900" b="1"/>
              <a:t>）</a:t>
            </a:r>
            <a:r>
              <a:rPr lang="en-US" altLang="zh-CN" sz="1900" b="1"/>
              <a:t>Relative impartiality:</a:t>
            </a:r>
            <a:r>
              <a:rPr lang="en-US" altLang="zh-CN" sz="1900"/>
              <a:t>  By drawing on powerful moral forces—such as the pressure of world opinion, widely shared organizational beliefs, and long-standing customary practices—international organizations shape the conduct and mutual relations of members, thereby upholding and safeguarding the organization’s own sense of justice.</a:t>
            </a:r>
            <a:endParaRPr lang="en-US" altLang="zh-CN" sz="1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sz="2800" dirty="0" smtClean="0"/>
              <a:t>Section </a:t>
            </a:r>
            <a:r>
              <a:rPr lang="en-US" altLang="zh-CN" sz="2800" dirty="0" smtClean="0"/>
              <a:t>Three </a:t>
            </a:r>
            <a:br>
              <a:rPr lang="en-US" altLang="zh-CN" sz="2800" dirty="0" smtClean="0"/>
            </a:br>
            <a:r>
              <a:rPr lang="en-US" altLang="zh-CN" sz="2800" dirty="0" smtClean="0"/>
              <a:t>Membership in International Organizations</a:t>
            </a:r>
            <a:endParaRPr lang="zh-CN" alt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 Full Membership in International Organizations  </a:t>
            </a:r>
            <a:endParaRPr lang="en-US" altLang="zh-CN" dirty="0"/>
          </a:p>
        </p:txBody>
      </p:sp>
      <p:sp>
        <p:nvSpPr>
          <p:cNvPr id="3" name="内容占位符 2"/>
          <p:cNvSpPr>
            <a:spLocks noGrp="1"/>
          </p:cNvSpPr>
          <p:nvPr>
            <p:ph idx="1"/>
          </p:nvPr>
        </p:nvSpPr>
        <p:spPr>
          <a:xfrm>
            <a:off x="457200" y="1752600"/>
            <a:ext cx="8229600" cy="4712335"/>
          </a:xfrm>
        </p:spPr>
        <p:txBody>
          <a:bodyPr>
            <a:noAutofit/>
          </a:bodyPr>
          <a:lstStyle/>
          <a:p>
            <a:pPr marL="535305" indent="-421005">
              <a:buFont typeface="Wingdings" panose="05000000000000000000" pitchFamily="2" charset="2"/>
              <a:buChar char="Ø"/>
            </a:pPr>
            <a:r>
              <a:rPr lang="en-US" altLang="zh-CN" dirty="0"/>
              <a:t>- Full members  </a:t>
            </a:r>
            <a:endParaRPr lang="en-US" altLang="zh-CN" dirty="0"/>
          </a:p>
          <a:p>
            <a:pPr marL="535305" indent="-421005">
              <a:buFont typeface="Wingdings" panose="05000000000000000000" pitchFamily="2" charset="2"/>
              <a:buChar char="Ø"/>
            </a:pPr>
            <a:r>
              <a:rPr lang="en-US" altLang="zh-CN" dirty="0"/>
              <a:t>  May normally participate in all the organization’s activities and possess complete rights—representation, voting, and access to benefits—while assuming all of the organization’s obligations.  </a:t>
            </a:r>
            <a:endParaRPr lang="en-US" altLang="zh-CN" dirty="0"/>
          </a:p>
          <a:p>
            <a:pPr marL="535305" indent="-421005">
              <a:buFont typeface="Wingdings" panose="05000000000000000000" pitchFamily="2" charset="2"/>
              <a:buChar char="Ø"/>
            </a:pPr>
            <a:endParaRPr lang="en-US" altLang="zh-CN" dirty="0"/>
          </a:p>
          <a:p>
            <a:pPr marL="535305" indent="-421005">
              <a:buFont typeface="Wingdings" panose="05000000000000000000" pitchFamily="2" charset="2"/>
              <a:buChar char="Ø"/>
            </a:pPr>
            <a:r>
              <a:rPr lang="en-US" altLang="zh-CN" dirty="0"/>
              <a:t>- Partial members </a:t>
            </a:r>
            <a:endParaRPr lang="en-US" altLang="zh-CN" dirty="0"/>
          </a:p>
          <a:p>
            <a:pPr marL="535305" indent="-421005">
              <a:buFont typeface="Wingdings" panose="05000000000000000000" pitchFamily="2" charset="2"/>
              <a:buChar char="Ø"/>
            </a:pPr>
            <a:r>
              <a:rPr lang="en-US" altLang="zh-CN" dirty="0"/>
              <a:t>  Are those that take part only in selected activities of the organization. They enjoy only some rights and shoulder only some obligations, yet with respect to the specific bodies in which they do participate they may be full members of those bodies.</a:t>
            </a:r>
            <a:endParaRPr lang="en-US" altLang="zh-C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(I) How membership is acquired  </a:t>
            </a:r>
            <a:endParaRPr lang="en-US" altLang="zh-CN" sz="3200" dirty="0"/>
          </a:p>
        </p:txBody>
      </p:sp>
      <p:sp>
        <p:nvSpPr>
          <p:cNvPr id="3" name="内容占位符 2"/>
          <p:cNvSpPr>
            <a:spLocks noGrp="1"/>
          </p:cNvSpPr>
          <p:nvPr>
            <p:ph idx="1"/>
          </p:nvPr>
        </p:nvSpPr>
        <p:spPr>
          <a:xfrm>
            <a:off x="457200" y="1752600"/>
            <a:ext cx="8229600" cy="4518025"/>
          </a:xfrm>
        </p:spPr>
        <p:txBody>
          <a:bodyPr>
            <a:noAutofit/>
          </a:bodyPr>
          <a:lstStyle/>
          <a:p>
            <a:pPr marL="571500" indent="-457200">
              <a:buNone/>
            </a:pPr>
            <a:endParaRPr lang="en-US" altLang="zh-CN" dirty="0" smtClean="0"/>
          </a:p>
          <a:p>
            <a:pPr marL="571500" indent="-457200">
              <a:buNone/>
            </a:pPr>
            <a:r>
              <a:rPr lang="en-US" altLang="zh-CN" dirty="0">
                <a:latin typeface="Times New Roman" panose="02020603050405020304" charset="0"/>
                <a:ea typeface="楷体" panose="02010609060101010101" pitchFamily="49" charset="-122"/>
                <a:cs typeface="Times New Roman" panose="02020603050405020304" charset="0"/>
              </a:rPr>
              <a:t>- By signing and ratifying the treaty that establishes the organization, thereby becoming a founding member.  </a:t>
            </a:r>
            <a:endParaRPr lang="en-US" altLang="zh-CN" dirty="0">
              <a:latin typeface="Times New Roman" panose="02020603050405020304" charset="0"/>
              <a:ea typeface="楷体" panose="02010609060101010101" pitchFamily="49" charset="-122"/>
              <a:cs typeface="Times New Roman" panose="02020603050405020304" charset="0"/>
            </a:endParaRPr>
          </a:p>
          <a:p>
            <a:pPr marL="571500" indent="-457200">
              <a:buNone/>
            </a:pPr>
            <a:r>
              <a:rPr lang="en-US" altLang="zh-CN" dirty="0">
                <a:latin typeface="Times New Roman" panose="02020603050405020304" charset="0"/>
                <a:ea typeface="楷体" panose="02010609060101010101" pitchFamily="49" charset="-122"/>
                <a:cs typeface="Times New Roman" panose="02020603050405020304" charset="0"/>
              </a:rPr>
              <a:t>- After the organization’s creation, by meeting the prescribed conditions and being admitted as a new member.  </a:t>
            </a:r>
            <a:endParaRPr lang="en-US" altLang="zh-CN" dirty="0">
              <a:latin typeface="Times New Roman" panose="02020603050405020304" charset="0"/>
              <a:ea typeface="楷体" panose="02010609060101010101" pitchFamily="49" charset="-122"/>
              <a:cs typeface="Times New Roman" panose="02020603050405020304" charset="0"/>
            </a:endParaRPr>
          </a:p>
          <a:p>
            <a:pPr marL="571500" indent="-457200">
              <a:buNone/>
            </a:pPr>
            <a:r>
              <a:rPr lang="en-US" altLang="zh-CN" dirty="0">
                <a:latin typeface="Times New Roman" panose="02020603050405020304" charset="0"/>
                <a:ea typeface="楷体" panose="02010609060101010101" pitchFamily="49" charset="-122"/>
                <a:cs typeface="Times New Roman" panose="02020603050405020304" charset="0"/>
              </a:rPr>
              <a:t>- Through state succession: when a state loses its international legal personality or part of its territory, its rights and obligations under international law pass to one or more successor states.  </a:t>
            </a:r>
            <a:endParaRPr lang="en-US" altLang="zh-CN" dirty="0">
              <a:latin typeface="Times New Roman" panose="02020603050405020304" charset="0"/>
              <a:ea typeface="楷体" panose="02010609060101010101" pitchFamily="49" charset="-122"/>
              <a:cs typeface="Times New Roman" panose="02020603050405020304" charset="0"/>
            </a:endParaRPr>
          </a:p>
          <a:p>
            <a:pPr marL="571500" indent="-457200">
              <a:buNone/>
            </a:pPr>
            <a:r>
              <a:rPr lang="en-US" altLang="zh-CN" dirty="0">
                <a:latin typeface="Times New Roman" panose="02020603050405020304" charset="0"/>
                <a:ea typeface="楷体" panose="02010609060101010101" pitchFamily="49" charset="-122"/>
                <a:cs typeface="Times New Roman" panose="02020603050405020304" charset="0"/>
              </a:rPr>
              <a:t>  Example: After the dissolution of the USSR, Russia succeeded to its seat at the United Nations.</a:t>
            </a:r>
            <a:endParaRPr lang="en-US" altLang="zh-CN" dirty="0">
              <a:latin typeface="Times New Roman" panose="02020603050405020304" charset="0"/>
              <a:ea typeface="楷体" panose="02010609060101010101" pitchFamily="49"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t>(II) Guiding Principles for Membership  </a:t>
            </a:r>
            <a:endParaRPr lang="en-US" altLang="zh-CN" sz="3200" dirty="0"/>
          </a:p>
        </p:txBody>
      </p:sp>
      <p:sp>
        <p:nvSpPr>
          <p:cNvPr id="3" name="内容占位符 2"/>
          <p:cNvSpPr>
            <a:spLocks noGrp="1"/>
          </p:cNvSpPr>
          <p:nvPr>
            <p:ph idx="1"/>
          </p:nvPr>
        </p:nvSpPr>
        <p:spPr/>
        <p:txBody>
          <a:bodyPr>
            <a:normAutofit lnSpcReduction="20000"/>
          </a:bodyPr>
          <a:lstStyle/>
          <a:p>
            <a:pPr marL="114300" indent="0">
              <a:lnSpc>
                <a:spcPct val="150000"/>
              </a:lnSpc>
              <a:buNone/>
            </a:pPr>
            <a:endParaRPr lang="en-US" altLang="zh-CN" sz="2000" dirty="0" smtClean="0">
              <a:latin typeface="+mj-ea"/>
              <a:ea typeface="+mj-ea"/>
            </a:endParaRPr>
          </a:p>
          <a:p>
            <a:pPr marL="571500" indent="-457200">
              <a:buNone/>
            </a:pPr>
            <a:r>
              <a:rPr lang="en-US" altLang="zh-CN" dirty="0" smtClean="0"/>
              <a:t>- Principle of universalism </a:t>
            </a:r>
            <a:endParaRPr lang="en-US" altLang="zh-CN" dirty="0" smtClean="0"/>
          </a:p>
          <a:p>
            <a:pPr marL="571500" indent="-457200">
              <a:buNone/>
            </a:pPr>
            <a:r>
              <a:rPr lang="en-US" altLang="zh-CN" dirty="0" smtClean="0"/>
              <a:t>  – The more members, the better.  </a:t>
            </a:r>
            <a:endParaRPr lang="en-US" altLang="zh-CN" dirty="0" smtClean="0"/>
          </a:p>
          <a:p>
            <a:pPr marL="571500" indent="-457200">
              <a:buNone/>
            </a:pPr>
            <a:r>
              <a:rPr lang="en-US" altLang="zh-CN" dirty="0" smtClean="0"/>
              <a:t>  – Few restrictions regarding geography, economy, ethnicity, or religion.  </a:t>
            </a:r>
            <a:endParaRPr lang="en-US" altLang="zh-CN" dirty="0" smtClean="0"/>
          </a:p>
          <a:p>
            <a:pPr marL="571500" indent="-457200">
              <a:buNone/>
            </a:pPr>
            <a:r>
              <a:rPr lang="en-US" altLang="zh-CN" dirty="0" smtClean="0"/>
              <a:t>  – Flexible conditions and procedures for admission.  </a:t>
            </a:r>
            <a:endParaRPr lang="en-US" altLang="zh-CN" dirty="0" smtClean="0"/>
          </a:p>
          <a:p>
            <a:pPr marL="571500" indent="-457200">
              <a:buNone/>
            </a:pPr>
            <a:endParaRPr lang="en-US" altLang="zh-CN" dirty="0" smtClean="0"/>
          </a:p>
          <a:p>
            <a:pPr marL="571500" indent="-457200">
              <a:buNone/>
            </a:pPr>
            <a:r>
              <a:rPr lang="en-US" altLang="zh-CN" dirty="0" smtClean="0"/>
              <a:t>- Principle of selectivity </a:t>
            </a:r>
            <a:endParaRPr lang="en-US" altLang="zh-CN" dirty="0" smtClean="0"/>
          </a:p>
          <a:p>
            <a:pPr marL="571500" indent="-457200">
              <a:buNone/>
            </a:pPr>
            <a:r>
              <a:rPr lang="en-US" altLang="zh-CN" dirty="0" smtClean="0"/>
              <a:t>  – Applied by regional or closed organizations.  </a:t>
            </a:r>
            <a:endParaRPr lang="en-US" altLang="zh-CN" dirty="0" smtClean="0"/>
          </a:p>
          <a:p>
            <a:pPr marL="571500" indent="-457200">
              <a:buNone/>
            </a:pPr>
            <a:r>
              <a:rPr lang="en-US" altLang="zh-CN" dirty="0" smtClean="0"/>
              <a:t>  – Sets specific admission criteria aligned with the organization’s purposes, such as restrictions on geography, religious affiliation, or economic profile.</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t>(III) Non-sovereign entities as members of inter-governmental organizations  </a:t>
            </a:r>
            <a:endParaRPr lang="en-US" altLang="zh-CN" sz="3200" dirty="0"/>
          </a:p>
        </p:txBody>
      </p:sp>
      <p:sp>
        <p:nvSpPr>
          <p:cNvPr id="3" name="内容占位符 2"/>
          <p:cNvSpPr>
            <a:spLocks noGrp="1"/>
          </p:cNvSpPr>
          <p:nvPr>
            <p:ph idx="1"/>
          </p:nvPr>
        </p:nvSpPr>
        <p:spPr>
          <a:ln>
            <a:noFill/>
          </a:ln>
        </p:spPr>
        <p:txBody>
          <a:bodyPr/>
          <a:lstStyle/>
          <a:p>
            <a:pPr marL="571500" indent="-457200">
              <a:lnSpc>
                <a:spcPct val="150000"/>
              </a:lnSpc>
              <a:buFont typeface="+mj-lt"/>
              <a:buAutoNum type="arabicPeriod"/>
            </a:pPr>
            <a:endParaRPr lang="en-US" altLang="zh-CN" dirty="0" smtClean="0"/>
          </a:p>
          <a:p>
            <a:pPr marL="571500" indent="-457200">
              <a:lnSpc>
                <a:spcPct val="150000"/>
              </a:lnSpc>
              <a:buNone/>
            </a:pPr>
            <a:r>
              <a:rPr lang="en-US" altLang="zh-CN" dirty="0"/>
              <a:t>- Special territories as full members  </a:t>
            </a:r>
            <a:endParaRPr lang="en-US" altLang="zh-CN" dirty="0"/>
          </a:p>
          <a:p>
            <a:pPr marL="571500" indent="-457200">
              <a:lnSpc>
                <a:spcPct val="150000"/>
              </a:lnSpc>
              <a:buNone/>
            </a:pPr>
            <a:r>
              <a:rPr lang="en-US" altLang="zh-CN" dirty="0"/>
              <a:t>- One international organization as a full member of another international organization  </a:t>
            </a:r>
            <a:endParaRPr lang="en-US" altLang="zh-CN" dirty="0"/>
          </a:p>
          <a:p>
            <a:pPr marL="571500" indent="-457200">
              <a:lnSpc>
                <a:spcPct val="150000"/>
              </a:lnSpc>
              <a:buNone/>
            </a:pPr>
            <a:r>
              <a:rPr lang="en-US" altLang="zh-CN" dirty="0"/>
              <a:t>- Self-governing and non-self-governing territories as full members  </a:t>
            </a:r>
            <a:endParaRPr lang="en-US" altLang="zh-CN" dirty="0"/>
          </a:p>
          <a:p>
            <a:pPr marL="571500" indent="-457200">
              <a:lnSpc>
                <a:spcPct val="150000"/>
              </a:lnSpc>
              <a:buNone/>
            </a:pPr>
            <a:r>
              <a:rPr lang="en-US" altLang="zh-CN" dirty="0"/>
              <a:t>- Member groups (blocs) may also hold membership</a:t>
            </a:r>
            <a:endParaRPr lang="en-US" altLang="zh-C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II. Informal Members of International Organizations</a:t>
            </a:r>
            <a:endParaRPr lang="en-US" altLang="zh-CN" dirty="0"/>
          </a:p>
        </p:txBody>
      </p:sp>
      <p:sp>
        <p:nvSpPr>
          <p:cNvPr id="4" name="内容占位符 2"/>
          <p:cNvSpPr txBox="1"/>
          <p:nvPr/>
        </p:nvSpPr>
        <p:spPr>
          <a:xfrm>
            <a:off x="447040" y="1812290"/>
            <a:ext cx="8401685" cy="4759960"/>
          </a:xfrm>
          <a:prstGeom prst="rect">
            <a:avLst/>
          </a:prstGeom>
        </p:spPr>
        <p:txBody>
          <a:bodyPr vert="horz" lIns="91440" tIns="45720" rIns="91440" bIns="45720" rtlCol="0">
            <a:normAutofit fontScale="80000"/>
          </a:bodyPr>
          <a:lst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a:lstStyle>
          <a:p>
            <a:pPr marL="114300" indent="0">
              <a:lnSpc>
                <a:spcPct val="150000"/>
              </a:lnSpc>
              <a:buFont typeface="+mj-lt"/>
              <a:buNone/>
            </a:pPr>
            <a:r>
              <a:rPr lang="en-US" altLang="zh-CN" dirty="0" smtClean="0"/>
              <a:t>- </a:t>
            </a:r>
            <a:r>
              <a:rPr lang="en-US" altLang="zh-CN" b="1" dirty="0" smtClean="0"/>
              <a:t>Associate Members </a:t>
            </a:r>
            <a:r>
              <a:rPr lang="en-US" altLang="zh-CN" dirty="0" smtClean="0"/>
              <a:t>(Affiliate Members)</a:t>
            </a:r>
            <a:endParaRPr lang="en-US" altLang="zh-CN" dirty="0" smtClean="0"/>
          </a:p>
          <a:p>
            <a:pPr marL="571500" indent="-457200">
              <a:lnSpc>
                <a:spcPct val="150000"/>
              </a:lnSpc>
              <a:buNone/>
            </a:pPr>
            <a:r>
              <a:rPr lang="en-US" altLang="zh-CN" dirty="0" smtClean="0"/>
              <a:t>  - Are accepted to participate in the activities of the organization</a:t>
            </a:r>
            <a:endParaRPr lang="en-US" altLang="zh-CN" dirty="0" smtClean="0"/>
          </a:p>
          <a:p>
            <a:pPr marL="571500" indent="-457200">
              <a:lnSpc>
                <a:spcPct val="150000"/>
              </a:lnSpc>
              <a:buNone/>
            </a:pPr>
            <a:r>
              <a:rPr lang="en-US" altLang="zh-CN" dirty="0" smtClean="0"/>
              <a:t>  - Compared to full members, associate members have limited rights and obligations within international organizations</a:t>
            </a:r>
            <a:endParaRPr lang="en-US" altLang="zh-CN" dirty="0" smtClean="0"/>
          </a:p>
          <a:p>
            <a:pPr marL="571500" indent="-457200">
              <a:lnSpc>
                <a:spcPct val="150000"/>
              </a:lnSpc>
              <a:buNone/>
            </a:pPr>
            <a:r>
              <a:rPr lang="en-US" altLang="zh-CN" dirty="0" smtClean="0"/>
              <a:t>- </a:t>
            </a:r>
            <a:r>
              <a:rPr lang="en-US" altLang="zh-CN" b="1" dirty="0" smtClean="0"/>
              <a:t>Observers</a:t>
            </a:r>
            <a:r>
              <a:rPr lang="en-US" altLang="zh-CN" dirty="0" smtClean="0"/>
              <a:t>:Actors that are conditionally invited or accepted to attend relevant meetings or participate in certain activities.</a:t>
            </a:r>
            <a:endParaRPr lang="en-US" altLang="zh-CN" dirty="0" smtClean="0"/>
          </a:p>
          <a:p>
            <a:pPr marL="571500" indent="-457200">
              <a:lnSpc>
                <a:spcPct val="150000"/>
              </a:lnSpc>
              <a:buNone/>
            </a:pPr>
            <a:r>
              <a:rPr lang="en-US" altLang="zh-CN" dirty="0" smtClean="0"/>
              <a:t>  - Include non-member states, international organizations, national liberation movements, and individuals</a:t>
            </a:r>
            <a:endParaRPr lang="en-US" altLang="zh-CN" dirty="0" smtClean="0"/>
          </a:p>
          <a:p>
            <a:pPr marL="571500" indent="-457200">
              <a:lnSpc>
                <a:spcPct val="150000"/>
              </a:lnSpc>
              <a:buNone/>
            </a:pPr>
            <a:r>
              <a:rPr lang="en-US" altLang="zh-CN" dirty="0" smtClean="0"/>
              <a:t>  - Their primary functions are to observe and consult; they do not enjoy rights such as voting rights granted to full members.</a:t>
            </a:r>
            <a:endParaRPr lang="en-US" altLang="zh-CN" dirty="0" smtClean="0"/>
          </a:p>
          <a:p>
            <a:pPr marL="365125" lvl="1" indent="0">
              <a:buNone/>
            </a:pPr>
            <a:endParaRPr lang="en-US" altLang="zh-CN"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(I) The Observer Status System</a:t>
            </a:r>
            <a:endParaRPr lang="en-US" altLang="zh-CN" sz="3200" dirty="0"/>
          </a:p>
        </p:txBody>
      </p:sp>
      <p:sp>
        <p:nvSpPr>
          <p:cNvPr id="3" name="内容占位符 2"/>
          <p:cNvSpPr>
            <a:spLocks noGrp="1"/>
          </p:cNvSpPr>
          <p:nvPr>
            <p:ph idx="1"/>
          </p:nvPr>
        </p:nvSpPr>
        <p:spPr>
          <a:xfrm>
            <a:off x="457200" y="1661160"/>
            <a:ext cx="8329295" cy="5055235"/>
          </a:xfrm>
        </p:spPr>
        <p:txBody>
          <a:bodyPr>
            <a:normAutofit/>
          </a:bodyPr>
          <a:lstStyle/>
          <a:p>
            <a:pPr marL="571500" indent="-457200">
              <a:buFont typeface="+mj-lt"/>
              <a:buAutoNum type="arabicPeriod"/>
            </a:pPr>
            <a:r>
              <a:rPr lang="en-US" altLang="zh-CN" dirty="0"/>
              <a:t>The observer status system represents a major innovation in the membership systems of international organizations. It is a mode of participation in international affairs that has continuously developed and been refined through the practice of international organizations.</a:t>
            </a:r>
            <a:endParaRPr lang="en-US" altLang="zh-CN" dirty="0"/>
          </a:p>
          <a:p>
            <a:pPr marL="571500" indent="-457200">
              <a:buFont typeface="+mj-lt"/>
              <a:buAutoNum type="arabicPeriod"/>
            </a:pPr>
            <a:r>
              <a:rPr lang="en-US" altLang="zh-CN" dirty="0"/>
              <a:t>In the practice of international organizations, becoming an observer is typically the first step toward joining an organization as a full member.</a:t>
            </a:r>
            <a:endParaRPr lang="en-US" altLang="zh-CN" dirty="0"/>
          </a:p>
          <a:p>
            <a:pPr marL="571500" indent="-457200">
              <a:buFont typeface="+mj-lt"/>
              <a:buAutoNum type="arabicPeriod"/>
            </a:pPr>
            <a:r>
              <a:rPr lang="en-US" altLang="zh-CN" dirty="0"/>
              <a:t>The observer status system also serves as an important pathway for non-governmental international organizations to participate in the affairs of other international organizations and to expand their international cooperation and influence.</a:t>
            </a:r>
            <a:endParaRPr lang="en-US" altLang="zh-C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Rights of Observers</a:t>
            </a:r>
            <a:endParaRPr lang="en-US" altLang="zh-CN"/>
          </a:p>
        </p:txBody>
      </p:sp>
      <p:sp>
        <p:nvSpPr>
          <p:cNvPr id="3" name="内容占位符 2"/>
          <p:cNvSpPr>
            <a:spLocks noGrp="1"/>
          </p:cNvSpPr>
          <p:nvPr>
            <p:ph idx="1"/>
          </p:nvPr>
        </p:nvSpPr>
        <p:spPr>
          <a:xfrm>
            <a:off x="457200" y="1752600"/>
            <a:ext cx="8401685" cy="4655185"/>
          </a:xfrm>
        </p:spPr>
        <p:txBody>
          <a:bodyPr>
            <a:noAutofit/>
          </a:bodyPr>
          <a:p>
            <a:pPr marL="114300" indent="0">
              <a:buNone/>
            </a:pPr>
            <a:r>
              <a:rPr lang="en-US" altLang="zh-CN" sz="1700"/>
              <a:t>1. Right to attend meetings  </a:t>
            </a:r>
            <a:endParaRPr lang="en-US" altLang="zh-CN" sz="1700"/>
          </a:p>
          <a:p>
            <a:r>
              <a:rPr lang="en-US" altLang="zh-CN" sz="1700"/>
              <a:t>   May sit in sessions and, through lobbying outside or during the meeting, influence delegates and thereby shape final decisions.  </a:t>
            </a:r>
            <a:endParaRPr lang="en-US" altLang="zh-CN" sz="1700"/>
          </a:p>
          <a:p>
            <a:pPr marL="114300" indent="0">
              <a:buNone/>
            </a:pPr>
            <a:r>
              <a:rPr lang="en-US" altLang="zh-CN" sz="1700"/>
              <a:t>2. Right to receive and circulate documents  </a:t>
            </a:r>
            <a:endParaRPr lang="en-US" altLang="zh-CN" sz="1700"/>
          </a:p>
          <a:p>
            <a:r>
              <a:rPr lang="en-US" altLang="zh-CN" sz="1700"/>
              <a:t>   Obtain information from the organization in a timely and appropriate manner, enabling fuller participation in its activities.  </a:t>
            </a:r>
            <a:endParaRPr lang="en-US" altLang="zh-CN" sz="1700"/>
          </a:p>
          <a:p>
            <a:pPr marL="114300" indent="0">
              <a:buNone/>
            </a:pPr>
            <a:r>
              <a:rPr lang="en-US" altLang="zh-CN" sz="1700"/>
              <a:t>3. Right to speak and respond  </a:t>
            </a:r>
            <a:endParaRPr lang="en-US" altLang="zh-CN" sz="1700"/>
          </a:p>
          <a:p>
            <a:r>
              <a:rPr lang="en-US" altLang="zh-CN" sz="1700"/>
              <a:t>   Address the conference:  </a:t>
            </a:r>
            <a:endParaRPr lang="en-US" altLang="zh-CN" sz="1700"/>
          </a:p>
          <a:p>
            <a:r>
              <a:rPr lang="en-US" altLang="zh-CN" sz="1700"/>
              <a:t>   (1) comment on agenda items that concern the observer’s organization,  </a:t>
            </a:r>
            <a:endParaRPr lang="en-US" altLang="zh-CN" sz="1700"/>
          </a:p>
          <a:p>
            <a:r>
              <a:rPr lang="en-US" altLang="zh-CN" sz="1700"/>
              <a:t>   (2) answer questions raised by member states,  </a:t>
            </a:r>
            <a:endParaRPr lang="en-US" altLang="zh-CN" sz="1700"/>
          </a:p>
          <a:p>
            <a:r>
              <a:rPr lang="en-US" altLang="zh-CN" sz="1700"/>
              <a:t>   (3) provide explanations or clarifications on specific incidents at the organization’s request.  </a:t>
            </a:r>
            <a:endParaRPr lang="en-US" altLang="zh-CN" sz="1700"/>
          </a:p>
          <a:p>
            <a:pPr marL="114300" indent="0">
              <a:buNone/>
            </a:pPr>
            <a:r>
              <a:rPr lang="en-US" altLang="zh-CN" sz="1700"/>
              <a:t>4. Right to make proposals  </a:t>
            </a:r>
            <a:endParaRPr lang="en-US" altLang="zh-CN" sz="1700"/>
          </a:p>
          <a:p>
            <a:r>
              <a:rPr lang="en-US" altLang="zh-CN" sz="1700"/>
              <a:t>   The rules of procedure of UNIDO, for example, allow certain non-member specialized agencies to submit recommendations that may be put to a vote.</a:t>
            </a:r>
            <a:endParaRPr lang="en-US" altLang="zh-CN" sz="17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Discussion Questions:</a:t>
            </a:r>
            <a:endParaRPr lang="zh-CN" altLang="en-US" dirty="0"/>
          </a:p>
        </p:txBody>
      </p:sp>
      <p:sp>
        <p:nvSpPr>
          <p:cNvPr id="3" name="内容占位符 2"/>
          <p:cNvSpPr>
            <a:spLocks noGrp="1"/>
          </p:cNvSpPr>
          <p:nvPr>
            <p:ph idx="1"/>
          </p:nvPr>
        </p:nvSpPr>
        <p:spPr/>
        <p:txBody>
          <a:bodyPr>
            <a:normAutofit/>
          </a:bodyPr>
          <a:lstStyle/>
          <a:p>
            <a:pPr marL="571500" indent="-457200">
              <a:buFont typeface="+mj-lt"/>
              <a:buAutoNum type="arabicPeriod"/>
            </a:pPr>
            <a:endParaRPr lang="en-US" altLang="zh-CN" dirty="0" smtClean="0"/>
          </a:p>
          <a:p>
            <a:pPr marL="114300" indent="0">
              <a:buFont typeface="+mj-lt"/>
              <a:buNone/>
            </a:pPr>
            <a:endParaRPr lang="en-US" altLang="zh-CN" dirty="0"/>
          </a:p>
          <a:p>
            <a:pPr marL="114300" indent="0">
              <a:buFont typeface="+mj-lt"/>
              <a:buNone/>
            </a:pPr>
            <a:r>
              <a:rPr lang="en-US" altLang="zh-CN" dirty="0"/>
              <a:t>1. What elements constitute an international organization, and why?  </a:t>
            </a:r>
            <a:endParaRPr lang="en-US" altLang="zh-CN" dirty="0"/>
          </a:p>
          <a:p>
            <a:pPr marL="114300" indent="0">
              <a:buFont typeface="+mj-lt"/>
              <a:buNone/>
            </a:pPr>
            <a:r>
              <a:rPr lang="en-US" altLang="zh-CN" dirty="0"/>
              <a:t>2. What new characteristics have emerged in the development of contemporary international organizations?  </a:t>
            </a:r>
            <a:endParaRPr lang="en-US" altLang="zh-CN" dirty="0"/>
          </a:p>
          <a:p>
            <a:pPr marL="114300" indent="0">
              <a:buFont typeface="+mj-lt"/>
              <a:buNone/>
            </a:pPr>
            <a:r>
              <a:rPr lang="en-US" altLang="zh-CN" dirty="0"/>
              <a:t>3. What are the types, features, and roles of members within international organizations?  </a:t>
            </a:r>
            <a:endParaRPr lang="en-US" altLang="zh-CN" dirty="0"/>
          </a:p>
          <a:p>
            <a:pPr marL="114300" indent="0">
              <a:buFont typeface="+mj-lt"/>
              <a:buNone/>
            </a:pPr>
            <a:r>
              <a:rPr lang="en-US" altLang="zh-CN" dirty="0"/>
              <a:t>4. How should we understand the relationship between the interests and values of international organizations?</a:t>
            </a:r>
            <a:endParaRPr lang="en-US" altLang="zh-C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药剂师">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药剂师">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药剂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0</TotalTime>
  <Words>12110</Words>
  <Application>WPS 演示</Application>
  <PresentationFormat>全屏显示(4:3)</PresentationFormat>
  <Paragraphs>203</Paragraphs>
  <Slides>25</Slides>
  <Notes>1</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vt:i4>
      </vt:variant>
      <vt:variant>
        <vt:lpstr>幻灯片标题</vt:lpstr>
      </vt:variant>
      <vt:variant>
        <vt:i4>25</vt:i4>
      </vt:variant>
    </vt:vector>
  </HeadingPairs>
  <TitlesOfParts>
    <vt:vector size="38" baseType="lpstr">
      <vt:lpstr>Arial</vt:lpstr>
      <vt:lpstr>宋体</vt:lpstr>
      <vt:lpstr>Wingdings</vt:lpstr>
      <vt:lpstr>Times New Roman</vt:lpstr>
      <vt:lpstr>微软雅黑</vt:lpstr>
      <vt:lpstr>Arial Unicode MS</vt:lpstr>
      <vt:lpstr>黑体</vt:lpstr>
      <vt:lpstr>Calibri</vt:lpstr>
      <vt:lpstr>楷体</vt:lpstr>
      <vt:lpstr>药剂师</vt:lpstr>
      <vt:lpstr>1_药剂师</vt:lpstr>
      <vt:lpstr>AcroExch.Document.11</vt:lpstr>
      <vt:lpstr>AcroExch.Document.11</vt:lpstr>
      <vt:lpstr>Chapter 1 Overview of International Organizations</vt:lpstr>
      <vt:lpstr>Section 1 Concept and Composition of International Organizations </vt:lpstr>
      <vt:lpstr>I. The Concept of International Organizations  </vt:lpstr>
      <vt:lpstr>I. The Concept of International Organizations  </vt:lpstr>
      <vt:lpstr>I. The Concept of International Organizations  </vt:lpstr>
      <vt:lpstr>I. The Concept of International Organizations  </vt:lpstr>
      <vt:lpstr>I. The Concept of International Organizations </vt:lpstr>
      <vt:lpstr>I. The Concept of International Organizations </vt:lpstr>
      <vt:lpstr>II. Constituent Elements of an International Organization</vt:lpstr>
      <vt:lpstr>PowerPoint 演示文稿</vt:lpstr>
      <vt:lpstr>PowerPoint 演示文稿</vt:lpstr>
      <vt:lpstr>Section 2  Classification and Characteristics of International Organizations</vt:lpstr>
      <vt:lpstr>I. Classification of International Organizations </vt:lpstr>
      <vt:lpstr>Types of Inter-Governmental Organizations</vt:lpstr>
      <vt:lpstr>Types of Inter-Governmental Organizations</vt:lpstr>
      <vt:lpstr>II. Characteristics of International Organizations</vt:lpstr>
      <vt:lpstr>Section 3   Membership in International Organizations</vt:lpstr>
      <vt:lpstr>I. Full Membership in International Organizations  </vt:lpstr>
      <vt:lpstr>(I) How membership is acquired  </vt:lpstr>
      <vt:lpstr>(II) Guiding Principles for Membership  </vt:lpstr>
      <vt:lpstr>(III) Non-sovereign entities as members of inter-governmental organizations  </vt:lpstr>
      <vt:lpstr>II. Informal Members of International Organizations</vt:lpstr>
      <vt:lpstr>(I) The Observer Status System</vt:lpstr>
      <vt:lpstr>Rights of Observers</vt:lpstr>
      <vt:lpstr>Discussion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大唐1415436413</cp:lastModifiedBy>
  <cp:revision>124</cp:revision>
  <dcterms:created xsi:type="dcterms:W3CDTF">2017-06-01T06:39:00Z</dcterms:created>
  <dcterms:modified xsi:type="dcterms:W3CDTF">2026-01-23T04:04:00Z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D38DC733D5B447358B20CBFD7E0EA12C_12</vt:lpwstr>
  </property>
  <property fmtid="{D5CDD505-2E9C-101B-9397-08002B2CF9AE}" pid="3" name="KSOProductBuildVer">
    <vt:lpwstr>2052-12.1.0.24657</vt:lpwstr>
  </property>
</Properties>
</file>