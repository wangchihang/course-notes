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drawings/drawing1.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3"/>
    <p:sldId id="257" r:id="rId4"/>
    <p:sldId id="305" r:id="rId5"/>
    <p:sldId id="306" r:id="rId6"/>
    <p:sldId id="307" r:id="rId7"/>
    <p:sldId id="308" r:id="rId8"/>
    <p:sldId id="262" r:id="rId9"/>
    <p:sldId id="309" r:id="rId10"/>
    <p:sldId id="264" r:id="rId11"/>
    <p:sldId id="265" r:id="rId12"/>
    <p:sldId id="266" r:id="rId13"/>
    <p:sldId id="310" r:id="rId14"/>
    <p:sldId id="311" r:id="rId15"/>
    <p:sldId id="312" r:id="rId16"/>
    <p:sldId id="270" r:id="rId17"/>
    <p:sldId id="272" r:id="rId18"/>
    <p:sldId id="313" r:id="rId19"/>
    <p:sldId id="314" r:id="rId20"/>
    <p:sldId id="275" r:id="rId21"/>
    <p:sldId id="276" r:id="rId22"/>
    <p:sldId id="277" r:id="rId23"/>
    <p:sldId id="278" r:id="rId24"/>
    <p:sldId id="279" r:id="rId25"/>
    <p:sldId id="280" r:id="rId26"/>
    <p:sldId id="281" r:id="rId27"/>
    <p:sldId id="315" r:id="rId28"/>
    <p:sldId id="316" r:id="rId29"/>
    <p:sldId id="317" r:id="rId30"/>
    <p:sldId id="318" r:id="rId31"/>
    <p:sldId id="319" r:id="rId32"/>
    <p:sldId id="320" r:id="rId33"/>
    <p:sldId id="288" r:id="rId34"/>
    <p:sldId id="321" r:id="rId35"/>
    <p:sldId id="291" r:id="rId36"/>
    <p:sldId id="292" r:id="rId37"/>
    <p:sldId id="293" r:id="rId38"/>
    <p:sldId id="323" r:id="rId39"/>
    <p:sldId id="324" r:id="rId40"/>
    <p:sldId id="332" r:id="rId41"/>
    <p:sldId id="333" r:id="rId43"/>
    <p:sldId id="334" r:id="rId44"/>
    <p:sldId id="335" r:id="rId45"/>
    <p:sldId id="337" r:id="rId46"/>
    <p:sldId id="296" r:id="rId47"/>
    <p:sldId id="325" r:id="rId48"/>
    <p:sldId id="326" r:id="rId49"/>
    <p:sldId id="327" r:id="rId50"/>
    <p:sldId id="328" r:id="rId51"/>
    <p:sldId id="302" r:id="rId52"/>
    <p:sldId id="303" r:id="rId53"/>
    <p:sldId id="304"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2" d="100"/>
          <a:sy n="82" d="100"/>
        </p:scale>
        <p:origin x="1474" y="58"/>
      </p:cViewPr>
      <p:guideLst>
        <p:guide orient="horz" pos="297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2800" b="0" i="0" u="none" strike="noStrike" kern="1200" baseline="0">
                <a:solidFill>
                  <a:schemeClr val="tx1"/>
                </a:solidFill>
                <a:latin typeface="+mj-ea"/>
                <a:ea typeface="+mj-ea"/>
                <a:cs typeface="+mn-cs"/>
              </a:defRPr>
            </a:pPr>
            <a:r>
              <a:rPr>
                <a:latin typeface="Times New Roman" panose="02020603050405020304" charset="0"/>
                <a:cs typeface="Times New Roman" panose="02020603050405020304" charset="0"/>
              </a:rPr>
              <a:t>International aid expenditure</a:t>
            </a:r>
            <a:endParaRPr>
              <a:latin typeface="Times New Roman" panose="02020603050405020304" charset="0"/>
              <a:cs typeface="Times New Roman" panose="02020603050405020304" charset="0"/>
            </a:endParaRPr>
          </a:p>
        </c:rich>
      </c:tx>
      <c:layout/>
      <c:overlay val="0"/>
    </c:title>
    <c:autoTitleDeleted val="0"/>
    <c:plotArea>
      <c:layout/>
      <c:pieChart>
        <c:varyColors val="1"/>
        <c:ser>
          <c:idx val="0"/>
          <c:order val="0"/>
          <c:tx>
            <c:strRef>
              <c:f>Sheet1!$B$1</c:f>
              <c:strCache>
                <c:ptCount val="1"/>
                <c:pt idx="0">
                  <c:v>国际援助支出</c:v>
                </c:pt>
              </c:strCache>
            </c:strRef>
          </c:tx>
          <c:explosion val="0"/>
          <c:dPt>
            <c:idx val="0"/>
            <c:bubble3D val="0"/>
          </c:dPt>
          <c:dPt>
            <c:idx val="1"/>
            <c:bubble3D val="0"/>
          </c:dPt>
          <c:dLbls>
            <c:delete val="1"/>
          </c:dLbls>
          <c:cat>
            <c:strRef>
              <c:f>Sheet1!$A$2:$A$3</c:f>
              <c:strCache>
                <c:ptCount val="2"/>
                <c:pt idx="0">
                  <c:v>双边援助</c:v>
                </c:pt>
                <c:pt idx="1">
                  <c:v>多边援助</c:v>
                </c:pt>
              </c:strCache>
            </c:strRef>
          </c:cat>
          <c:val>
            <c:numRef>
              <c:f>Sheet1!$B$2:$B$3</c:f>
              <c:numCache>
                <c:formatCode>General</c:formatCode>
                <c:ptCount val="2"/>
                <c:pt idx="0">
                  <c:v>70</c:v>
                </c:pt>
                <c:pt idx="1">
                  <c:v>30</c:v>
                </c:pt>
              </c:numCache>
            </c:numRef>
          </c:val>
        </c:ser>
        <c:dLbls>
          <c:showLegendKey val="0"/>
          <c:showVal val="0"/>
          <c:showCatName val="0"/>
          <c:showSerName val="0"/>
          <c:showPercent val="0"/>
          <c:showBubbleSize val="0"/>
          <c:showLeaderLines val="0"/>
        </c:dLbls>
        <c:firstSliceAng val="0"/>
      </c:pieChart>
    </c:plotArea>
    <c:legend>
      <c:legendPos val="r"/>
      <c:layout/>
      <c:overlay val="0"/>
      <c:txPr>
        <a:bodyPr rot="0" spcFirstLastPara="0" vertOverflow="ellipsis" vert="horz" wrap="square" anchor="ctr" anchorCtr="1"/>
        <a:lstStyle/>
        <a:p>
          <a:pPr>
            <a:defRPr lang="zh-CN" sz="2800" b="0" i="0" u="none" strike="noStrike" kern="1200" baseline="0">
              <a:solidFill>
                <a:schemeClr val="tx1"/>
              </a:solidFill>
              <a:latin typeface="+mn-lt"/>
              <a:ea typeface="+mn-ea"/>
              <a:cs typeface="+mn-cs"/>
            </a:defRPr>
          </a:pPr>
        </a:p>
      </c:txPr>
    </c:legend>
    <c:plotVisOnly val="1"/>
    <c:dispBlanksAs val="zero"/>
    <c:showDLblsOverMax val="0"/>
    <c:extLst>
      <c:ext uri="{0b15fc19-7d7d-44ad-8c2d-2c3a37ce22c3}">
        <chartProps xmlns="https://web.wps.cn/et/2018/main" chartId="{7dc543d0-58eb-4c8d-8fa6-747869dcb45c}"/>
      </c:ext>
    </c:extLst>
  </c:chart>
  <c:txPr>
    <a:bodyPr/>
    <a:lstStyle/>
    <a:p>
      <a:pPr>
        <a:defRPr lang="zh-CN" sz="1800"/>
      </a:pPr>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0.44444</cdr:x>
      <cdr:y>0.59272</cdr:y>
    </cdr:from>
    <cdr:to>
      <cdr:x>0.55556</cdr:x>
      <cdr:y>0.80179</cdr:y>
    </cdr:to>
    <cdr:sp>
      <cdr:nvSpPr>
        <cdr:cNvPr id="2" name="矩形 1"/>
        <cdr:cNvSpPr/>
      </cdr:nvSpPr>
      <cdr:spPr xmlns:a="http://schemas.openxmlformats.org/drawingml/2006/main">
        <a:xfrm xmlns:a="http://schemas.openxmlformats.org/drawingml/2006/main">
          <a:off x="3657600" y="2592288"/>
          <a:ext cx="914400" cy="914400"/>
        </a:xfrm>
        <a:prstGeom xmlns:a="http://schemas.openxmlformats.org/drawingml/2006/main" prst="rect">
          <a:avLst/>
        </a:prstGeom>
      </cdr:spPr>
      <cdr:txBody xmlns:a="http://schemas.openxmlformats.org/drawingml/2006/main">
        <a:bodyPr vertOverflow="clip" wrap="none" rtlCol="0"/>
        <a:lstStyle/>
        <a:p>
          <a:r>
            <a:rPr lang="en-US" altLang="zh-CN" sz="2800" dirty="0"/>
            <a:t>70%</a:t>
          </a:r>
          <a:endParaRPr lang="zh-CN" altLang="en-US" sz="2800" dirty="0"/>
        </a:p>
      </cdr:txBody>
    </cdr:sp>
  </cdr:relSizeAnchor>
  <cdr:relSizeAnchor xmlns:cdr="http://schemas.openxmlformats.org/drawingml/2006/chartDrawing">
    <cdr:from>
      <cdr:x>0.22</cdr:x>
      <cdr:y>0.29061</cdr:y>
    </cdr:from>
    <cdr:to>
      <cdr:x>0.33111</cdr:x>
      <cdr:y>0.49968</cdr:y>
    </cdr:to>
    <cdr:sp>
      <cdr:nvSpPr>
        <cdr:cNvPr id="3" name="矩形 2"/>
        <cdr:cNvSpPr/>
      </cdr:nvSpPr>
      <cdr:spPr xmlns:a="http://schemas.openxmlformats.org/drawingml/2006/main">
        <a:xfrm xmlns:a="http://schemas.openxmlformats.org/drawingml/2006/main">
          <a:off x="1810544" y="1270992"/>
          <a:ext cx="914400" cy="914400"/>
        </a:xfrm>
        <a:prstGeom xmlns:a="http://schemas.openxmlformats.org/drawingml/2006/main" prst="rect">
          <a:avLst/>
        </a:prstGeom>
      </cdr:spPr>
      <cdr:txBody xmlns:a="http://schemas.openxmlformats.org/drawingml/2006/main">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zh-CN" sz="2800" dirty="0">
              <a:solidFill>
                <a:schemeClr val="bg1">
                  <a:lumMod val="95000"/>
                </a:schemeClr>
              </a:solidFill>
            </a:rPr>
            <a:t>30%</a:t>
          </a:r>
          <a:endParaRPr lang="zh-CN" altLang="en-US" sz="2800" dirty="0">
            <a:solidFill>
              <a:schemeClr val="bg1">
                <a:lumMod val="95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4339" name="Rectangle 2"/>
          <p:cNvSpPr>
            <a:spLocks noRot="1" noTextEdit="1"/>
          </p:cNvSpPr>
          <p:nvPr>
            <p:ph type="sldImg"/>
          </p:nvPr>
        </p:nvSpPr>
        <p:spPr/>
      </p:sp>
      <p:sp>
        <p:nvSpPr>
          <p:cNvPr id="14340" name="Rectangle 3"/>
          <p:cNvSpPr>
            <a:spLocks noGrp="1"/>
          </p:cNvSpPr>
          <p:nvPr>
            <p:ph type="body" idx="1"/>
          </p:nvPr>
        </p:nvSpPr>
        <p:spPr/>
        <p:txBody>
          <a:bodyPr wrap="square" lIns="91440" tIns="45720" rIns="91440" bIns="45720" anchor="t" anchorCtr="0"/>
          <a:p>
            <a:pPr lvl="0" eaLnBrk="1" hangingPunct="1"/>
            <a:r>
              <a:rPr lang="en-US" altLang="en-US" dirty="0"/>
              <a:t>LO 9-1: Describe the different levels of regional economic integration.</a:t>
            </a:r>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6387" name="Rectangle 2"/>
          <p:cNvSpPr>
            <a:spLocks noRot="1" noTextEdit="1"/>
          </p:cNvSpPr>
          <p:nvPr>
            <p:ph type="sldImg"/>
          </p:nvPr>
        </p:nvSpPr>
        <p:spPr/>
      </p:sp>
      <p:sp>
        <p:nvSpPr>
          <p:cNvPr id="16388"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18435" name="Rectangle 2"/>
          <p:cNvSpPr>
            <a:spLocks noRot="1" noTextEdit="1"/>
          </p:cNvSpPr>
          <p:nvPr>
            <p:ph type="sldImg"/>
          </p:nvPr>
        </p:nvSpPr>
        <p:spPr/>
      </p:sp>
      <p:sp>
        <p:nvSpPr>
          <p:cNvPr id="18436" name="Rectangle 3"/>
          <p:cNvSpPr>
            <a:spLocks noGrp="1"/>
          </p:cNvSpPr>
          <p:nvPr>
            <p:ph type="body" idx="1"/>
          </p:nvPr>
        </p:nvSpPr>
        <p:spPr/>
        <p:txBody>
          <a:bodyPr wrap="square" lIns="91440" tIns="45720" rIns="91440" bIns="45720" anchor="t" anchorCtr="0"/>
          <a:p>
            <a:pPr lvl="0" eaLnBrk="1" hangingPunct="1">
              <a:buClr>
                <a:srgbClr val="CC6600"/>
              </a:buClr>
              <a:buFont typeface="Wingdings" panose="05000000000000000000" pitchFamily="2" charset="2"/>
              <a:buChar char="•"/>
            </a:pPr>
            <a:r>
              <a:rPr lang="en-US" altLang="en-US" dirty="0"/>
              <a:t>The European Union (EU) is an economic union, although an imperfect one since not all members of the EU have adopted the euro, and differences in tax rates across countries still remain. </a:t>
            </a:r>
            <a:endParaRPr lang="en-US" altLang="en-US" dirty="0"/>
          </a:p>
          <a:p>
            <a:pPr lvl="0" eaLnBrk="1" hangingPunct="1">
              <a:buChar char="•"/>
            </a:pPr>
            <a:endParaRPr lang="en-US" altLang="en-US" dirty="0"/>
          </a:p>
          <a:p>
            <a:pPr lvl="0" eaLnBrk="1" hangingPunct="1">
              <a:buChar char="•"/>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fld>
            <a:endParaRPr lang="en-US" altLang="en-US" dirty="0"/>
          </a:p>
        </p:txBody>
      </p:sp>
      <p:sp>
        <p:nvSpPr>
          <p:cNvPr id="20483" name="Rectangle 2"/>
          <p:cNvSpPr>
            <a:spLocks noRot="1" noTextEdit="1"/>
          </p:cNvSpPr>
          <p:nvPr>
            <p:ph type="sldImg"/>
          </p:nvPr>
        </p:nvSpPr>
        <p:spPr/>
      </p:sp>
      <p:sp>
        <p:nvSpPr>
          <p:cNvPr id="20484"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ortfolio #6">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0" y="2009137"/>
            <a:ext cx="4572000" cy="4156288"/>
          </a:xfrm>
          <a:prstGeom prst="rect">
            <a:avLst/>
          </a:prstGeom>
          <a:solidFill>
            <a:schemeClr val="bg1">
              <a:lumMod val="65000"/>
            </a:schemeClr>
          </a:solidFill>
        </p:spPr>
        <p:txBody>
          <a:bodyPr/>
          <a:lstStyle>
            <a:lvl1pPr marL="0" indent="0">
              <a:buNone/>
              <a:defRPr sz="750" baseline="0">
                <a:solidFill>
                  <a:schemeClr val="bg1"/>
                </a:solidFill>
              </a:defRPr>
            </a:lvl1pPr>
          </a:lstStyle>
          <a:p>
            <a:r>
              <a:rPr lang="zh-CN" altLang="en-US" dirty="0" smtClean="0"/>
              <a:t>请替换文字内容</a:t>
            </a:r>
            <a:r>
              <a:rPr lang="en-US" dirty="0" smtClean="0"/>
              <a:t>#</a:t>
            </a:r>
            <a:endParaRPr lang="en-US" dirty="0"/>
          </a:p>
        </p:txBody>
      </p:sp>
      <p:sp>
        <p:nvSpPr>
          <p:cNvPr id="7" name="Picture Placeholder 5"/>
          <p:cNvSpPr>
            <a:spLocks noGrp="1"/>
          </p:cNvSpPr>
          <p:nvPr>
            <p:ph type="pic" sz="quarter" idx="11" hasCustomPrompt="1"/>
          </p:nvPr>
        </p:nvSpPr>
        <p:spPr>
          <a:xfrm>
            <a:off x="4572000" y="2009136"/>
            <a:ext cx="1743075" cy="2327488"/>
          </a:xfrm>
          <a:prstGeom prst="rect">
            <a:avLst/>
          </a:prstGeom>
          <a:solidFill>
            <a:schemeClr val="bg1">
              <a:lumMod val="65000"/>
            </a:schemeClr>
          </a:solidFill>
        </p:spPr>
        <p:txBody>
          <a:bodyPr/>
          <a:lstStyle>
            <a:lvl1pPr marL="0" indent="0">
              <a:buNone/>
              <a:defRPr sz="750" baseline="0">
                <a:solidFill>
                  <a:schemeClr val="bg1"/>
                </a:solidFill>
              </a:defRPr>
            </a:lvl1pPr>
          </a:lstStyle>
          <a:p>
            <a:r>
              <a:rPr lang="zh-CN" altLang="en-US" dirty="0" smtClean="0"/>
              <a:t>请替换文字内容</a:t>
            </a:r>
            <a:r>
              <a:rPr lang="en-US" dirty="0" smtClean="0"/>
              <a:t>#</a:t>
            </a:r>
            <a:endParaRPr lang="en-US" dirty="0"/>
          </a:p>
        </p:txBody>
      </p:sp>
      <p:sp>
        <p:nvSpPr>
          <p:cNvPr id="8" name="Picture Placeholder 5"/>
          <p:cNvSpPr>
            <a:spLocks noGrp="1"/>
          </p:cNvSpPr>
          <p:nvPr>
            <p:ph type="pic" sz="quarter" idx="12" hasCustomPrompt="1"/>
          </p:nvPr>
        </p:nvSpPr>
        <p:spPr>
          <a:xfrm>
            <a:off x="6315075" y="2009136"/>
            <a:ext cx="2828925" cy="2327488"/>
          </a:xfrm>
          <a:prstGeom prst="rect">
            <a:avLst/>
          </a:prstGeom>
          <a:solidFill>
            <a:schemeClr val="bg1">
              <a:lumMod val="65000"/>
            </a:schemeClr>
          </a:solidFill>
        </p:spPr>
        <p:txBody>
          <a:bodyPr/>
          <a:lstStyle>
            <a:lvl1pPr marL="0" indent="0">
              <a:buNone/>
              <a:defRPr sz="750" baseline="0">
                <a:solidFill>
                  <a:schemeClr val="bg1"/>
                </a:solidFill>
              </a:defRPr>
            </a:lvl1pPr>
          </a:lstStyle>
          <a:p>
            <a:r>
              <a:rPr lang="zh-CN" altLang="en-US" dirty="0" smtClean="0"/>
              <a:t>请替换文字内容</a:t>
            </a:r>
            <a:r>
              <a:rPr lang="en-US" dirty="0" smtClean="0"/>
              <a:t>#</a:t>
            </a:r>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4000">
        <p15:prstTrans prst="crush"/>
      </p:transition>
    </mc:Choice>
    <mc:Fallback>
      <p:transition spd="slow" advTm="4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2" name="标题 1"/>
          <p:cNvSpPr>
            <a:spLocks noGrp="1"/>
          </p:cNvSpPr>
          <p:nvPr>
            <p:ph type="ctrTitle"/>
          </p:nvPr>
        </p:nvSpPr>
        <p:spPr>
          <a:xfrm>
            <a:off x="604520" y="3227070"/>
            <a:ext cx="6629400" cy="1314450"/>
          </a:xfrm>
        </p:spPr>
        <p:txBody>
          <a:bodyPr/>
          <a:lstStyle/>
          <a:p>
            <a:r>
              <a:rPr lang="en-US" altLang="zh-CN" sz="2800" dirty="0">
                <a:latin typeface="Times New Roman" panose="02020603050405020304" charset="0"/>
                <a:cs typeface="Times New Roman" panose="02020603050405020304" charset="0"/>
              </a:rPr>
              <a:t>Chapter 6 The Economic Cooperation Function of International Organizations</a:t>
            </a:r>
            <a:endParaRPr lang="en-US" altLang="zh-CN" sz="2800"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i="1" dirty="0">
                <a:latin typeface="Times New Roman" panose="02020603050405020304" charset="0"/>
                <a:cs typeface="Times New Roman" panose="02020603050405020304" charset="0"/>
              </a:rPr>
              <a:t>Section one</a:t>
            </a:r>
            <a:r>
              <a:rPr lang="en-US" altLang="zh-CN" sz="2800" dirty="0">
                <a:latin typeface="Times New Roman" panose="02020603050405020304" charset="0"/>
                <a:cs typeface="Times New Roman" panose="02020603050405020304" charset="0"/>
              </a:rPr>
              <a:t> International Organizations and the Development of International Trade</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sz="3110">
                <a:latin typeface="Times New Roman" panose="02020603050405020304" charset="0"/>
                <a:cs typeface="Times New Roman" panose="02020603050405020304" charset="0"/>
              </a:rPr>
              <a:t>I. Evolution of the International Trade Regime</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00990" y="1704975"/>
            <a:ext cx="8579485" cy="4987925"/>
          </a:xfrm>
        </p:spPr>
        <p:txBody>
          <a:bodyPr>
            <a:normAutofit fontScale="90000" lnSpcReduction="20000"/>
          </a:bodyPr>
          <a:p>
            <a:r>
              <a:rPr lang="en-US" altLang="zh-CN" sz="2500"/>
              <a:t>1. Late 19th – early 20th century: regulation was carried out unilaterally or bilaterally; no international body existed to exercise macro-level adjustment over the world economy.  </a:t>
            </a:r>
            <a:endParaRPr lang="en-US" altLang="zh-CN" sz="2500"/>
          </a:p>
          <a:p>
            <a:r>
              <a:rPr lang="en-US" altLang="zh-CN" sz="2500"/>
              <a:t>2. First half of the 20th century: initial attempts were made to safeguard international trade order through multilateral mechanisms, including the creation of international organizations.  </a:t>
            </a:r>
            <a:endParaRPr lang="en-US" altLang="zh-CN" sz="2500"/>
          </a:p>
          <a:p>
            <a:r>
              <a:rPr lang="en-US" altLang="zh-CN" sz="2500"/>
              <a:t>3. October 1946: the first preparatory session of the “World Trade and Employment Conference” convened in London and resolved to establish a Charter Drafting Committee to prepare the constitution of an International Trade Organization.  </a:t>
            </a:r>
            <a:endParaRPr lang="en-US" altLang="zh-CN" sz="2500"/>
          </a:p>
          <a:p>
            <a:r>
              <a:rPr lang="en-US" altLang="zh-CN" sz="2500"/>
              <a:t>4. November 1947 – March 1948: adoption of the Havana Charter.  </a:t>
            </a:r>
            <a:endParaRPr lang="en-US" altLang="zh-CN" sz="2500"/>
          </a:p>
          <a:p>
            <a:r>
              <a:rPr lang="en-US" altLang="zh-CN" sz="2500"/>
              <a:t>5. 1 January 1948: entry into force of the General Agreement on Tariffs and Trade (GATT).  </a:t>
            </a:r>
            <a:endParaRPr lang="en-US" altLang="zh-CN" sz="2500"/>
          </a:p>
          <a:p>
            <a:r>
              <a:rPr lang="en-US" altLang="zh-CN" sz="2500"/>
              <a:t>6. 1 January 1995: establishment of the World Trade Organization (WTO).</a:t>
            </a:r>
            <a:endParaRPr lang="en-US" altLang="zh-CN" sz="2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 General Agreement on Tariffs and Trade  </a:t>
            </a:r>
            <a:endParaRPr lang="en-US" altLang="zh-CN"/>
          </a:p>
        </p:txBody>
      </p:sp>
      <p:sp>
        <p:nvSpPr>
          <p:cNvPr id="3" name="内容占位符 2"/>
          <p:cNvSpPr>
            <a:spLocks noGrp="1"/>
          </p:cNvSpPr>
          <p:nvPr>
            <p:ph idx="1"/>
          </p:nvPr>
        </p:nvSpPr>
        <p:spPr>
          <a:xfrm>
            <a:off x="265430" y="1623695"/>
            <a:ext cx="8535670" cy="5085715"/>
          </a:xfrm>
        </p:spPr>
        <p:txBody>
          <a:bodyPr>
            <a:noAutofit/>
          </a:bodyPr>
          <a:p>
            <a:r>
              <a:rPr lang="en-US" altLang="zh-CN" sz="1900"/>
              <a:t>Purpose:  </a:t>
            </a:r>
            <a:endParaRPr lang="en-US" altLang="zh-CN" sz="1900"/>
          </a:p>
          <a:p>
            <a:r>
              <a:rPr lang="en-US" altLang="zh-CN" sz="2000"/>
              <a:t>- Raise living standards, ensure full employment, secure steady growth of real income and effective demand, make full use of world resources, expand production and exchange of goods, and promote economic development;  </a:t>
            </a:r>
            <a:endParaRPr lang="en-US" altLang="zh-CN" sz="2000"/>
          </a:p>
          <a:p>
            <a:r>
              <a:rPr lang="en-US" altLang="zh-CN" sz="2000"/>
              <a:t>- Regulate mutual relations in trade and economic development, mutually reduce tariffs, eliminate trade barriers and discriminatory treatment, and achieve trade liberalization.  </a:t>
            </a:r>
            <a:endParaRPr lang="en-US" altLang="zh-CN" sz="2000"/>
          </a:p>
          <a:p>
            <a:endParaRPr lang="en-US" altLang="zh-CN" sz="1900"/>
          </a:p>
          <a:p>
            <a:r>
              <a:rPr lang="en-US" altLang="zh-CN" sz="1900"/>
              <a:t>Principles:  </a:t>
            </a:r>
            <a:endParaRPr lang="en-US" altLang="zh-CN" sz="1900"/>
          </a:p>
          <a:p>
            <a:r>
              <a:rPr lang="en-US" altLang="zh-CN" sz="2000"/>
              <a:t>- Free trade;  </a:t>
            </a:r>
            <a:endParaRPr lang="en-US" altLang="zh-CN" sz="2000"/>
          </a:p>
          <a:p>
            <a:r>
              <a:rPr lang="en-US" altLang="zh-CN" sz="2000"/>
              <a:t>- Non-discrimination;  </a:t>
            </a:r>
            <a:endParaRPr lang="en-US" altLang="zh-CN" sz="2000"/>
          </a:p>
          <a:p>
            <a:r>
              <a:rPr lang="en-US" altLang="zh-CN" sz="2000"/>
              <a:t>- Reciprocity;  </a:t>
            </a:r>
            <a:endParaRPr lang="en-US" altLang="zh-CN" sz="2000"/>
          </a:p>
          <a:p>
            <a:r>
              <a:rPr lang="en-US" altLang="zh-CN" sz="2000"/>
              <a:t>- Transparency;  </a:t>
            </a:r>
            <a:endParaRPr lang="en-US" altLang="zh-CN" sz="2000"/>
          </a:p>
          <a:p>
            <a:r>
              <a:rPr lang="en-US" altLang="zh-CN" sz="2000"/>
              <a:t>- Elimination of quantitative restrictions;  </a:t>
            </a:r>
            <a:endParaRPr lang="en-US" altLang="zh-CN" sz="2000"/>
          </a:p>
          <a:p>
            <a:r>
              <a:rPr lang="en-US" altLang="zh-CN" sz="2000"/>
              <a:t>- Anti-dumping and restrictions on export subsidies.</a:t>
            </a:r>
            <a:endParaRPr lang="en-US" altLang="zh-CN"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(II) Other Types of International Organizations</a:t>
            </a:r>
            <a:endParaRPr lang="en-US" altLang="zh-CN"/>
          </a:p>
        </p:txBody>
      </p:sp>
      <p:sp>
        <p:nvSpPr>
          <p:cNvPr id="3" name="内容占位符 2"/>
          <p:cNvSpPr>
            <a:spLocks noGrp="1"/>
          </p:cNvSpPr>
          <p:nvPr>
            <p:ph idx="1"/>
          </p:nvPr>
        </p:nvSpPr>
        <p:spPr>
          <a:xfrm>
            <a:off x="344170" y="1752600"/>
            <a:ext cx="8485505" cy="4942840"/>
          </a:xfrm>
        </p:spPr>
        <p:txBody>
          <a:bodyPr>
            <a:normAutofit fontScale="80000"/>
          </a:bodyPr>
          <a:p>
            <a:r>
              <a:rPr lang="en-US" altLang="zh-CN"/>
              <a:t>1. Council for Mutual Economic Assistance (CMEA, established 1949) – Objective: to coordinate trade relations among the Soviet Union and Eastern-bloc countries.  </a:t>
            </a:r>
            <a:endParaRPr lang="en-US" altLang="zh-CN"/>
          </a:p>
          <a:p>
            <a:r>
              <a:rPr lang="en-US" altLang="zh-CN"/>
              <a:t>2. United Nations Conference on Trade and Development (UNCTAD, established 1964) – Objective: to formulate principles on international trade and related development issues, help developing countries secure trade and investment opportunities, and foster the evolution of multilateral trade agreements.  </a:t>
            </a:r>
            <a:endParaRPr lang="en-US" altLang="zh-CN"/>
          </a:p>
          <a:p>
            <a:r>
              <a:rPr lang="en-US" altLang="zh-CN"/>
              <a:t>3. Organization of the Petroleum Exporting Countries (OPEC, established 1960) – Purpose: to protect, through a specialized producers’ organization, the national economic interests of raw-material producing and exporting countries.  </a:t>
            </a:r>
            <a:endParaRPr lang="en-US" altLang="zh-CN"/>
          </a:p>
          <a:p>
            <a:r>
              <a:rPr lang="en-US" altLang="zh-CN"/>
              <a:t>4. Regional economic organizations  </a:t>
            </a:r>
            <a:endParaRPr lang="en-US" altLang="zh-CN"/>
          </a:p>
          <a:p>
            <a:r>
              <a:rPr lang="en-US" altLang="zh-CN"/>
              <a:t>5. Forum-style multilateral coordination mechanisms, exemplified by the Group of Seven (G7) summit, which play a central role in coordinating macro-economic policies and stabilizing the world economy.</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(III) World Trade Organization  </a:t>
            </a:r>
            <a:endParaRPr lang="en-US" altLang="zh-CN"/>
          </a:p>
        </p:txBody>
      </p:sp>
      <p:sp>
        <p:nvSpPr>
          <p:cNvPr id="3" name="内容占位符 2"/>
          <p:cNvSpPr>
            <a:spLocks noGrp="1"/>
          </p:cNvSpPr>
          <p:nvPr>
            <p:ph idx="1"/>
          </p:nvPr>
        </p:nvSpPr>
        <p:spPr>
          <a:xfrm>
            <a:off x="457200" y="1752600"/>
            <a:ext cx="8229600" cy="4813935"/>
          </a:xfrm>
        </p:spPr>
        <p:txBody>
          <a:bodyPr>
            <a:normAutofit fontScale="90000" lnSpcReduction="10000"/>
          </a:bodyPr>
          <a:p>
            <a:r>
              <a:rPr lang="en-US" altLang="zh-CN"/>
              <a:t>- Established: 1 January 1995  </a:t>
            </a:r>
            <a:endParaRPr lang="en-US" altLang="zh-CN"/>
          </a:p>
          <a:p>
            <a:r>
              <a:rPr lang="en-US" altLang="zh-CN"/>
              <a:t>- Marks the formation of a global multilateral trading system dedicated to free trade.</a:t>
            </a:r>
            <a:endParaRPr lang="en-US" altLang="zh-CN"/>
          </a:p>
          <a:p>
            <a:r>
              <a:rPr lang="en-US" altLang="zh-CN"/>
              <a:t>Organizational Structure  </a:t>
            </a:r>
            <a:endParaRPr lang="en-US" altLang="zh-CN"/>
          </a:p>
          <a:p>
            <a:r>
              <a:rPr lang="en-US" altLang="zh-CN"/>
              <a:t>1. Ministerial Conference: the supreme authority, empowered to take decisions on any matter under the WTO’s purview.  </a:t>
            </a:r>
            <a:endParaRPr lang="en-US" altLang="zh-CN"/>
          </a:p>
          <a:p>
            <a:r>
              <a:rPr lang="en-US" altLang="zh-CN"/>
              <a:t>2. General Council: exercises the functions of the Ministerial Conference between its sessions, carries out all duties assigned by the WTO Agreement, and oversees subsidiary councils and committees.  </a:t>
            </a:r>
            <a:endParaRPr lang="en-US" altLang="zh-CN"/>
          </a:p>
          <a:p>
            <a:r>
              <a:rPr lang="en-US" altLang="zh-CN"/>
              <a:t>3. Dispute Settlement Mechanism: addresses trade disputes among WTO members; its rulings are legally binding on the parties.  </a:t>
            </a:r>
            <a:endParaRPr lang="en-US" altLang="zh-CN"/>
          </a:p>
          <a:p>
            <a:r>
              <a:rPr lang="en-US" altLang="zh-CN"/>
              <a:t>4. Secretariat: handles the day-to-day work of the WTO.</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lang="en-US" altLang="zh-CN" sz="3110" dirty="0">
                <a:latin typeface="Times New Roman" panose="02020603050405020304" charset="0"/>
                <a:cs typeface="Times New Roman" panose="02020603050405020304" charset="0"/>
              </a:rPr>
              <a:t>II. Activities and Approaches of International Organizations in International Trade</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179070" y="1492250"/>
            <a:ext cx="8635365" cy="5290185"/>
          </a:xfrm>
        </p:spPr>
        <p:txBody>
          <a:bodyPr>
            <a:noAutofit/>
          </a:bodyPr>
          <a:lstStyle/>
          <a:p>
            <a:pPr marL="723900" indent="-609600">
              <a:lnSpc>
                <a:spcPct val="150000"/>
              </a:lnSpc>
              <a:buFont typeface="Wingdings" panose="05000000000000000000" pitchFamily="2" charset="2"/>
              <a:buChar char="Ø"/>
            </a:pPr>
            <a:r>
              <a:rPr lang="en-US" altLang="zh-CN" sz="1800" dirty="0">
                <a:latin typeface="Times New Roman" panose="02020603050405020304" charset="0"/>
                <a:cs typeface="Times New Roman" panose="02020603050405020304" charset="0"/>
              </a:rPr>
              <a:t>Functions of the World Trade Organization:</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Implement, administer and operate the WTO Agreement and the multilateral trade agreements;</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Continue to provide a forum for negotiations under the existing agreements and a venue for negotiations on new issues and new rounds;</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Administer and implement the Understanding on Rules and Procedures Governing the Settlement of Disputes (Annex 2);</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Administer and implement the Trade Policy Review Mechanism (Annex 3);</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Cooperate with other international organizations to coordinate the formulation of global economic policies;</a:t>
            </a:r>
            <a:endParaRPr lang="en-US" altLang="zh-CN" sz="1800" dirty="0">
              <a:latin typeface="Times New Roman" panose="02020603050405020304" charset="0"/>
              <a:cs typeface="Times New Roman" panose="02020603050405020304" charset="0"/>
            </a:endParaRPr>
          </a:p>
          <a:p>
            <a:pPr marL="114300" indent="0">
              <a:lnSpc>
                <a:spcPct val="150000"/>
              </a:lnSpc>
              <a:buFont typeface="Wingdings" panose="05000000000000000000" pitchFamily="2" charset="2"/>
              <a:buNone/>
            </a:pPr>
            <a:r>
              <a:rPr lang="en-US" altLang="zh-CN" sz="1800" dirty="0">
                <a:latin typeface="Times New Roman" panose="02020603050405020304" charset="0"/>
                <a:cs typeface="Times New Roman" panose="02020603050405020304" charset="0"/>
              </a:rPr>
              <a:t>Provide technical assistance and training to assist developing, and especially least-developed, country members.</a:t>
            </a:r>
            <a:endParaRPr lang="en-US" altLang="zh-CN" sz="1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 Activities and Methods of the World Trade Organization</a:t>
            </a:r>
            <a:r>
              <a:rPr lang="en-US" altLang="zh-CN"/>
              <a:t>  </a:t>
            </a:r>
            <a:endParaRPr lang="en-US" altLang="zh-CN"/>
          </a:p>
        </p:txBody>
      </p:sp>
      <p:sp>
        <p:nvSpPr>
          <p:cNvPr id="3" name="内容占位符 2"/>
          <p:cNvSpPr>
            <a:spLocks noGrp="1"/>
          </p:cNvSpPr>
          <p:nvPr>
            <p:ph idx="1"/>
          </p:nvPr>
        </p:nvSpPr>
        <p:spPr>
          <a:xfrm>
            <a:off x="315595" y="1752600"/>
            <a:ext cx="8658225" cy="4936490"/>
          </a:xfrm>
        </p:spPr>
        <p:txBody>
          <a:bodyPr>
            <a:noAutofit/>
          </a:bodyPr>
          <a:p>
            <a:r>
              <a:rPr lang="en-US" altLang="zh-CN" sz="1800"/>
              <a:t>1) Organizing multilateral trade negotiations is the WTO’s principal means of advancing trade liberalization.  </a:t>
            </a:r>
            <a:endParaRPr lang="en-US" altLang="zh-CN" sz="1800"/>
          </a:p>
          <a:p>
            <a:r>
              <a:rPr lang="en-US" altLang="zh-CN" sz="1800"/>
              <a:t>Doha Round Negotiations  </a:t>
            </a:r>
            <a:endParaRPr lang="en-US" altLang="zh-CN" sz="1800"/>
          </a:p>
          <a:p>
            <a:endParaRPr lang="en-US" altLang="zh-CN" sz="1800"/>
          </a:p>
          <a:p>
            <a:r>
              <a:rPr lang="en-US" altLang="zh-CN" sz="1800"/>
              <a:t>2) The Trade Policy Review Mechanism is the WTO’s key instrument for overseeing the operation of the international trading system.  </a:t>
            </a:r>
            <a:endParaRPr lang="en-US" altLang="zh-CN" sz="1800"/>
          </a:p>
          <a:p>
            <a:r>
              <a:rPr lang="en-US" altLang="zh-CN" sz="1800"/>
              <a:t>   Country-specific trade-policy reviews, pioneered by the WTO  </a:t>
            </a:r>
            <a:endParaRPr lang="en-US" altLang="zh-CN" sz="1800"/>
          </a:p>
          <a:p>
            <a:r>
              <a:rPr lang="en-US" altLang="zh-CN" sz="1800"/>
              <a:t>   Purpose: examine the impact of members’ trade policies and practices on the multilateral trading system  </a:t>
            </a:r>
            <a:endParaRPr lang="en-US" altLang="zh-CN" sz="1800"/>
          </a:p>
          <a:p>
            <a:r>
              <a:rPr lang="en-US" altLang="zh-CN" sz="1800"/>
              <a:t>   Format: convene Trade Policy Review Body meetings and conduct collective-based monitoring  </a:t>
            </a:r>
            <a:endParaRPr lang="en-US" altLang="zh-CN" sz="1800"/>
          </a:p>
          <a:p>
            <a:r>
              <a:rPr lang="en-US" altLang="zh-CN" sz="1800"/>
              <a:t>3) The Dispute Settlement Mechanism is the backbone of the WTO legal system and the final safeguard for securing multilateral trade liberalization.  </a:t>
            </a:r>
            <a:endParaRPr lang="en-US" altLang="zh-CN" sz="1800"/>
          </a:p>
          <a:p>
            <a:r>
              <a:rPr lang="en-US" altLang="zh-CN" sz="1800"/>
              <a:t>  Purpose: resolve trade disputes between members through effectively enforced rulings, prevent trade conflicts, and ensure that the rights and obligations of the contracting parties are upheld.</a:t>
            </a:r>
            <a:endParaRPr lang="en-US" altLang="zh-CN"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a:t>(II) Regional International Organizations  </a:t>
            </a:r>
            <a:endParaRPr lang="en-US" altLang="zh-CN" dirty="0"/>
          </a:p>
        </p:txBody>
      </p:sp>
      <p:sp>
        <p:nvSpPr>
          <p:cNvPr id="3" name="内容占位符 2"/>
          <p:cNvSpPr>
            <a:spLocks noGrp="1"/>
          </p:cNvSpPr>
          <p:nvPr>
            <p:ph idx="1"/>
          </p:nvPr>
        </p:nvSpPr>
        <p:spPr/>
        <p:txBody>
          <a:bodyPr/>
          <a:lstStyle/>
          <a:p>
            <a:pPr marL="628650" indent="-457200">
              <a:buFont typeface="Wingdings" panose="05000000000000000000" pitchFamily="2" charset="2"/>
              <a:buChar char="Ø"/>
            </a:pPr>
            <a:r>
              <a:rPr lang="en-US" altLang="zh-CN" dirty="0"/>
              <a:t>- Regional trading arrangements  </a:t>
            </a:r>
            <a:endParaRPr lang="en-US" altLang="zh-CN" dirty="0"/>
          </a:p>
          <a:p>
            <a:pPr marL="628650" indent="-457200">
              <a:buFont typeface="Wingdings" panose="05000000000000000000" pitchFamily="2" charset="2"/>
              <a:buChar char="Ø"/>
            </a:pPr>
            <a:endParaRPr lang="en-US" altLang="zh-CN" dirty="0"/>
          </a:p>
          <a:p>
            <a:pPr marL="628650" indent="-457200">
              <a:buFont typeface="Wingdings" panose="05000000000000000000" pitchFamily="2" charset="2"/>
              <a:buChar char="Ø"/>
            </a:pPr>
            <a:r>
              <a:rPr lang="en-US" altLang="zh-CN" dirty="0"/>
              <a:t>Forms:  </a:t>
            </a:r>
            <a:endParaRPr lang="en-US" altLang="zh-CN" dirty="0"/>
          </a:p>
          <a:p>
            <a:pPr marL="628650" indent="-457200">
              <a:buFont typeface="Wingdings" panose="05000000000000000000" pitchFamily="2" charset="2"/>
              <a:buChar char="Ø"/>
            </a:pPr>
            <a:r>
              <a:rPr lang="en-US" altLang="zh-CN" dirty="0"/>
              <a:t>- Preferential trade agreements, free-trade areas, customs unions, common markets, economic unions, etc.  </a:t>
            </a:r>
            <a:endParaRPr lang="en-US" altLang="zh-CN" dirty="0"/>
          </a:p>
          <a:p>
            <a:pPr marL="628650" indent="-457200">
              <a:buFont typeface="Wingdings" panose="05000000000000000000" pitchFamily="2" charset="2"/>
              <a:buChar char="Ø"/>
            </a:pPr>
            <a:endParaRPr lang="en-US" altLang="zh-CN" dirty="0"/>
          </a:p>
          <a:p>
            <a:pPr marL="628650" indent="-457200">
              <a:buFont typeface="Wingdings" panose="05000000000000000000" pitchFamily="2" charset="2"/>
              <a:buChar char="Ø"/>
            </a:pPr>
            <a:r>
              <a:rPr lang="en-US" altLang="zh-CN" dirty="0"/>
              <a:t>Objective:  </a:t>
            </a:r>
            <a:endParaRPr lang="en-US" altLang="zh-CN" dirty="0"/>
          </a:p>
          <a:p>
            <a:pPr marL="628650" indent="-457200">
              <a:buFont typeface="Wingdings" panose="05000000000000000000" pitchFamily="2" charset="2"/>
              <a:buChar char="Ø"/>
            </a:pPr>
            <a:r>
              <a:rPr lang="en-US" altLang="zh-CN" dirty="0"/>
              <a:t>- Remove obstacles to economic development within the region and achieve rational movement and efficient allocation of economic factors.</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III. Impetus of International Organizations to International Trade Development </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457200" y="2079773"/>
            <a:ext cx="8229600" cy="4373563"/>
          </a:xfrm>
        </p:spPr>
        <p:txBody>
          <a:bodyPr/>
          <a:lstStyle/>
          <a:p>
            <a:pPr marL="571500" indent="-457200">
              <a:buFont typeface="+mj-lt"/>
              <a:buAutoNum type="arabicPeriod"/>
            </a:pPr>
            <a:r>
              <a:rPr lang="en-US" altLang="zh-CN" sz="2800" dirty="0">
                <a:latin typeface="Times New Roman" panose="02020603050405020304" charset="0"/>
                <a:cs typeface="Times New Roman" panose="02020603050405020304" charset="0"/>
              </a:rPr>
              <a:t>- Established operational rules for international trade and fostered the progressive development and improvement of the relevant legal system.  </a:t>
            </a:r>
            <a:endParaRPr lang="en-US" altLang="zh-CN" sz="2800" dirty="0">
              <a:latin typeface="Times New Roman" panose="02020603050405020304" charset="0"/>
              <a:cs typeface="Times New Roman" panose="02020603050405020304" charset="0"/>
            </a:endParaRPr>
          </a:p>
          <a:p>
            <a:pPr marL="571500" indent="-457200">
              <a:buFont typeface="+mj-lt"/>
              <a:buAutoNum type="arabicPeriod"/>
            </a:pPr>
            <a:r>
              <a:rPr lang="en-US" altLang="zh-CN" sz="2800" dirty="0">
                <a:latin typeface="Times New Roman" panose="02020603050405020304" charset="0"/>
                <a:cs typeface="Times New Roman" panose="02020603050405020304" charset="0"/>
              </a:rPr>
              <a:t>- Accelerated worldwide trade liberalization.  </a:t>
            </a:r>
            <a:endParaRPr lang="en-US" altLang="zh-CN" sz="2800" dirty="0">
              <a:latin typeface="Times New Roman" panose="02020603050405020304" charset="0"/>
              <a:cs typeface="Times New Roman" panose="02020603050405020304" charset="0"/>
            </a:endParaRPr>
          </a:p>
          <a:p>
            <a:pPr marL="571500" indent="-457200">
              <a:buFont typeface="+mj-lt"/>
              <a:buAutoNum type="arabicPeriod"/>
            </a:pPr>
            <a:r>
              <a:rPr lang="en-US" altLang="zh-CN" sz="2800" dirty="0">
                <a:latin typeface="Times New Roman" panose="02020603050405020304" charset="0"/>
                <a:cs typeface="Times New Roman" panose="02020603050405020304" charset="0"/>
              </a:rPr>
              <a:t>- Manage and supervise the normal functioning of international trade activities.  </a:t>
            </a:r>
            <a:endParaRPr lang="en-US" altLang="zh-CN" sz="2800" dirty="0">
              <a:latin typeface="Times New Roman" panose="02020603050405020304" charset="0"/>
              <a:cs typeface="Times New Roman" panose="02020603050405020304" charset="0"/>
            </a:endParaRPr>
          </a:p>
          <a:p>
            <a:pPr marL="571500" indent="-457200">
              <a:buFont typeface="+mj-lt"/>
              <a:buAutoNum type="arabicPeriod"/>
            </a:pPr>
            <a:r>
              <a:rPr lang="en-US" altLang="zh-CN" sz="2800" dirty="0">
                <a:latin typeface="Times New Roman" panose="02020603050405020304" charset="0"/>
                <a:cs typeface="Times New Roman" panose="02020603050405020304" charset="0"/>
              </a:rPr>
              <a:t>- Provide a legal framework and institutional safeguards for the settlement of international trade disputes.</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i="1" dirty="0">
                <a:latin typeface="Times New Roman" panose="02020603050405020304" charset="0"/>
                <a:cs typeface="Times New Roman" panose="02020603050405020304" charset="0"/>
              </a:rPr>
              <a:t>Section two </a:t>
            </a:r>
            <a:r>
              <a:rPr lang="en-US" altLang="zh-CN" sz="2800" dirty="0">
                <a:latin typeface="Times New Roman" panose="02020603050405020304" charset="0"/>
                <a:cs typeface="Times New Roman" panose="02020603050405020304" charset="0"/>
              </a:rPr>
              <a:t> International Organizations and International Financial Cooperation</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International Financial Cooperation  </a:t>
            </a:r>
            <a:endParaRPr lang="en-US" altLang="zh-CN"/>
          </a:p>
        </p:txBody>
      </p:sp>
      <p:sp>
        <p:nvSpPr>
          <p:cNvPr id="3" name="内容占位符 2"/>
          <p:cNvSpPr>
            <a:spLocks noGrp="1"/>
          </p:cNvSpPr>
          <p:nvPr>
            <p:ph idx="1"/>
          </p:nvPr>
        </p:nvSpPr>
        <p:spPr>
          <a:xfrm>
            <a:off x="271145" y="1752600"/>
            <a:ext cx="8415655" cy="4612005"/>
          </a:xfrm>
        </p:spPr>
        <p:txBody>
          <a:bodyPr>
            <a:normAutofit lnSpcReduction="10000"/>
          </a:bodyPr>
          <a:p>
            <a:r>
              <a:rPr lang="en-US" altLang="zh-CN"/>
              <a:t>- International finance:  </a:t>
            </a:r>
            <a:endParaRPr lang="en-US" altLang="zh-CN"/>
          </a:p>
          <a:p>
            <a:r>
              <a:rPr lang="en-US" altLang="zh-CN"/>
              <a:t>The turnover and movement of monetary funds among countries or regions arising from economic, political and cultural links; banks, finance companies, investment firms, securities companies and other financial institutions operate monetary funds through foreign exchange, bonds, stocks and other instruments to effect cross-border transfers of capital.  </a:t>
            </a:r>
            <a:endParaRPr lang="en-US" altLang="zh-CN"/>
          </a:p>
          <a:p>
            <a:r>
              <a:rPr lang="en-US" altLang="zh-CN"/>
              <a:t>Global financial organizations: represented by the International Monetary Fund and the World Bank  </a:t>
            </a:r>
            <a:endParaRPr lang="en-US" altLang="zh-CN"/>
          </a:p>
          <a:p>
            <a:r>
              <a:rPr lang="en-US" altLang="zh-CN"/>
              <a:t>Regional financial organizations: Asian Development Bank, African Development Bank, Inter-American Development Bank, etc.</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 Evolution of the International Financial Mechanism</a:t>
            </a:r>
            <a:endParaRPr lang="en-US" altLang="zh-CN"/>
          </a:p>
        </p:txBody>
      </p:sp>
      <p:sp>
        <p:nvSpPr>
          <p:cNvPr id="3" name="内容占位符 2"/>
          <p:cNvSpPr>
            <a:spLocks noGrp="1"/>
          </p:cNvSpPr>
          <p:nvPr>
            <p:ph idx="1"/>
          </p:nvPr>
        </p:nvSpPr>
        <p:spPr>
          <a:xfrm>
            <a:off x="330200" y="1752600"/>
            <a:ext cx="8356600" cy="4373880"/>
          </a:xfrm>
        </p:spPr>
        <p:txBody>
          <a:bodyPr>
            <a:normAutofit fontScale="90000" lnSpcReduction="10000"/>
          </a:bodyPr>
          <a:p>
            <a:r>
              <a:rPr lang="en-US" altLang="zh-CN"/>
              <a:t>1. 19th century: the gold-standard monetary system.  </a:t>
            </a:r>
            <a:endParaRPr lang="en-US" altLang="zh-CN"/>
          </a:p>
          <a:p>
            <a:r>
              <a:rPr lang="en-US" altLang="zh-CN"/>
              <a:t>2. 1929–1933: complete collapse of the gold standard; emergence of exclusive currency blocs centered on national currencies.  </a:t>
            </a:r>
            <a:endParaRPr lang="en-US" altLang="zh-CN"/>
          </a:p>
          <a:p>
            <a:r>
              <a:rPr lang="en-US" altLang="zh-CN"/>
              <a:t>3. December 1945: establishment of the International Monetary Fund and the International Bank for Reconstruction and Development; creation of the Bretton Woods system—a dollar-centered international monetary order.  </a:t>
            </a:r>
            <a:endParaRPr lang="en-US" altLang="zh-CN"/>
          </a:p>
          <a:p>
            <a:r>
              <a:rPr lang="en-US" altLang="zh-CN"/>
              <a:t>4. 1978: the Jamaica system—introduced a dollar-centered, diversified system of international reserves and floating exchange rates.  </a:t>
            </a:r>
            <a:endParaRPr lang="en-US" altLang="zh-CN"/>
          </a:p>
          <a:p>
            <a:r>
              <a:rPr lang="en-US" altLang="zh-CN"/>
              <a:t>5. Post-1980s: wave of financial-liberalization reforms.  </a:t>
            </a:r>
            <a:endParaRPr lang="en-US" altLang="zh-CN"/>
          </a:p>
          <a:p>
            <a:r>
              <a:rPr lang="en-US" altLang="zh-CN"/>
              <a:t>6. April 2009: G20 London Summit—decision to create the Financial Stability Board.</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 International Monetary Fund </a:t>
            </a:r>
            <a:endParaRPr lang="en-US" altLang="zh-CN"/>
          </a:p>
        </p:txBody>
      </p:sp>
      <p:sp>
        <p:nvSpPr>
          <p:cNvPr id="3" name="内容占位符 2"/>
          <p:cNvSpPr>
            <a:spLocks noGrp="1"/>
          </p:cNvSpPr>
          <p:nvPr>
            <p:ph idx="1"/>
          </p:nvPr>
        </p:nvSpPr>
        <p:spPr>
          <a:xfrm>
            <a:off x="331470" y="1752600"/>
            <a:ext cx="8355330" cy="4754880"/>
          </a:xfrm>
        </p:spPr>
        <p:txBody>
          <a:bodyPr>
            <a:normAutofit fontScale="80000"/>
          </a:bodyPr>
          <a:p>
            <a:r>
              <a:rPr lang="en-US" altLang="zh-CN" sz="2500"/>
              <a:t>Organizational structure  </a:t>
            </a:r>
            <a:endParaRPr lang="en-US" altLang="zh-CN" sz="2500"/>
          </a:p>
          <a:p>
            <a:r>
              <a:rPr lang="en-US" altLang="zh-CN" sz="2500"/>
              <a:t>- Board of Governors: highest authority  </a:t>
            </a:r>
            <a:endParaRPr lang="en-US" altLang="zh-CN" sz="2500"/>
          </a:p>
          <a:p>
            <a:r>
              <a:rPr lang="en-US" altLang="zh-CN" sz="2500"/>
              <a:t>- Executive Board: handles day-to-day operations  </a:t>
            </a:r>
            <a:endParaRPr lang="en-US" altLang="zh-CN" sz="2500"/>
          </a:p>
          <a:p>
            <a:r>
              <a:rPr lang="en-US" altLang="zh-CN" sz="2500"/>
              <a:t>- Managing Director: chief executive  </a:t>
            </a:r>
            <a:endParaRPr lang="en-US" altLang="zh-CN" sz="2500"/>
          </a:p>
          <a:p>
            <a:endParaRPr lang="en-US" altLang="zh-CN" sz="2500"/>
          </a:p>
          <a:p>
            <a:r>
              <a:rPr lang="en-US" altLang="zh-CN" sz="2500"/>
              <a:t>Main activities  </a:t>
            </a:r>
            <a:endParaRPr lang="en-US" altLang="zh-CN" sz="2500"/>
          </a:p>
          <a:p>
            <a:r>
              <a:rPr lang="en-US" altLang="zh-CN" sz="2500"/>
              <a:t>- Formulate and implement rules for the international monetary system  </a:t>
            </a:r>
            <a:endParaRPr lang="en-US" altLang="zh-CN" sz="2500"/>
          </a:p>
          <a:p>
            <a:r>
              <a:rPr lang="en-US" altLang="zh-CN" sz="2500"/>
              <a:t>- Oversee members’ exchange-rate arrangements and economic policies  </a:t>
            </a:r>
            <a:endParaRPr lang="en-US" altLang="zh-CN" sz="2500"/>
          </a:p>
          <a:p>
            <a:r>
              <a:rPr lang="en-US" altLang="zh-CN" sz="2500"/>
              <a:t>- Provide short-term loans when members face balance-of-payments imbalances  </a:t>
            </a:r>
            <a:endParaRPr lang="en-US" altLang="zh-CN" sz="2500"/>
          </a:p>
          <a:p>
            <a:r>
              <a:rPr lang="en-US" altLang="zh-CN" sz="2500"/>
              <a:t>- Offer technical assistance on fiscal, monetary, banking and foreign-trade issues through training, resident representatives and experts</a:t>
            </a:r>
            <a:endParaRPr lang="en-US" altLang="zh-CN" sz="2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000" dirty="0">
                <a:latin typeface="Times New Roman" panose="02020603050405020304" charset="0"/>
                <a:cs typeface="Times New Roman" panose="02020603050405020304" charset="0"/>
              </a:rPr>
              <a:t>(II) International Bank for Reconstruction and Development (World Bank)</a:t>
            </a:r>
            <a:endParaRPr lang="zh-CN" altLang="en-US" sz="300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27965" y="1582420"/>
            <a:ext cx="8688070" cy="4991100"/>
          </a:xfrm>
        </p:spPr>
        <p:txBody>
          <a:bodyPr>
            <a:noAutofit/>
          </a:bodyPr>
          <a:lstStyle/>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World Bank Group: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World Bank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International Development Association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International Finance Corporation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International Centre for Settlement of Investment Disputes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Multilateral Investment Guarantee Agency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Common objective: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Promote economic development and social progress of member countries, reduce poverty, and improve living standards.</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Main organs: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Board of Governors  </a:t>
            </a:r>
            <a:endParaRPr lang="en-US" altLang="zh-CN" sz="1900" dirty="0">
              <a:latin typeface="Times New Roman" panose="02020603050405020304" charset="0"/>
              <a:cs typeface="Times New Roman" panose="02020603050405020304" charset="0"/>
            </a:endParaRPr>
          </a:p>
          <a:p>
            <a:pPr marL="628650" indent="-514350">
              <a:buFont typeface="Wingdings" panose="05000000000000000000" pitchFamily="2" charset="2"/>
              <a:buChar char="Ø"/>
            </a:pPr>
            <a:r>
              <a:rPr lang="en-US" altLang="zh-CN" sz="1900" dirty="0">
                <a:latin typeface="Times New Roman" panose="02020603050405020304" charset="0"/>
                <a:cs typeface="Times New Roman" panose="02020603050405020304" charset="0"/>
              </a:rPr>
              <a:t>- Executive Directors</a:t>
            </a:r>
            <a:endParaRPr lang="en-US" altLang="zh-CN" sz="19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International Bank for Reconstruction and Development (World Bank)</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628650" indent="-628650">
              <a:buFont typeface="Wingdings" panose="05000000000000000000" pitchFamily="2" charset="2"/>
              <a:buChar char="Ø"/>
            </a:pPr>
            <a:r>
              <a:rPr lang="en-US" altLang="zh-CN" dirty="0"/>
              <a:t>Main activities:</a:t>
            </a:r>
            <a:endParaRPr lang="en-US" altLang="zh-CN" dirty="0"/>
          </a:p>
          <a:p>
            <a:pPr marL="628650" indent="-628650">
              <a:buFont typeface="Wingdings" panose="05000000000000000000" pitchFamily="2" charset="2"/>
              <a:buChar char="Ø"/>
            </a:pPr>
            <a:r>
              <a:rPr lang="en-US" altLang="zh-CN" dirty="0"/>
              <a:t>- Provide long-term loans for productive purposes to member governments, government agencies, or private enterprises guaranteed by governments.</a:t>
            </a:r>
            <a:endParaRPr lang="en-US" altLang="zh-CN" dirty="0"/>
          </a:p>
          <a:p>
            <a:pPr marL="628650" indent="-628650">
              <a:buFont typeface="Wingdings" panose="05000000000000000000" pitchFamily="2" charset="2"/>
              <a:buChar char="Ø"/>
            </a:pPr>
            <a:endParaRPr lang="en-US" altLang="zh-CN" dirty="0"/>
          </a:p>
          <a:p>
            <a:pPr marL="628650" indent="-628650">
              <a:buFont typeface="Wingdings" panose="05000000000000000000" pitchFamily="2" charset="2"/>
              <a:buChar char="Ø"/>
            </a:pPr>
            <a:r>
              <a:rPr lang="en-US" altLang="zh-CN" dirty="0"/>
              <a:t>- Dispatch missions to borrowing countries for on-site assessments and provide technical assistance</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(II) International Bank for Reconstruction and Development (World Bank)</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93370" y="1752600"/>
            <a:ext cx="8622665" cy="4857115"/>
          </a:xfrm>
        </p:spPr>
        <p:txBody>
          <a:bodyPr>
            <a:normAutofit fontScale="80000"/>
          </a:bodyPr>
          <a:p>
            <a:r>
              <a:rPr lang="en-US" altLang="zh-CN" sz="2500"/>
              <a:t>Four affiliated institutions:  </a:t>
            </a:r>
            <a:endParaRPr lang="en-US" altLang="zh-CN" sz="2500"/>
          </a:p>
          <a:p>
            <a:r>
              <a:rPr lang="en-US" altLang="zh-CN" sz="2500"/>
              <a:t>1. International Development Association (IDA) – established 1960; provides long-term, interest-free or low-interest loans to low-income developing countries.  </a:t>
            </a:r>
            <a:endParaRPr lang="en-US" altLang="zh-CN" sz="2500"/>
          </a:p>
          <a:p>
            <a:r>
              <a:rPr lang="en-US" altLang="zh-CN" sz="2500"/>
              <a:t>2. International Centre for Settlement of Investment Disputes (ICSID) – established 1966; settles investment disputes between investors and host states through conciliation and arbitration.  </a:t>
            </a:r>
            <a:endParaRPr lang="en-US" altLang="zh-CN" sz="2500"/>
          </a:p>
          <a:p>
            <a:r>
              <a:rPr lang="en-US" altLang="zh-CN" sz="2500"/>
              <a:t>3. Multilateral Investment Guarantee Agency (MIGA) – established 1988; offers long-term political-risk insurance to investors, promotes foreign investment in developing countries, and helps those countries attract investment by supplying technical assistance and resources.  </a:t>
            </a:r>
            <a:endParaRPr lang="en-US" altLang="zh-CN" sz="2500"/>
          </a:p>
          <a:p>
            <a:r>
              <a:rPr lang="en-US" altLang="zh-CN" sz="2500"/>
              <a:t>4. Bank for International Settlements (BIS) – established 1930; fosters cooperation among central banks, facilitates international financial operations, and acts as trustee or agent in international settlement business.</a:t>
            </a:r>
            <a:endParaRPr lang="en-US" altLang="zh-CN" sz="2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latin typeface="Times New Roman" panose="02020603050405020304" charset="0"/>
                <a:cs typeface="Times New Roman" panose="02020603050405020304" charset="0"/>
              </a:rPr>
              <a:t>(III) Regional International Organizations</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95910" y="1705610"/>
            <a:ext cx="8642350" cy="5035550"/>
          </a:xfrm>
        </p:spPr>
        <p:txBody>
          <a:bodyPr>
            <a:noAutofit/>
          </a:bodyPr>
          <a:p>
            <a:r>
              <a:rPr lang="en-US" altLang="zh-CN" sz="1500"/>
              <a:t>1. Inter-American Development Bank (IDB) – formally began operations in October 1960. Main activities: provide loans to foster economic development in Latin America, help member states expand trade, and furnish technical cooperation for the preparation, planning, and implementation of development programs and projects.</a:t>
            </a:r>
            <a:endParaRPr lang="en-US" altLang="zh-CN" sz="1500"/>
          </a:p>
          <a:p>
            <a:r>
              <a:rPr lang="en-US" altLang="zh-CN" sz="1500"/>
              <a:t>2. African Development Bank (AfDB) – commenced operations in July 1966. Main activities: promote the economic development and social progress of member states by extending investments and loans that mobilize Africa’s human and natural resources; give priority funding and technical assistance to projects that enhance regional economic cooperation and enlarge intra-regional trade; assist members in studying, formulating, coordinating, and executing economic development plans to achieve African economic integration.</a:t>
            </a:r>
            <a:endParaRPr lang="en-US" altLang="zh-CN" sz="1500"/>
          </a:p>
          <a:p>
            <a:r>
              <a:rPr lang="en-US" altLang="zh-CN" sz="1500"/>
              <a:t>3. Asian Development Bank (ADB) – began operations in December 1966. Mandate: advance social and economic development and cooperation in the Asia-Pacific region, and help developing members in the region accelerate their economic growth.</a:t>
            </a:r>
            <a:endParaRPr lang="en-US" altLang="zh-CN" sz="1500"/>
          </a:p>
          <a:p>
            <a:r>
              <a:rPr lang="en-US" altLang="zh-CN" sz="1500"/>
              <a:t>4. European Bank for Reconstruction and Development (EBRD) – started operations in April 1991. Main activities: extend loans, technical assistance, and personnel training to infrastructure and private-sector projects in recipient countries; help governments devise policies and measures; participate in establishing financial institutions and systems.</a:t>
            </a:r>
            <a:endParaRPr lang="en-US" altLang="zh-CN" sz="1500"/>
          </a:p>
          <a:p>
            <a:r>
              <a:rPr lang="en-US" altLang="zh-CN" sz="1500"/>
              <a:t>5. Asian Infrastructure Investment Bank (AIIB) – began operations in January 2016. Core business: finance infrastructure development projects across the Asia-Pacific region.</a:t>
            </a:r>
            <a:endParaRPr lang="en-US" altLang="zh-CN" sz="15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sz="3110" dirty="0">
                <a:latin typeface="Times New Roman" panose="02020603050405020304" charset="0"/>
                <a:cs typeface="Times New Roman" panose="02020603050405020304" charset="0"/>
              </a:rPr>
              <a:t>II. Role of International Organizations in Promoting International Financial Cooperation</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245110" y="1752600"/>
            <a:ext cx="8599170" cy="4835525"/>
          </a:xfrm>
        </p:spPr>
        <p:txBody>
          <a:bodyPr>
            <a:normAutofit/>
          </a:bodyPr>
          <a:lstStyle/>
          <a:p>
            <a:pPr marL="571500" indent="-457200">
              <a:buFont typeface="+mj-lt"/>
              <a:buAutoNum type="arabicPeriod"/>
            </a:pPr>
            <a:endParaRPr lang="en-US" altLang="zh-CN" dirty="0"/>
          </a:p>
          <a:p>
            <a:pPr marL="571500" indent="-457200">
              <a:buFont typeface="+mj-lt"/>
              <a:buAutoNum type="arabicPeriod"/>
            </a:pPr>
            <a:r>
              <a:rPr lang="en-US" altLang="zh-CN" dirty="0"/>
              <a:t>- International financial organizations have established universally accepted principles and norms for the financial sector and effectively oversee the functioning of the international financial system.</a:t>
            </a:r>
            <a:endParaRPr lang="en-US" altLang="zh-CN" dirty="0"/>
          </a:p>
          <a:p>
            <a:pPr marL="571500" indent="-457200">
              <a:buFont typeface="+mj-lt"/>
              <a:buAutoNum type="arabicPeriod"/>
            </a:pPr>
            <a:r>
              <a:rPr lang="en-US" altLang="zh-CN" dirty="0"/>
              <a:t>- They are committed to eradicating poverty and resolving debt crises, providing technical and financial assistance to member states, especially developing countries.</a:t>
            </a:r>
            <a:endParaRPr lang="en-US" altLang="zh-CN" dirty="0"/>
          </a:p>
          <a:p>
            <a:pPr marL="571500" indent="-457200">
              <a:buFont typeface="+mj-lt"/>
              <a:buAutoNum type="arabicPeriod"/>
            </a:pPr>
            <a:r>
              <a:rPr lang="en-US" altLang="zh-CN" dirty="0"/>
              <a:t>- These organizations play an irreplaceable role in rescuing countries from international financial crises.</a:t>
            </a:r>
            <a:endParaRPr lang="en-US" altLang="zh-CN" dirty="0"/>
          </a:p>
          <a:p>
            <a:pPr marL="571500" indent="-457200">
              <a:buFont typeface="+mj-lt"/>
              <a:buAutoNum type="arabicPeriod"/>
            </a:pPr>
            <a:r>
              <a:rPr lang="en-US" altLang="zh-CN" dirty="0"/>
              <a:t>- Their activities accelerate the processes of financial liberalization and financial globalization.</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i="1" dirty="0">
                <a:latin typeface="Times New Roman" panose="02020603050405020304" charset="0"/>
                <a:cs typeface="Times New Roman" panose="02020603050405020304" charset="0"/>
              </a:rPr>
              <a:t>Section three</a:t>
            </a:r>
            <a:r>
              <a:rPr lang="en-US" altLang="zh-CN" sz="2800" dirty="0">
                <a:latin typeface="Times New Roman" panose="02020603050405020304" charset="0"/>
                <a:cs typeface="Times New Roman" panose="02020603050405020304" charset="0"/>
              </a:rPr>
              <a:t> International Organizations and Multilateral Aid</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Times New Roman" panose="02020603050405020304" charset="0"/>
                <a:cs typeface="Times New Roman" panose="02020603050405020304" charset="0"/>
              </a:rPr>
              <a:t>International Multilateral Aid</a:t>
            </a:r>
            <a:r>
              <a:rPr lang="en-US" altLang="zh-CN" dirty="0"/>
              <a:t>  </a:t>
            </a:r>
            <a:endParaRPr lang="en-US" altLang="zh-CN" dirty="0"/>
          </a:p>
        </p:txBody>
      </p:sp>
      <p:sp>
        <p:nvSpPr>
          <p:cNvPr id="5" name="内容占位符 4"/>
          <p:cNvSpPr>
            <a:spLocks noGrp="1"/>
          </p:cNvSpPr>
          <p:nvPr>
            <p:ph idx="1"/>
          </p:nvPr>
        </p:nvSpPr>
        <p:spPr/>
        <p:txBody>
          <a:bodyPr/>
          <a:lstStyle/>
          <a:p>
            <a:pPr marL="628650" indent="-533400">
              <a:buFont typeface="Wingdings" panose="05000000000000000000" pitchFamily="2" charset="2"/>
              <a:buChar char="Ø"/>
            </a:pPr>
            <a:r>
              <a:rPr lang="en-US" altLang="zh-CN" sz="3200" dirty="0"/>
              <a:t>Definition: </a:t>
            </a:r>
            <a:endParaRPr lang="en-US" altLang="zh-CN" dirty="0"/>
          </a:p>
          <a:p>
            <a:pPr marL="628650" indent="-533400">
              <a:buFont typeface="Wingdings" panose="05000000000000000000" pitchFamily="2" charset="2"/>
              <a:buChar char="Ø"/>
            </a:pPr>
            <a:endParaRPr lang="en-US" altLang="zh-CN" dirty="0"/>
          </a:p>
          <a:p>
            <a:pPr marL="628650" indent="-533400">
              <a:buFont typeface="Wingdings" panose="05000000000000000000" pitchFamily="2" charset="2"/>
              <a:buChar char="Ø"/>
            </a:pPr>
            <a:r>
              <a:rPr lang="en-US" altLang="zh-CN" sz="2800" dirty="0"/>
              <a:t>assistance delivered through international organizations to sovereign states in the form of grants or concessional goods, funds, technology, etc., aimed at resolving the recipient’s political or economic difficulties.</a:t>
            </a:r>
            <a:endParaRPr lang="en-US" altLang="zh-CN"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 Evolution of the International Multilateral Aid Mechanism</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571500" indent="-457200">
              <a:buFont typeface="+mj-lt"/>
              <a:buAutoNum type="arabicPeriod"/>
            </a:pPr>
            <a:r>
              <a:rPr lang="en-US" altLang="zh-CN" dirty="0"/>
              <a:t>- In the second half of the 19th century, humanitarian aid ideas and practices gradually developed in Europe.</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After World War II, modern international aid formally emerged to heal war wounds and eradicate poverty, hunger and disease, while the Cold War structure took shape.</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The wave of national-liberation movements in the 1950s–1960s ushered in a peak period for the expansion of international multilateral aid.</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pPr marL="571500" indent="-457200">
              <a:buFont typeface="+mj-lt"/>
              <a:buAutoNum type="arabicPeriod" startAt="4"/>
            </a:pPr>
            <a:r>
              <a:rPr lang="en-US" altLang="zh-CN" dirty="0"/>
              <a:t>- By the late 1960s, economic recession and restructuring in Western countries, coupled with a temporary d</a:t>
            </a:r>
            <a:r>
              <a:rPr lang="en-US" altLang="en-US" dirty="0"/>
              <a:t>é</a:t>
            </a:r>
            <a:r>
              <a:rPr lang="en-US" altLang="zh-CN" dirty="0"/>
              <a:t>tente in U.S.-Soviet relations, brought international aid expansion to a standstill.</a:t>
            </a:r>
            <a:endParaRPr lang="en-US" altLang="zh-CN" dirty="0"/>
          </a:p>
          <a:p>
            <a:pPr marL="571500" indent="-457200">
              <a:buFont typeface="+mj-lt"/>
              <a:buAutoNum type="arabicPeriod" startAt="4"/>
            </a:pPr>
            <a:endParaRPr lang="en-US" altLang="zh-CN" dirty="0"/>
          </a:p>
          <a:p>
            <a:pPr marL="571500" indent="-457200">
              <a:buFont typeface="+mj-lt"/>
              <a:buAutoNum type="arabicPeriod" startAt="4"/>
            </a:pPr>
            <a:r>
              <a:rPr lang="en-US" altLang="zh-CN" dirty="0"/>
              <a:t>- The oil and financial crises of the 1970s triggered a sharp increase in the volume of international multilateral aid.</a:t>
            </a:r>
            <a:endParaRPr lang="en-US" altLang="zh-CN" dirty="0"/>
          </a:p>
          <a:p>
            <a:pPr marL="571500" indent="-457200">
              <a:buFont typeface="+mj-lt"/>
              <a:buAutoNum type="arabicPeriod" startAt="4"/>
            </a:pPr>
            <a:endParaRPr lang="en-US" altLang="zh-CN" dirty="0"/>
          </a:p>
          <a:p>
            <a:pPr marL="571500" indent="-457200">
              <a:buFont typeface="+mj-lt"/>
              <a:buAutoNum type="arabicPeriod" startAt="4"/>
            </a:pPr>
            <a:r>
              <a:rPr lang="en-US" altLang="zh-CN" dirty="0"/>
              <a:t>- After the 1980s, neoliberal ideas and the “Washington Consensus” became the dominant doctrines guiding international aid.</a:t>
            </a:r>
            <a:endParaRPr lang="en-US" altLang="zh-CN" dirty="0"/>
          </a:p>
          <a:p>
            <a:pPr marL="571500" indent="-457200">
              <a:buFont typeface="+mj-lt"/>
              <a:buAutoNum type="arabicPeriod" startAt="4"/>
            </a:pPr>
            <a:endParaRPr lang="en-US" altLang="zh-CN" dirty="0"/>
          </a:p>
          <a:p>
            <a:pPr marL="571500" indent="-457200">
              <a:buFont typeface="+mj-lt"/>
              <a:buAutoNum type="arabicPeriod" startAt="4"/>
            </a:pPr>
            <a:endParaRPr lang="zh-CN" altLang="en-US" dirty="0"/>
          </a:p>
        </p:txBody>
      </p:sp>
      <p:sp>
        <p:nvSpPr>
          <p:cNvPr id="4" name="标题 1"/>
          <p:cNvSpPr>
            <a:spLocks noGrp="1"/>
          </p:cNvSpPr>
          <p:nvPr>
            <p:ph type="title"/>
          </p:nvPr>
        </p:nvSpPr>
        <p:spPr/>
        <p:txBody>
          <a:bodyPr>
            <a:normAutofit fontScale="90000"/>
          </a:bodyPr>
          <a:lstStyle/>
          <a:p>
            <a:pPr algn="l"/>
            <a:r>
              <a:rPr lang="en-US" altLang="zh-CN" sz="3555" dirty="0">
                <a:latin typeface="Times New Roman" panose="02020603050405020304" charset="0"/>
                <a:cs typeface="Times New Roman" panose="02020603050405020304" charset="0"/>
              </a:rPr>
              <a:t>I. The Evolution of International Multilateral Aid Mechanisms</a:t>
            </a:r>
            <a:endParaRPr lang="en-US" altLang="zh-CN" sz="3555"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 Evolution of International Multilateral Aid Mechanisms </a:t>
            </a:r>
            <a:r>
              <a:rPr lang="en-US" altLang="zh-CN" dirty="0"/>
              <a:t> </a:t>
            </a:r>
            <a:endParaRPr lang="en-US" altLang="zh-CN" dirty="0"/>
          </a:p>
        </p:txBody>
      </p:sp>
      <p:sp>
        <p:nvSpPr>
          <p:cNvPr id="3" name="内容占位符 2"/>
          <p:cNvSpPr>
            <a:spLocks noGrp="1"/>
          </p:cNvSpPr>
          <p:nvPr>
            <p:ph idx="1"/>
          </p:nvPr>
        </p:nvSpPr>
        <p:spPr/>
        <p:txBody>
          <a:bodyPr>
            <a:normAutofit lnSpcReduction="10000"/>
          </a:bodyPr>
          <a:lstStyle/>
          <a:p>
            <a:pPr marL="571500" indent="-457200">
              <a:buFont typeface="+mj-lt"/>
              <a:buAutoNum type="arabicPeriod" startAt="7"/>
            </a:pPr>
            <a:r>
              <a:rPr lang="en-US" altLang="zh-CN" sz="2800" dirty="0"/>
              <a:t>- After the Cold War, the overall volume of multilateral aid declined.  </a:t>
            </a:r>
            <a:endParaRPr lang="en-US" altLang="zh-CN" sz="2800" dirty="0"/>
          </a:p>
          <a:p>
            <a:pPr marL="114300" indent="0">
              <a:buFont typeface="+mj-lt"/>
              <a:buNone/>
            </a:pPr>
            <a:r>
              <a:rPr lang="en-US" altLang="zh-CN" sz="2800" dirty="0"/>
              <a:t>   - Transition countries emerging from the upheavals in Eastern Europe and the dissolution of the Soviet Union became the primary targets of multilateral assistance.  </a:t>
            </a:r>
            <a:endParaRPr lang="en-US" altLang="zh-CN" sz="2800" dirty="0"/>
          </a:p>
          <a:p>
            <a:pPr marL="114300" indent="0">
              <a:buFont typeface="+mj-lt"/>
              <a:buNone/>
            </a:pPr>
            <a:r>
              <a:rPr lang="en-US" altLang="zh-CN" sz="2800" dirty="0"/>
              <a:t>  - The actors in international aid became more diversified; a large number of non-governmental international organizations entered humanitarian and development fields.</a:t>
            </a:r>
            <a:endParaRPr lang="en-US" altLang="zh-CN"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箭头连接符 5"/>
          <p:cNvCxnSpPr/>
          <p:nvPr/>
        </p:nvCxnSpPr>
        <p:spPr>
          <a:xfrm flipH="1" flipV="1">
            <a:off x="1625105" y="2947193"/>
            <a:ext cx="881658" cy="141287"/>
          </a:xfrm>
          <a:prstGeom prst="straightConnector1">
            <a:avLst/>
          </a:prstGeom>
          <a:ln w="5715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 Multilateral Aid Activities and Approaches of International Organizations</a:t>
            </a:r>
            <a:endParaRPr lang="en-US" altLang="zh-CN" sz="3110" dirty="0">
              <a:latin typeface="Times New Roman" panose="02020603050405020304" charset="0"/>
              <a:cs typeface="Times New Roman" panose="02020603050405020304" charset="0"/>
            </a:endParaRPr>
          </a:p>
        </p:txBody>
      </p:sp>
      <p:graphicFrame>
        <p:nvGraphicFramePr>
          <p:cNvPr id="4" name="内容占位符 3"/>
          <p:cNvGraphicFramePr>
            <a:graphicFrameLocks noGrp="1"/>
          </p:cNvGraphicFramePr>
          <p:nvPr>
            <p:ph idx="1"/>
          </p:nvPr>
        </p:nvGraphicFramePr>
        <p:xfrm>
          <a:off x="457200" y="1628800"/>
          <a:ext cx="8229600" cy="4373563"/>
        </p:xfrm>
        <a:graphic>
          <a:graphicData uri="http://schemas.openxmlformats.org/drawingml/2006/chart">
            <c:chart xmlns:c="http://schemas.openxmlformats.org/drawingml/2006/chart" xmlns:r="http://schemas.openxmlformats.org/officeDocument/2006/relationships" r:id="rId1"/>
          </a:graphicData>
        </a:graphic>
      </p:graphicFrame>
      <p:sp>
        <p:nvSpPr>
          <p:cNvPr id="8" name="矩形 7"/>
          <p:cNvSpPr/>
          <p:nvPr/>
        </p:nvSpPr>
        <p:spPr>
          <a:xfrm>
            <a:off x="179512" y="2208529"/>
            <a:ext cx="1517601" cy="2861310"/>
          </a:xfrm>
          <a:prstGeom prst="rect">
            <a:avLst/>
          </a:prstGeom>
        </p:spPr>
        <p:txBody>
          <a:bodyPr wrap="square">
            <a:spAutoFit/>
          </a:bodyPr>
          <a:lstStyle/>
          <a:p>
            <a:r>
              <a:rPr lang="en-US" altLang="zh-CN" dirty="0"/>
              <a:t>The United Nations and other international organizations play a leading role in international multilateral aid.</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 Multilateral Aid Activities and Modalities within the United Nations System</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44170" y="1752600"/>
            <a:ext cx="8342630" cy="4734560"/>
          </a:xfrm>
        </p:spPr>
        <p:txBody>
          <a:bodyPr>
            <a:noAutofit/>
          </a:bodyPr>
          <a:p>
            <a:r>
              <a:rPr lang="en-US" altLang="zh-CN" sz="2000"/>
              <a:t> Agencies of the United Nations system working on social and economic development focus on technical and humanitarian assistance.</a:t>
            </a:r>
            <a:endParaRPr lang="en-US" altLang="zh-CN" sz="2000"/>
          </a:p>
          <a:p>
            <a:r>
              <a:rPr lang="en-US" altLang="zh-CN" sz="2000">
                <a:sym typeface="+mn-ea"/>
              </a:rPr>
              <a:t>1) </a:t>
            </a:r>
            <a:r>
              <a:rPr lang="en-US" altLang="zh-CN" sz="2000" b="1"/>
              <a:t>United Nations Development Programme (UNDP)</a:t>
            </a:r>
            <a:endParaRPr lang="en-US" altLang="zh-CN" sz="2000" b="1"/>
          </a:p>
          <a:p>
            <a:r>
              <a:rPr lang="en-US" altLang="zh-CN" sz="2000"/>
              <a:t>- Funding: Primarily through voluntary contributions from member states.</a:t>
            </a:r>
            <a:endParaRPr lang="en-US" altLang="zh-CN" sz="2000"/>
          </a:p>
          <a:p>
            <a:endParaRPr lang="en-US" altLang="zh-CN" sz="2000"/>
          </a:p>
          <a:p>
            <a:r>
              <a:rPr lang="en-US" altLang="zh-CN" sz="2000"/>
              <a:t>- Core functions:</a:t>
            </a:r>
            <a:endParaRPr lang="en-US" altLang="zh-CN" sz="2000"/>
          </a:p>
          <a:p>
            <a:r>
              <a:rPr lang="en-US" altLang="zh-CN" sz="2000"/>
              <a:t>Assist countries in addressing global and national development challenges, help developing countries attract and effectively utilize aid, and provide professional advice, training and other support measures.</a:t>
            </a:r>
            <a:endParaRPr lang="en-US" altLang="zh-CN" sz="2000"/>
          </a:p>
          <a:p>
            <a:r>
              <a:rPr lang="en-US" altLang="zh-CN" sz="2000"/>
              <a:t>- Sectors of assistance:</a:t>
            </a:r>
            <a:endParaRPr lang="en-US" altLang="zh-CN" sz="2000"/>
          </a:p>
          <a:p>
            <a:r>
              <a:rPr lang="en-US" altLang="zh-CN" sz="2000"/>
              <a:t>Democratic governance, poverty reduction, crisis prevention and recovery, environment and energy, HIV/AIDS, etc.</a:t>
            </a:r>
            <a:endParaRPr lang="en-US" altLang="zh-CN"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 Multilateral Aid Activities and Modalities within the United Nations System</a:t>
            </a:r>
            <a:endParaRPr lang="en-US" altLang="zh-CN"/>
          </a:p>
        </p:txBody>
      </p:sp>
      <p:sp>
        <p:nvSpPr>
          <p:cNvPr id="3" name="内容占位符 2"/>
          <p:cNvSpPr>
            <a:spLocks noGrp="1"/>
          </p:cNvSpPr>
          <p:nvPr>
            <p:ph idx="1"/>
          </p:nvPr>
        </p:nvSpPr>
        <p:spPr>
          <a:xfrm>
            <a:off x="327660" y="1752600"/>
            <a:ext cx="8495030" cy="4805680"/>
          </a:xfrm>
        </p:spPr>
        <p:txBody>
          <a:bodyPr>
            <a:normAutofit fontScale="80000"/>
          </a:bodyPr>
          <a:p>
            <a:r>
              <a:rPr lang="en-US" altLang="zh-CN" b="1"/>
              <a:t>2) United Nations </a:t>
            </a:r>
            <a:r>
              <a:rPr lang="en-US" altLang="zh-CN"/>
              <a:t>Children's Fund (UNICEF)  </a:t>
            </a:r>
            <a:endParaRPr lang="en-US" altLang="zh-CN"/>
          </a:p>
          <a:p>
            <a:r>
              <a:rPr lang="en-US" altLang="zh-CN"/>
              <a:t>  Funding sources: Voluntary contributions from governments, intergovernmental organizations, NGOs, businesses and individuals.  </a:t>
            </a:r>
            <a:endParaRPr lang="en-US" altLang="zh-CN"/>
          </a:p>
          <a:p>
            <a:endParaRPr lang="en-US" altLang="zh-CN"/>
          </a:p>
          <a:p>
            <a:r>
              <a:rPr lang="en-US" altLang="zh-CN"/>
              <a:t>  Core functions:  </a:t>
            </a:r>
            <a:endParaRPr lang="en-US" altLang="zh-CN"/>
          </a:p>
          <a:p>
            <a:r>
              <a:rPr lang="en-US" altLang="zh-CN"/>
              <a:t>  Address malnutrition, disease and education problems among children in developing countries.  </a:t>
            </a:r>
            <a:endParaRPr lang="en-US" altLang="zh-CN"/>
          </a:p>
          <a:p>
            <a:endParaRPr lang="en-US" altLang="zh-CN"/>
          </a:p>
          <a:p>
            <a:r>
              <a:rPr lang="en-US" altLang="zh-CN"/>
              <a:t>  Sectors of assistance:</a:t>
            </a:r>
            <a:endParaRPr lang="en-US" altLang="zh-CN"/>
          </a:p>
          <a:p>
            <a:endParaRPr lang="en-US" altLang="zh-CN"/>
          </a:p>
          <a:p>
            <a:r>
              <a:rPr lang="en-US" altLang="zh-CN"/>
              <a:t>Maternal and child health, child immunization, child nutrition, integrated early childhood development and basic education, rural water supply and sanitation, and the participation of women and children in poverty-stricken areas in development.</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sz="3110">
                <a:latin typeface="Times New Roman" panose="02020603050405020304" charset="0"/>
                <a:cs typeface="Times New Roman" panose="02020603050405020304" charset="0"/>
              </a:rPr>
              <a:t>(I) Multilateral Aid Activities within the United Nations System</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lnSpcReduction="10000"/>
          </a:bodyPr>
          <a:p>
            <a:r>
              <a:rPr lang="en-US" altLang="zh-CN" b="1"/>
              <a:t>3) World Food Programme (WFP)  </a:t>
            </a:r>
            <a:endParaRPr lang="en-US" altLang="zh-CN" b="1"/>
          </a:p>
          <a:p>
            <a:r>
              <a:rPr lang="en-US" altLang="zh-CN"/>
              <a:t> </a:t>
            </a:r>
            <a:r>
              <a:rPr lang="en-US" altLang="zh-CN"/>
              <a:t> Funding sources: Voluntary donations in kind, cash and services from governments.</a:t>
            </a:r>
            <a:endParaRPr lang="en-US" altLang="zh-CN"/>
          </a:p>
          <a:p>
            <a:endParaRPr lang="en-US" altLang="zh-CN"/>
          </a:p>
          <a:p>
            <a:r>
              <a:rPr lang="en-US" altLang="zh-CN"/>
              <a:t>  Core functions:  </a:t>
            </a:r>
            <a:endParaRPr lang="en-US" altLang="zh-CN"/>
          </a:p>
          <a:p>
            <a:r>
              <a:rPr lang="en-US" altLang="zh-CN"/>
              <a:t>  Save lives by rapidly delivering food to hungry and vulnerable populations.  </a:t>
            </a:r>
            <a:endParaRPr lang="en-US" altLang="zh-CN"/>
          </a:p>
          <a:p>
            <a:r>
              <a:rPr lang="en-US" altLang="zh-CN"/>
              <a:t>  Provide food to the poor through food-for-work and food-for-training schemes, such as participation in farmland and water conservancy, rural roads, drinking-water infrastructure, and training in technology, health and literacy.</a:t>
            </a: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latin typeface="Times New Roman" panose="02020603050405020304" charset="0"/>
                <a:cs typeface="Times New Roman" panose="02020603050405020304" charset="0"/>
                <a:sym typeface="+mn-ea"/>
              </a:rPr>
              <a:t>(I) Multilateral Aid Activities within the United Nations System</a:t>
            </a:r>
            <a:endParaRPr lang="zh-CN" altLang="en-US"/>
          </a:p>
        </p:txBody>
      </p:sp>
      <p:sp>
        <p:nvSpPr>
          <p:cNvPr id="3" name="内容占位符 2"/>
          <p:cNvSpPr>
            <a:spLocks noGrp="1"/>
          </p:cNvSpPr>
          <p:nvPr>
            <p:ph idx="1"/>
          </p:nvPr>
        </p:nvSpPr>
        <p:spPr>
          <a:xfrm>
            <a:off x="256540" y="1752600"/>
            <a:ext cx="8430260" cy="4812665"/>
          </a:xfrm>
        </p:spPr>
        <p:txBody>
          <a:bodyPr>
            <a:normAutofit fontScale="70000"/>
          </a:bodyPr>
          <a:p>
            <a:r>
              <a:rPr lang="en-US" altLang="zh-CN" sz="2570" b="1"/>
              <a:t>4) Food and Agriculture Organization of the United Nations (FAO) </a:t>
            </a:r>
            <a:r>
              <a:rPr lang="en-US" altLang="zh-CN" sz="2570"/>
              <a:t> </a:t>
            </a:r>
            <a:endParaRPr lang="en-US" altLang="zh-CN" sz="2570"/>
          </a:p>
          <a:p>
            <a:r>
              <a:rPr lang="en-US" altLang="zh-CN" sz="2570"/>
              <a:t>Funding sources: Assessed contributions from member states and voluntary donations.  </a:t>
            </a:r>
            <a:endParaRPr lang="en-US" altLang="zh-CN" sz="2570"/>
          </a:p>
          <a:p>
            <a:endParaRPr lang="en-US" altLang="zh-CN" sz="2570"/>
          </a:p>
          <a:p>
            <a:r>
              <a:rPr lang="en-US" altLang="zh-CN" sz="2570"/>
              <a:t>Mandate:  </a:t>
            </a:r>
            <a:endParaRPr lang="en-US" altLang="zh-CN" sz="2570"/>
          </a:p>
          <a:p>
            <a:r>
              <a:rPr lang="en-US" altLang="zh-CN" sz="2570"/>
              <a:t>Achieve food security for all, ensuring that people have regular access to sufficient, high-quality food for an active, healthy life.  </a:t>
            </a:r>
            <a:endParaRPr lang="en-US" altLang="zh-CN" sz="2570"/>
          </a:p>
          <a:p>
            <a:endParaRPr lang="en-US" altLang="zh-CN" sz="2570"/>
          </a:p>
          <a:p>
            <a:r>
              <a:rPr lang="en-US" altLang="zh-CN" sz="2570"/>
              <a:t>Sectors of assistance:</a:t>
            </a:r>
            <a:endParaRPr lang="en-US" altLang="zh-CN" sz="2570"/>
          </a:p>
          <a:p>
            <a:r>
              <a:rPr lang="en-US" altLang="zh-CN" sz="2570"/>
              <a:t>1. Supply member states with analyses, information and statistics on the world food situation and submit proposals on major policies in the fields of food and agriculture;  </a:t>
            </a:r>
            <a:endParaRPr lang="en-US" altLang="zh-CN" sz="2570"/>
          </a:p>
          <a:p>
            <a:r>
              <a:rPr lang="en-US" altLang="zh-CN" sz="2570"/>
              <a:t>2. Assist developing countries in formulating master plans for agricultural development and take charge of organizing aid projects;  </a:t>
            </a:r>
            <a:endParaRPr lang="en-US" altLang="zh-CN" sz="2570"/>
          </a:p>
          <a:p>
            <a:r>
              <a:rPr lang="en-US" altLang="zh-CN" sz="2570"/>
              <a:t>3. Promote international trade in agricultural products through inter-governmental consultations based on analyses of international commodity markets and forecasts of supply and quality.</a:t>
            </a:r>
            <a:endParaRPr lang="en-US" altLang="zh-CN" sz="257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latin typeface="Times New Roman" panose="02020603050405020304" charset="0"/>
                <a:cs typeface="Times New Roman" panose="02020603050405020304" charset="0"/>
                <a:sym typeface="+mn-ea"/>
              </a:rPr>
              <a:t>(I) Multilateral Aid Activities within the United Nations System</a:t>
            </a:r>
            <a:endParaRPr lang="zh-CN" altLang="en-US"/>
          </a:p>
        </p:txBody>
      </p:sp>
      <p:sp>
        <p:nvSpPr>
          <p:cNvPr id="3" name="内容占位符 2"/>
          <p:cNvSpPr>
            <a:spLocks noGrp="1"/>
          </p:cNvSpPr>
          <p:nvPr>
            <p:ph idx="1"/>
          </p:nvPr>
        </p:nvSpPr>
        <p:spPr/>
        <p:txBody>
          <a:bodyPr/>
          <a:p>
            <a:r>
              <a:rPr lang="en-US" altLang="zh-CN"/>
              <a:t>5) Development Assistance Committee  </a:t>
            </a:r>
            <a:endParaRPr lang="en-US" altLang="zh-CN"/>
          </a:p>
          <a:p>
            <a:r>
              <a:rPr lang="en-US" altLang="zh-CN"/>
              <a:t>  A body of the Organisation for Economic Co-operation and Development  </a:t>
            </a:r>
            <a:endParaRPr lang="en-US" altLang="zh-CN"/>
          </a:p>
          <a:p>
            <a:r>
              <a:rPr lang="en-US" altLang="zh-CN"/>
              <a:t>  In 1969 it first introduced the concept of "official development assistance".</a:t>
            </a:r>
            <a:endParaRPr lang="en-US" altLang="zh-CN"/>
          </a:p>
          <a:p>
            <a:r>
              <a:rPr lang="en-US" altLang="zh-CN"/>
              <a:t>Namely, grants or loans provided by developed-country governments to developing countries for economic development and the improvement of people’s livelihoods, with a grant element of at least 25 percent.</a:t>
            </a:r>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dirty="0">
                <a:latin typeface="Times New Roman" panose="02020603050405020304" charset="0"/>
                <a:cs typeface="Times New Roman" panose="02020603050405020304" charset="0"/>
                <a:sym typeface="+mn-ea"/>
              </a:rPr>
              <a:t>(II) European Union’s International Aid Activities</a:t>
            </a:r>
            <a:endParaRPr lang="zh-CN" altLang="en-US"/>
          </a:p>
        </p:txBody>
      </p:sp>
      <p:sp>
        <p:nvSpPr>
          <p:cNvPr id="3" name="内容占位符 2"/>
          <p:cNvSpPr>
            <a:spLocks noGrp="1"/>
          </p:cNvSpPr>
          <p:nvPr>
            <p:ph idx="1"/>
          </p:nvPr>
        </p:nvSpPr>
        <p:spPr/>
        <p:txBody>
          <a:bodyPr/>
          <a:p>
            <a:r>
              <a:rPr lang="en-US" altLang="zh-CN"/>
              <a:t>Aid modalities:</a:t>
            </a:r>
            <a:endParaRPr lang="en-US" altLang="zh-CN"/>
          </a:p>
          <a:p>
            <a:r>
              <a:rPr lang="en-US" altLang="zh-CN"/>
              <a:t>- Collective external aid by the EU as a single entity</a:t>
            </a:r>
            <a:endParaRPr lang="en-US" altLang="zh-CN"/>
          </a:p>
          <a:p>
            <a:r>
              <a:rPr lang="en-US" altLang="zh-CN"/>
              <a:t>- Individual external aid by each member state</a:t>
            </a:r>
            <a:endParaRPr lang="en-US" altLang="zh-CN"/>
          </a:p>
          <a:p>
            <a:r>
              <a:rPr lang="en-US" altLang="zh-CN"/>
              <a:t>Aid sectors:</a:t>
            </a:r>
            <a:endParaRPr lang="en-US" altLang="zh-CN"/>
          </a:p>
          <a:p>
            <a:r>
              <a:rPr lang="en-US" altLang="zh-CN"/>
              <a:t>Democracy, elections, humanitarian relief, migration, food security, environment, energy, etc.</a:t>
            </a:r>
            <a:endParaRPr lang="en-US" altLang="zh-CN"/>
          </a:p>
          <a:p>
            <a:r>
              <a:rPr lang="en-US" altLang="zh-CN"/>
              <a:t>Aid regions:</a:t>
            </a:r>
            <a:endParaRPr lang="en-US" altLang="zh-CN"/>
          </a:p>
          <a:p>
            <a:r>
              <a:rPr lang="en-US" altLang="zh-CN"/>
              <a:t>Sub-Saharan Africa, the Caribbean and the Pacific have consistently been the EU’s priority aid areas, followed by the Mediterranean neighbourhood.</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sz="3110" dirty="0">
                <a:latin typeface="Times New Roman" panose="02020603050405020304" charset="0"/>
                <a:cs typeface="Times New Roman" panose="02020603050405020304" charset="0"/>
              </a:rPr>
              <a:t>(III) International Aid by Non-Governmental International Organizations</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533400" indent="-438150">
              <a:buFont typeface="Wingdings" panose="05000000000000000000" pitchFamily="2" charset="2"/>
              <a:buChar char="Ø"/>
            </a:pPr>
            <a:r>
              <a:rPr lang="en-US" altLang="zh-CN" dirty="0">
                <a:latin typeface="Times New Roman" panose="02020603050405020304" charset="0"/>
                <a:ea typeface="楷体" panose="02010609060101010101" pitchFamily="49" charset="-122"/>
                <a:cs typeface="Times New Roman" panose="02020603050405020304" charset="0"/>
              </a:rPr>
              <a:t>- Deliver aid more flexibly, reaching villages and townships directly  </a:t>
            </a:r>
            <a:endParaRPr lang="en-US" altLang="zh-CN" dirty="0">
              <a:latin typeface="Times New Roman" panose="02020603050405020304" charset="0"/>
              <a:ea typeface="楷体" panose="02010609060101010101" pitchFamily="49" charset="-122"/>
              <a:cs typeface="Times New Roman" panose="02020603050405020304" charset="0"/>
            </a:endParaRPr>
          </a:p>
          <a:p>
            <a:pPr marL="533400" indent="-438150">
              <a:buFont typeface="Wingdings" panose="05000000000000000000" pitchFamily="2" charset="2"/>
              <a:buChar char="Ø"/>
            </a:pPr>
            <a:r>
              <a:rPr lang="en-US" altLang="zh-CN" dirty="0">
                <a:latin typeface="Times New Roman" panose="02020603050405020304" charset="0"/>
                <a:ea typeface="楷体" panose="02010609060101010101" pitchFamily="49" charset="-122"/>
                <a:cs typeface="Times New Roman" panose="02020603050405020304" charset="0"/>
              </a:rPr>
              <a:t>- Cut out numerous intermediaries, lowering the cost of development assistance  </a:t>
            </a:r>
            <a:endParaRPr lang="en-US" altLang="zh-CN" dirty="0">
              <a:latin typeface="Times New Roman" panose="02020603050405020304" charset="0"/>
              <a:ea typeface="楷体" panose="02010609060101010101" pitchFamily="49" charset="-122"/>
              <a:cs typeface="Times New Roman" panose="02020603050405020304" charset="0"/>
            </a:endParaRPr>
          </a:p>
          <a:p>
            <a:pPr marL="533400" indent="-438150">
              <a:buFont typeface="Wingdings" panose="05000000000000000000" pitchFamily="2" charset="2"/>
              <a:buChar char="Ø"/>
            </a:pPr>
            <a:endParaRPr lang="en-US" altLang="zh-CN" dirty="0">
              <a:latin typeface="Times New Roman" panose="02020603050405020304" charset="0"/>
              <a:ea typeface="楷体" panose="02010609060101010101" pitchFamily="49" charset="-122"/>
              <a:cs typeface="Times New Roman" panose="02020603050405020304" charset="0"/>
            </a:endParaRPr>
          </a:p>
          <a:p>
            <a:pPr marL="533400" indent="-438150">
              <a:buFont typeface="Wingdings" panose="05000000000000000000" pitchFamily="2" charset="2"/>
              <a:buChar char="Ø"/>
            </a:pPr>
            <a:r>
              <a:rPr lang="en-US" altLang="zh-CN" dirty="0">
                <a:latin typeface="Times New Roman" panose="02020603050405020304" charset="0"/>
                <a:ea typeface="楷体" panose="02010609060101010101" pitchFamily="49" charset="-122"/>
                <a:cs typeface="Times New Roman" panose="02020603050405020304" charset="0"/>
              </a:rPr>
              <a:t>Oxfam</a:t>
            </a:r>
            <a:endParaRPr lang="en-US" altLang="zh-CN" dirty="0">
              <a:latin typeface="Times New Roman" panose="02020603050405020304" charset="0"/>
              <a:ea typeface="楷体" panose="02010609060101010101" pitchFamily="49" charset="-122"/>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sz="3110">
                <a:latin typeface="Times New Roman" panose="02020603050405020304" charset="0"/>
                <a:cs typeface="Times New Roman" panose="02020603050405020304" charset="0"/>
              </a:rPr>
              <a:t>II. Operational Modalities of Multilateral Aid by International Organizations</a:t>
            </a:r>
            <a:endParaRPr lang="en-US" altLang="zh-CN" sz="3110">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372745" y="1752600"/>
            <a:ext cx="8471535" cy="4901565"/>
          </a:xfrm>
        </p:spPr>
        <p:txBody>
          <a:bodyPr>
            <a:normAutofit lnSpcReduction="20000"/>
          </a:bodyPr>
          <a:p>
            <a:r>
              <a:rPr lang="en-US" altLang="zh-CN"/>
              <a:t>1. Financial assistance: aid provided by international financial institutions to ease a recipient country’s fiscal difficulties or shortage of funds, divided into outright grants and repayable loans.  </a:t>
            </a:r>
            <a:endParaRPr lang="en-US" altLang="zh-CN"/>
          </a:p>
          <a:p>
            <a:r>
              <a:rPr lang="en-US" altLang="zh-CN"/>
              <a:t>2. Technical assistance: training technical personnel, imparting managerial know-how, transferring technology patents, supplying advisory services, etc.  </a:t>
            </a:r>
            <a:endParaRPr lang="en-US" altLang="zh-CN"/>
          </a:p>
          <a:p>
            <a:r>
              <a:rPr lang="en-US" altLang="zh-CN"/>
              <a:t>3. Food assistance: classified as (a) emergency-relief food aid, (b) program food aid, and (c) project food aid.  </a:t>
            </a:r>
            <a:endParaRPr lang="en-US" altLang="zh-CN"/>
          </a:p>
          <a:p>
            <a:r>
              <a:rPr lang="en-US" altLang="zh-CN"/>
              <a:t>4. Debt relief: under the “Heavily Indebted Poor Countries (HIPC) Initiative,” creditors propose deep cuts in debts that low-income countries cannot service, while urging the poorest states to adopt sound policies that promote economic growth.</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110" dirty="0">
                <a:latin typeface="Times New Roman" panose="02020603050405020304" charset="0"/>
                <a:cs typeface="Times New Roman" panose="02020603050405020304" charset="0"/>
              </a:rPr>
              <a:t>III. Impetus of International Organizations to International Aid</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normAutofit lnSpcReduction="20000"/>
          </a:bodyPr>
          <a:lstStyle/>
          <a:p>
            <a:pPr marL="571500" indent="-457200">
              <a:buFont typeface="+mj-lt"/>
              <a:buAutoNum type="arabicPeriod"/>
            </a:pPr>
            <a:r>
              <a:rPr lang="en-US" altLang="zh-CN" dirty="0"/>
              <a:t>- United Nations-led organizations have increased the number of aid actors and broadened the scope of international assistance.</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By linking aid to the resolution of global problems, international organizations help open additional pathways for tackling worldwide challenges.</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Their engagement raises the level of institutionalization of international aid.</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They have spurred global attention to, and research on, aid effectiveness.</a:t>
            </a:r>
            <a:r>
              <a:rPr lang="zh-CN"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b="1" i="1" dirty="0">
                <a:latin typeface="Times New Roman" panose="02020603050405020304" charset="0"/>
                <a:cs typeface="Times New Roman" panose="02020603050405020304" charset="0"/>
              </a:rPr>
              <a:t>Section IV </a:t>
            </a:r>
            <a:r>
              <a:rPr lang="en-US" altLang="zh-CN" sz="2800" dirty="0">
                <a:latin typeface="Times New Roman" panose="02020603050405020304" charset="0"/>
                <a:cs typeface="Times New Roman" panose="02020603050405020304" charset="0"/>
              </a:rPr>
              <a:t> International Organizations and Regional Economic Integration</a:t>
            </a:r>
            <a:endParaRPr lang="en-US" altLang="zh-CN" sz="2800" dirty="0">
              <a:latin typeface="Times New Roman" panose="02020603050405020304" charset="0"/>
              <a:cs typeface="Times New Roman" panose="02020603050405020304" charset="0"/>
            </a:endParaRPr>
          </a:p>
        </p:txBody>
      </p:sp>
      <p:sp>
        <p:nvSpPr>
          <p:cNvPr id="3" name="文本占位符 2"/>
          <p:cNvSpPr>
            <a:spLocks noGrp="1"/>
          </p:cNvSpPr>
          <p:nvPr>
            <p:ph type="body" idx="1"/>
          </p:nvPr>
        </p:nvSpPr>
        <p:spPr/>
        <p:txBody>
          <a:bodyPr/>
          <a:lstStyle/>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Regional Economic Integration </a:t>
            </a:r>
            <a:endParaRPr lang="en-US" altLang="zh-CN" dirty="0"/>
          </a:p>
        </p:txBody>
      </p:sp>
      <p:sp>
        <p:nvSpPr>
          <p:cNvPr id="6" name="内容占位符 4"/>
          <p:cNvSpPr>
            <a:spLocks noGrp="1"/>
          </p:cNvSpPr>
          <p:nvPr>
            <p:ph idx="1"/>
          </p:nvPr>
        </p:nvSpPr>
        <p:spPr/>
        <p:txBody>
          <a:bodyPr>
            <a:normAutofit fontScale="90000"/>
          </a:bodyPr>
          <a:lstStyle/>
          <a:p>
            <a:pPr marL="95250" indent="0">
              <a:lnSpc>
                <a:spcPct val="150000"/>
              </a:lnSpc>
              <a:buFont typeface="Wingdings" panose="05000000000000000000" pitchFamily="2" charset="2"/>
              <a:buNone/>
            </a:pPr>
            <a:r>
              <a:rPr lang="en-US" altLang="zh-CN" dirty="0"/>
              <a:t>Regional Economic Integration  </a:t>
            </a:r>
            <a:endParaRPr lang="en-US" altLang="zh-CN" dirty="0"/>
          </a:p>
          <a:p>
            <a:pPr marL="95250" indent="0">
              <a:lnSpc>
                <a:spcPct val="150000"/>
              </a:lnSpc>
              <a:buFont typeface="Wingdings" panose="05000000000000000000" pitchFamily="2" charset="2"/>
              <a:buNone/>
            </a:pPr>
            <a:r>
              <a:rPr lang="en-US" altLang="zh-CN" dirty="0"/>
              <a:t>   Also termed regional economic blocs, it denotes the process whereby geographically adjacent states, on the basis of increasingly close objective economic ties, conclude treaties to progressively remove barriers that impede economic development, achieve mutual benefit and optimal resource allocation within the region, adopt a common stance in international economic relations, and ultimately form a regional grouping.</a:t>
            </a:r>
            <a:endParaRPr lang="en-US" altLang="zh-C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br>
              <a:rPr lang="en-US" altLang="zh-CN"/>
            </a:br>
            <a:r>
              <a:rPr lang="en-US" altLang="zh-CN"/>
              <a:t>(I) The Six Stages of Regional Economic Integration</a:t>
            </a:r>
            <a:endParaRPr lang="en-US" altLang="zh-CN"/>
          </a:p>
        </p:txBody>
      </p:sp>
      <p:sp>
        <p:nvSpPr>
          <p:cNvPr id="3" name="内容占位符 2"/>
          <p:cNvSpPr>
            <a:spLocks noGrp="1"/>
          </p:cNvSpPr>
          <p:nvPr>
            <p:ph idx="1"/>
          </p:nvPr>
        </p:nvSpPr>
        <p:spPr>
          <a:xfrm>
            <a:off x="457200" y="1833245"/>
            <a:ext cx="8229600" cy="4617085"/>
          </a:xfrm>
        </p:spPr>
        <p:txBody>
          <a:bodyPr>
            <a:normAutofit lnSpcReduction="20000"/>
          </a:bodyPr>
          <a:p>
            <a:r>
              <a:rPr lang="en-US" altLang="zh-CN"/>
              <a:t>1. Preferential Trade Agreement: Members sign an accord granting special tariff concessions on all or part of each other’s imports while maintaining trade barriers against non-members. This is the most rudimentary and loosest form of regional economic integration, often regarded as its preparatory stage.  </a:t>
            </a:r>
            <a:endParaRPr lang="en-US" altLang="zh-CN"/>
          </a:p>
          <a:p>
            <a:r>
              <a:rPr lang="en-US" altLang="zh-CN"/>
              <a:t>2. Free-Trade Area: Members completely eliminate tariffs and non-tariff barriers on goods traded among themselves, allowing free movement of products within the area while each member retains its own external trade policy and barriers toward non-members. The free-trade area is the most basic and common format of regional economic integration.  </a:t>
            </a:r>
            <a:endParaRPr lang="en-US" altLang="zh-CN"/>
          </a:p>
          <a:p>
            <a:r>
              <a:rPr lang="en-US" altLang="zh-CN"/>
              <a:t>3. Customs Union: Members remove all internal trade restrictions and apply a common set of tariff and non-tariff barriers against non-members.</a:t>
            </a:r>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05435" y="1752600"/>
            <a:ext cx="8529320" cy="4878070"/>
          </a:xfrm>
        </p:spPr>
        <p:txBody>
          <a:bodyPr>
            <a:normAutofit fontScale="90000" lnSpcReduction="20000"/>
          </a:bodyPr>
          <a:p>
            <a:r>
              <a:rPr lang="en-US" altLang="zh-CN" sz="2500"/>
              <a:t>4. Common Market: Building on a customs union, members allow not only the free movement of goods but also the free circulation of other factors of production—people, capital, and services—while maintaining a common external tariff and trade policy toward non-members.  </a:t>
            </a:r>
            <a:endParaRPr lang="en-US" altLang="zh-CN" sz="2500"/>
          </a:p>
          <a:p>
            <a:r>
              <a:rPr lang="en-US" altLang="zh-CN" sz="2500"/>
              <a:t>5. Monetary Union: Members lock their exchange rates or adopt a single currency, pursue a unified monetary policy, and coordinate (or fully unify) fiscal policy. This represents an advanced stage of regional economic integration.  </a:t>
            </a:r>
            <a:endParaRPr lang="en-US" altLang="zh-CN" sz="2500"/>
          </a:p>
          <a:p>
            <a:r>
              <a:rPr lang="en-US" altLang="zh-CN" sz="2500"/>
              <a:t>6. Economic Union: Going beyond the free movement of goods and factors, members harmonize—or fully unify—socio-economic policies (monetary, fiscal, development, social welfare, etc.), pool foreign-exchange reserves, adopt a common currency, and transfer elements of economic sovereignty to supranational institutions for joint management. It is currently the highest attainable level of integration.</a:t>
            </a:r>
            <a:endParaRPr lang="en-US" altLang="zh-CN" sz="25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nchorCtr="0"/>
          <a:p>
            <a:pPr eaLnBrk="1" hangingPunct="1"/>
            <a:r>
              <a:rPr lang="en-US" altLang="en-US" dirty="0">
                <a:solidFill>
                  <a:srgbClr val="003399"/>
                </a:solidFill>
                <a:latin typeface="Cambria" panose="02040503050406030204" charset="0"/>
              </a:rPr>
              <a:t>What Are The Levels Of </a:t>
            </a:r>
            <a:br>
              <a:rPr lang="en-US" altLang="en-US" dirty="0">
                <a:solidFill>
                  <a:srgbClr val="003399"/>
                </a:solidFill>
                <a:latin typeface="Cambria" panose="02040503050406030204" charset="0"/>
              </a:rPr>
            </a:br>
            <a:r>
              <a:rPr lang="en-US" altLang="en-US" dirty="0">
                <a:solidFill>
                  <a:srgbClr val="003399"/>
                </a:solidFill>
                <a:latin typeface="Cambria" panose="02040503050406030204" charset="0"/>
              </a:rPr>
              <a:t>Regional Economic Integration?</a:t>
            </a:r>
            <a:endParaRPr lang="en-US" altLang="en-US" dirty="0">
              <a:solidFill>
                <a:srgbClr val="003399"/>
              </a:solidFill>
              <a:latin typeface="Cambria" panose="02040503050406030204" charset="0"/>
            </a:endParaRPr>
          </a:p>
        </p:txBody>
      </p:sp>
      <p:sp>
        <p:nvSpPr>
          <p:cNvPr id="13315" name="Rectangle 3"/>
          <p:cNvSpPr>
            <a:spLocks noGrp="1"/>
          </p:cNvSpPr>
          <p:nvPr>
            <p:ph idx="1"/>
          </p:nvPr>
        </p:nvSpPr>
        <p:spPr/>
        <p:txBody>
          <a:bodyPr vert="horz" wrap="square" lIns="91440" tIns="45720" rIns="91440" bIns="45720" anchor="t" anchorCtr="0"/>
          <a:p>
            <a:pPr marL="533400" indent="-533400" eaLnBrk="1" hangingPunct="1">
              <a:buFont typeface="Wingdings" panose="05000000000000000000" pitchFamily="2" charset="2"/>
              <a:buAutoNum type="arabicPeriod"/>
            </a:pPr>
            <a:r>
              <a:rPr lang="en-US" altLang="en-US" sz="3200" dirty="0"/>
              <a:t>A </a:t>
            </a:r>
            <a:r>
              <a:rPr lang="en-US" altLang="en-US" sz="3200" dirty="0">
                <a:solidFill>
                  <a:srgbClr val="003399"/>
                </a:solidFill>
              </a:rPr>
              <a:t>free trade area</a:t>
            </a:r>
            <a:r>
              <a:rPr lang="en-US" altLang="en-US" sz="3200" dirty="0"/>
              <a:t> eliminates all barriers to the trade of goods and services among member countries</a:t>
            </a:r>
            <a:endParaRPr lang="en-US" altLang="en-US" sz="3200" dirty="0"/>
          </a:p>
          <a:p>
            <a:pPr marL="914400" lvl="1" indent="-381000" eaLnBrk="1" hangingPunct="1"/>
            <a:r>
              <a:rPr lang="en-US" altLang="en-US" sz="3200" dirty="0">
                <a:solidFill>
                  <a:srgbClr val="003399"/>
                </a:solidFill>
              </a:rPr>
              <a:t>European Free Trade Association (EFTA)</a:t>
            </a:r>
            <a:r>
              <a:rPr lang="en-US" altLang="en-US" sz="3200" dirty="0"/>
              <a:t> - Norway, Iceland, Liechtenstein, and Switzerland</a:t>
            </a:r>
            <a:endParaRPr lang="en-US" altLang="en-US" sz="3200" dirty="0"/>
          </a:p>
          <a:p>
            <a:pPr marL="914400" lvl="1" indent="-381000" eaLnBrk="1" hangingPunct="1"/>
            <a:r>
              <a:rPr lang="en-US" altLang="en-US" sz="3200" dirty="0">
                <a:solidFill>
                  <a:srgbClr val="003399"/>
                </a:solidFill>
              </a:rPr>
              <a:t>North American Free Trade Agreement (NAFTA)</a:t>
            </a:r>
            <a:r>
              <a:rPr lang="en-US" altLang="en-US" sz="3200" dirty="0"/>
              <a:t> - U.S., Canada, and Mexico </a:t>
            </a:r>
            <a:endParaRPr lang="en-US" altLang="en-US" sz="3200" dirty="0"/>
          </a:p>
          <a:p>
            <a:pPr marL="533400" indent="-533400" eaLnBrk="1" hangingPunct="1"/>
            <a:endParaRPr lang="en-US" alt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1440" tIns="45720" rIns="91440" bIns="45720" anchor="ctr" anchorCtr="0"/>
          <a:p>
            <a:pPr eaLnBrk="1" hangingPunct="1"/>
            <a:r>
              <a:rPr lang="en-US" altLang="en-US" dirty="0">
                <a:solidFill>
                  <a:srgbClr val="003399"/>
                </a:solidFill>
                <a:latin typeface="Cambria" panose="02040503050406030204" charset="0"/>
              </a:rPr>
              <a:t>What Are The Levels Of </a:t>
            </a:r>
            <a:br>
              <a:rPr lang="en-US" altLang="en-US" dirty="0">
                <a:solidFill>
                  <a:srgbClr val="003399"/>
                </a:solidFill>
                <a:latin typeface="Cambria" panose="02040503050406030204" charset="0"/>
              </a:rPr>
            </a:br>
            <a:r>
              <a:rPr lang="en-US" altLang="en-US" dirty="0">
                <a:solidFill>
                  <a:srgbClr val="003399"/>
                </a:solidFill>
                <a:latin typeface="Cambria" panose="02040503050406030204" charset="0"/>
              </a:rPr>
              <a:t>Regional Economic Integration?</a:t>
            </a:r>
            <a:endParaRPr lang="en-US" altLang="en-US" dirty="0">
              <a:solidFill>
                <a:srgbClr val="003399"/>
              </a:solidFill>
              <a:latin typeface="Cambria" panose="02040503050406030204" charset="0"/>
            </a:endParaRPr>
          </a:p>
        </p:txBody>
      </p:sp>
      <p:sp>
        <p:nvSpPr>
          <p:cNvPr id="15363" name="Rectangle 3"/>
          <p:cNvSpPr>
            <a:spLocks noGrp="1"/>
          </p:cNvSpPr>
          <p:nvPr>
            <p:ph idx="1"/>
          </p:nvPr>
        </p:nvSpPr>
        <p:spPr/>
        <p:txBody>
          <a:bodyPr vert="horz" wrap="square" lIns="91440" tIns="45720" rIns="91440" bIns="45720" anchor="t" anchorCtr="0"/>
          <a:p>
            <a:pPr marL="533400" indent="-533400" eaLnBrk="1" hangingPunct="1">
              <a:lnSpc>
                <a:spcPct val="90000"/>
              </a:lnSpc>
              <a:buFont typeface="Wingdings" panose="05000000000000000000" pitchFamily="2" charset="2"/>
              <a:buAutoNum type="arabicPeriod" startAt="2"/>
            </a:pPr>
            <a:r>
              <a:rPr lang="en-US" altLang="en-US" sz="2800" dirty="0"/>
              <a:t>A </a:t>
            </a:r>
            <a:r>
              <a:rPr lang="en-US" altLang="en-US" sz="2800" dirty="0">
                <a:solidFill>
                  <a:srgbClr val="003399"/>
                </a:solidFill>
              </a:rPr>
              <a:t>customs union</a:t>
            </a:r>
            <a:r>
              <a:rPr lang="en-US" altLang="en-US" sz="2800" dirty="0"/>
              <a:t> eliminates trade barriers between member countries and adopts a common external trade policy</a:t>
            </a:r>
            <a:endParaRPr lang="en-US" altLang="en-US" sz="2800" dirty="0"/>
          </a:p>
          <a:p>
            <a:pPr marL="914400" lvl="1" indent="-381000" eaLnBrk="1" hangingPunct="1">
              <a:lnSpc>
                <a:spcPct val="90000"/>
              </a:lnSpc>
            </a:pPr>
            <a:r>
              <a:rPr lang="en-US" altLang="en-US" sz="2400" dirty="0">
                <a:solidFill>
                  <a:srgbClr val="003399"/>
                </a:solidFill>
              </a:rPr>
              <a:t>Andean Community</a:t>
            </a:r>
            <a:r>
              <a:rPr lang="en-US" altLang="en-US" sz="2400" dirty="0"/>
              <a:t> (Bolivia, Colombia, Ecuador, and Peru) </a:t>
            </a:r>
            <a:endParaRPr lang="en-US" altLang="en-US" sz="2400" dirty="0"/>
          </a:p>
          <a:p>
            <a:pPr marL="533400" indent="-533400" eaLnBrk="1" hangingPunct="1">
              <a:lnSpc>
                <a:spcPct val="90000"/>
              </a:lnSpc>
              <a:buFont typeface="Wingdings" panose="05000000000000000000" pitchFamily="2" charset="2"/>
              <a:buAutoNum type="arabicPeriod" startAt="3"/>
            </a:pPr>
            <a:r>
              <a:rPr lang="en-US" altLang="en-US" sz="2800" dirty="0"/>
              <a:t>A </a:t>
            </a:r>
            <a:r>
              <a:rPr lang="en-US" altLang="en-US" sz="2800" dirty="0">
                <a:solidFill>
                  <a:srgbClr val="003399"/>
                </a:solidFill>
              </a:rPr>
              <a:t>common market</a:t>
            </a:r>
            <a:r>
              <a:rPr lang="en-US" altLang="en-US" sz="2800" dirty="0"/>
              <a:t> has no barriers to trade between member countries, a common external trade policy, and the free movement of the factors of production </a:t>
            </a:r>
            <a:endParaRPr lang="en-US" altLang="en-US" sz="2800" dirty="0"/>
          </a:p>
          <a:p>
            <a:pPr marL="914400" lvl="1" indent="-381000" eaLnBrk="1" hangingPunct="1">
              <a:lnSpc>
                <a:spcPct val="90000"/>
              </a:lnSpc>
            </a:pPr>
            <a:r>
              <a:rPr lang="en-US" altLang="en-US" sz="2400" dirty="0">
                <a:solidFill>
                  <a:srgbClr val="003399"/>
                </a:solidFill>
              </a:rPr>
              <a:t>Mercosur </a:t>
            </a:r>
            <a:r>
              <a:rPr lang="en-US" altLang="en-US" sz="2400" dirty="0"/>
              <a:t>(Brazil, Argentina, Paraguay, and Uruguay)</a:t>
            </a:r>
            <a:endParaRPr lang="en-US" altLang="en-US" sz="2400" dirty="0"/>
          </a:p>
          <a:p>
            <a:pPr marL="533400" indent="-533400" eaLnBrk="1" hangingPunct="1">
              <a:lnSpc>
                <a:spcPct val="90000"/>
              </a:lnSpc>
            </a:pPr>
            <a:endParaRPr lang="en-US"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ctr" anchorCtr="0"/>
          <a:p>
            <a:pPr eaLnBrk="1" hangingPunct="1"/>
            <a:r>
              <a:rPr lang="en-US" altLang="en-US" dirty="0">
                <a:solidFill>
                  <a:srgbClr val="003399"/>
                </a:solidFill>
                <a:latin typeface="Cambria" panose="02040503050406030204" charset="0"/>
              </a:rPr>
              <a:t>What Are The Levels Of </a:t>
            </a:r>
            <a:br>
              <a:rPr lang="en-US" altLang="en-US" dirty="0">
                <a:solidFill>
                  <a:srgbClr val="003399"/>
                </a:solidFill>
                <a:latin typeface="Cambria" panose="02040503050406030204" charset="0"/>
              </a:rPr>
            </a:br>
            <a:r>
              <a:rPr lang="en-US" altLang="en-US" dirty="0">
                <a:solidFill>
                  <a:srgbClr val="003399"/>
                </a:solidFill>
                <a:latin typeface="Cambria" panose="02040503050406030204" charset="0"/>
              </a:rPr>
              <a:t>Regional Economic Integration?</a:t>
            </a:r>
            <a:endParaRPr lang="en-US" altLang="en-US" dirty="0">
              <a:solidFill>
                <a:srgbClr val="003399"/>
              </a:solidFill>
              <a:latin typeface="Cambria" panose="02040503050406030204" charset="0"/>
            </a:endParaRPr>
          </a:p>
        </p:txBody>
      </p:sp>
      <p:sp>
        <p:nvSpPr>
          <p:cNvPr id="17411" name="Rectangle 3"/>
          <p:cNvSpPr>
            <a:spLocks noGrp="1"/>
          </p:cNvSpPr>
          <p:nvPr>
            <p:ph idx="1"/>
          </p:nvPr>
        </p:nvSpPr>
        <p:spPr/>
        <p:txBody>
          <a:bodyPr vert="horz" wrap="square" lIns="91440" tIns="45720" rIns="91440" bIns="45720" anchor="t" anchorCtr="0"/>
          <a:p>
            <a:pPr marL="609600" indent="-609600" eaLnBrk="1" hangingPunct="1">
              <a:lnSpc>
                <a:spcPct val="80000"/>
              </a:lnSpc>
              <a:buFont typeface="Wingdings" panose="05000000000000000000" pitchFamily="2" charset="2"/>
              <a:buAutoNum type="arabicPeriod" startAt="4"/>
            </a:pPr>
            <a:r>
              <a:rPr lang="en-US" altLang="en-US" sz="2800" dirty="0"/>
              <a:t>An </a:t>
            </a:r>
            <a:r>
              <a:rPr lang="en-US" altLang="en-US" sz="2800" dirty="0">
                <a:solidFill>
                  <a:srgbClr val="003399"/>
                </a:solidFill>
              </a:rPr>
              <a:t>economic union</a:t>
            </a:r>
            <a:r>
              <a:rPr lang="en-US" altLang="en-US" sz="2800" dirty="0"/>
              <a:t> has the free flow of products and factors of production between members, a common external trade policy, a common currency, a harmonized tax rate, and a common monetary and fiscal policy</a:t>
            </a:r>
            <a:endParaRPr lang="en-US" altLang="en-US" sz="2800" dirty="0"/>
          </a:p>
          <a:p>
            <a:pPr marL="990600" lvl="1" indent="-361950" eaLnBrk="1" hangingPunct="1">
              <a:lnSpc>
                <a:spcPct val="80000"/>
              </a:lnSpc>
            </a:pPr>
            <a:r>
              <a:rPr lang="en-US" altLang="en-US" sz="2400" dirty="0">
                <a:solidFill>
                  <a:srgbClr val="003399"/>
                </a:solidFill>
              </a:rPr>
              <a:t>European Union (EU)</a:t>
            </a:r>
            <a:endParaRPr lang="en-US" altLang="en-US" sz="2400" dirty="0">
              <a:solidFill>
                <a:srgbClr val="003399"/>
              </a:solidFill>
            </a:endParaRPr>
          </a:p>
          <a:p>
            <a:pPr marL="609600" indent="-609600" eaLnBrk="1" hangingPunct="1">
              <a:lnSpc>
                <a:spcPct val="80000"/>
              </a:lnSpc>
              <a:buFont typeface="Wingdings" panose="05000000000000000000" pitchFamily="2" charset="2"/>
              <a:buAutoNum type="arabicPeriod" startAt="5"/>
            </a:pPr>
            <a:r>
              <a:rPr lang="en-US" altLang="en-US" sz="2800" dirty="0"/>
              <a:t>A </a:t>
            </a:r>
            <a:r>
              <a:rPr lang="en-US" altLang="en-US" sz="2800" dirty="0">
                <a:solidFill>
                  <a:srgbClr val="003399"/>
                </a:solidFill>
              </a:rPr>
              <a:t>political union</a:t>
            </a:r>
            <a:r>
              <a:rPr lang="en-US" altLang="en-US" sz="2800" b="1" dirty="0"/>
              <a:t> </a:t>
            </a:r>
            <a:r>
              <a:rPr lang="en-US" altLang="en-US" sz="2800" dirty="0"/>
              <a:t>involves a central political apparatus that coordinates the economic, social, and foreign policy of member states </a:t>
            </a:r>
            <a:endParaRPr lang="en-US" altLang="en-US" sz="2800" dirty="0"/>
          </a:p>
          <a:p>
            <a:pPr marL="990600" lvl="1" indent="-361950" eaLnBrk="1" hangingPunct="1">
              <a:lnSpc>
                <a:spcPct val="80000"/>
              </a:lnSpc>
            </a:pPr>
            <a:r>
              <a:rPr lang="en-US" altLang="en-US" sz="2400" dirty="0"/>
              <a:t>the EU is headed toward at least partial political union, and the  U.S. is an example of even closer political union</a:t>
            </a:r>
            <a:endParaRPr lang="en-US" altLang="en-US" sz="2400" dirty="0"/>
          </a:p>
          <a:p>
            <a:pPr marL="609600" indent="-609600" eaLnBrk="1" hangingPunct="1">
              <a:lnSpc>
                <a:spcPct val="80000"/>
              </a:lnSpc>
            </a:pPr>
            <a:endParaRPr lang="en-US" altLang="en-US" sz="2800" dirty="0"/>
          </a:p>
          <a:p>
            <a:pPr marL="609600" indent="-609600" eaLnBrk="1" hangingPunct="1">
              <a:lnSpc>
                <a:spcPct val="80000"/>
              </a:lnSpc>
            </a:pPr>
            <a:endParaRPr lang="en-US" alt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ctr" anchorCtr="0"/>
          <a:p>
            <a:pPr eaLnBrk="1" hangingPunct="1"/>
            <a:r>
              <a:rPr lang="en-US" altLang="en-US" dirty="0">
                <a:solidFill>
                  <a:srgbClr val="003399"/>
                </a:solidFill>
                <a:latin typeface="Cambria" panose="02040503050406030204" charset="0"/>
              </a:rPr>
              <a:t>What Are The Levels Of </a:t>
            </a:r>
            <a:br>
              <a:rPr lang="en-US" altLang="en-US" dirty="0">
                <a:solidFill>
                  <a:srgbClr val="003399"/>
                </a:solidFill>
                <a:latin typeface="Cambria" panose="02040503050406030204" charset="0"/>
              </a:rPr>
            </a:br>
            <a:r>
              <a:rPr lang="en-US" altLang="en-US" dirty="0">
                <a:solidFill>
                  <a:srgbClr val="003399"/>
                </a:solidFill>
                <a:latin typeface="Cambria" panose="02040503050406030204" charset="0"/>
              </a:rPr>
              <a:t>Regional Economic Integration?</a:t>
            </a:r>
            <a:endParaRPr lang="en-US" altLang="en-US" dirty="0">
              <a:solidFill>
                <a:srgbClr val="003399"/>
              </a:solidFill>
              <a:latin typeface="Cambria" panose="02040503050406030204" charset="0"/>
            </a:endParaRPr>
          </a:p>
        </p:txBody>
      </p:sp>
      <p:sp>
        <p:nvSpPr>
          <p:cNvPr id="19459" name="Rectangle 3"/>
          <p:cNvSpPr>
            <a:spLocks noGrp="1"/>
          </p:cNvSpPr>
          <p:nvPr>
            <p:ph idx="1"/>
          </p:nvPr>
        </p:nvSpPr>
        <p:spPr/>
        <p:txBody>
          <a:bodyPr vert="horz" wrap="square" lIns="91440" tIns="45720" rIns="91440" bIns="45720" anchor="t" anchorCtr="0"/>
          <a:p>
            <a:pPr algn="ctr" eaLnBrk="1" hangingPunct="1">
              <a:buNone/>
            </a:pPr>
            <a:r>
              <a:rPr lang="en-US" altLang="en-US" sz="1400" dirty="0"/>
              <a:t>Levels of Economic Integration</a:t>
            </a:r>
            <a:endParaRPr lang="en-US" altLang="en-US" sz="1400" dirty="0"/>
          </a:p>
          <a:p>
            <a:pPr algn="ctr" eaLnBrk="1" hangingPunct="1">
              <a:buNone/>
            </a:pPr>
            <a:endParaRPr lang="en-US" altLang="en-US" sz="1400" dirty="0"/>
          </a:p>
        </p:txBody>
      </p:sp>
      <p:pic>
        <p:nvPicPr>
          <p:cNvPr id="5" name="Picture 1" descr="Chart illustrates the various levels of economic integration: the free trade area, the customs union, the common market, the economic union, and the political union." title="Levels of Economic Integration"/>
          <p:cNvPicPr>
            <a:picLocks noChangeAspect="1"/>
          </p:cNvPicPr>
          <p:nvPr/>
        </p:nvPicPr>
        <p:blipFill>
          <a:blip r:embed="rId1"/>
          <a:srcRect/>
          <a:stretch>
            <a:fillRect/>
          </a:stretch>
        </p:blipFill>
        <p:spPr bwMode="auto">
          <a:xfrm>
            <a:off x="2514600" y="2152650"/>
            <a:ext cx="411480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21276" y="1176073"/>
            <a:ext cx="408103" cy="3933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dirty="0">
              <a:latin typeface="inpin heiti" charset="-122"/>
              <a:ea typeface="inpin heiti" charset="-122"/>
            </a:endParaRPr>
          </a:p>
        </p:txBody>
      </p:sp>
      <p:sp>
        <p:nvSpPr>
          <p:cNvPr id="9" name="矩形 8"/>
          <p:cNvSpPr/>
          <p:nvPr/>
        </p:nvSpPr>
        <p:spPr>
          <a:xfrm>
            <a:off x="117350" y="857532"/>
            <a:ext cx="382642" cy="5963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80" dirty="0">
              <a:latin typeface="inpin heiti" charset="-122"/>
              <a:ea typeface="inpin heiti" charset="-122"/>
            </a:endParaRPr>
          </a:p>
        </p:txBody>
      </p:sp>
      <p:sp>
        <p:nvSpPr>
          <p:cNvPr id="2" name="文本框 1"/>
          <p:cNvSpPr txBox="1"/>
          <p:nvPr/>
        </p:nvSpPr>
        <p:spPr>
          <a:xfrm>
            <a:off x="745490" y="528955"/>
            <a:ext cx="7147560" cy="749935"/>
          </a:xfrm>
          <a:prstGeom prst="rect">
            <a:avLst/>
          </a:prstGeom>
          <a:noFill/>
        </p:spPr>
        <p:txBody>
          <a:bodyPr wrap="none" lIns="0" tIns="0" rIns="0" bIns="0" rtlCol="0">
            <a:noAutofit/>
          </a:bodyPr>
          <a:lstStyle/>
          <a:p>
            <a:pPr defTabSz="963930"/>
            <a:r>
              <a:rPr lang="zh-CN" altLang="en-US" sz="1990" b="1" dirty="0">
                <a:latin typeface="微软雅黑" panose="020B0503020204020204" charset="-122"/>
                <a:ea typeface="微软雅黑" panose="020B0503020204020204" charset="-122"/>
                <a:cs typeface="inpin heiti" charset="-122"/>
                <a:sym typeface="+mn-lt"/>
              </a:rPr>
              <a:t> The concept and </a:t>
            </a:r>
            <a:r>
              <a:rPr lang="en-US" altLang="zh-CN" sz="1990" b="1" dirty="0">
                <a:latin typeface="微软雅黑" panose="020B0503020204020204" charset="-122"/>
                <a:ea typeface="微软雅黑" panose="020B0503020204020204" charset="-122"/>
                <a:cs typeface="inpin heiti" charset="-122"/>
                <a:sym typeface="+mn-lt"/>
              </a:rPr>
              <a:t>form</a:t>
            </a:r>
            <a:r>
              <a:rPr lang="zh-CN" altLang="en-US" sz="1990" b="1" dirty="0">
                <a:latin typeface="微软雅黑" panose="020B0503020204020204" charset="-122"/>
                <a:ea typeface="微软雅黑" panose="020B0503020204020204" charset="-122"/>
                <a:cs typeface="inpin heiti" charset="-122"/>
                <a:sym typeface="+mn-lt"/>
              </a:rPr>
              <a:t> of regional </a:t>
            </a:r>
            <a:r>
              <a:rPr lang="en-US" altLang="zh-CN" sz="1990" b="1" dirty="0">
                <a:latin typeface="微软雅黑" panose="020B0503020204020204" charset="-122"/>
                <a:ea typeface="微软雅黑" panose="020B0503020204020204" charset="-122"/>
                <a:cs typeface="inpin heiti" charset="-122"/>
                <a:sym typeface="+mn-lt"/>
              </a:rPr>
              <a:t>economic integration</a:t>
            </a:r>
            <a:endParaRPr lang="zh-CN" altLang="en-US" sz="1990" b="1" dirty="0">
              <a:latin typeface="微软雅黑" panose="020B0503020204020204" charset="-122"/>
              <a:ea typeface="微软雅黑" panose="020B0503020204020204" charset="-122"/>
              <a:cs typeface="inpin heiti" charset="-122"/>
              <a:sym typeface="+mn-lt"/>
            </a:endParaRPr>
          </a:p>
        </p:txBody>
      </p:sp>
      <p:pic>
        <p:nvPicPr>
          <p:cNvPr id="3" name="图片 2"/>
          <p:cNvPicPr>
            <a:picLocks noChangeAspect="1"/>
          </p:cNvPicPr>
          <p:nvPr>
            <p:custDataLst>
              <p:tags r:id="rId1"/>
            </p:custDataLst>
          </p:nvPr>
        </p:nvPicPr>
        <p:blipFill>
          <a:blip r:embed="rId2"/>
          <a:stretch>
            <a:fillRect/>
          </a:stretch>
        </p:blipFill>
        <p:spPr>
          <a:xfrm>
            <a:off x="336550" y="1707515"/>
            <a:ext cx="8389620" cy="48685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a:t>II. Regional Economic Integration Organizations</a:t>
            </a:r>
            <a:endParaRPr lang="en-US" altLang="zh-CN" dirty="0"/>
          </a:p>
        </p:txBody>
      </p:sp>
      <p:sp>
        <p:nvSpPr>
          <p:cNvPr id="3" name="内容占位符 2"/>
          <p:cNvSpPr>
            <a:spLocks noGrp="1"/>
          </p:cNvSpPr>
          <p:nvPr>
            <p:ph idx="1"/>
          </p:nvPr>
        </p:nvSpPr>
        <p:spPr/>
        <p:txBody>
          <a:bodyPr/>
          <a:lstStyle/>
          <a:p>
            <a:pPr marL="571500" indent="-457200">
              <a:buFont typeface="+mj-lt"/>
              <a:buAutoNum type="arabicPeriod"/>
            </a:pPr>
            <a:r>
              <a:rPr lang="en-US" altLang="zh-CN" dirty="0"/>
              <a:t>- Advanced stage: European Union  </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Early stage: North American Free Trade Agreement  </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Preliminary stage: Asia-Pacific Economic Cooperation</a:t>
            </a:r>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356870" y="1752600"/>
            <a:ext cx="8428990" cy="4712335"/>
          </a:xfrm>
        </p:spPr>
        <p:txBody>
          <a:bodyPr>
            <a:normAutofit fontScale="90000" lnSpcReduction="20000"/>
          </a:bodyPr>
          <a:p>
            <a:r>
              <a:rPr lang="en-US" altLang="zh-CN"/>
              <a:t>1. April 1951 – France, Germany, Italy, Netherlands, Belgium and Luxembourg establish the European Coal and Steel Community.  </a:t>
            </a:r>
            <a:endParaRPr lang="en-US" altLang="zh-CN"/>
          </a:p>
          <a:p>
            <a:r>
              <a:rPr lang="en-US" altLang="zh-CN"/>
              <a:t>2. 1958 – The six found the European Economic Community and the European Atomic Energy Community; decide to build a customs union and implement a common agricultural policy.  </a:t>
            </a:r>
            <a:endParaRPr lang="en-US" altLang="zh-CN"/>
          </a:p>
          <a:p>
            <a:r>
              <a:rPr lang="en-US" altLang="zh-CN"/>
              <a:t>3. 1 July 1967 – The three communities merge into the European Community.  </a:t>
            </a:r>
            <a:endParaRPr lang="en-US" altLang="zh-CN"/>
          </a:p>
          <a:p>
            <a:r>
              <a:rPr lang="en-US" altLang="zh-CN"/>
              <a:t>4. December 1991 – The Maastricht Treaty is signed.  </a:t>
            </a:r>
            <a:endParaRPr lang="en-US" altLang="zh-CN"/>
          </a:p>
          <a:p>
            <a:r>
              <a:rPr lang="en-US" altLang="zh-CN"/>
              <a:t>5. 1 November 1993 – The Maastricht Treaty enters into force; the European Union is created.  </a:t>
            </a:r>
            <a:endParaRPr lang="en-US" altLang="zh-CN"/>
          </a:p>
          <a:p>
            <a:r>
              <a:rPr lang="en-US" altLang="zh-CN"/>
              <a:t>6. 1 January 1999 – The euro is officially launched.  </a:t>
            </a:r>
            <a:endParaRPr lang="en-US" altLang="zh-CN"/>
          </a:p>
          <a:p>
            <a:r>
              <a:rPr lang="en-US" altLang="zh-CN"/>
              <a:t>7. 2009 – The Treaty of Lisbon enters into force.  </a:t>
            </a:r>
            <a:endParaRPr lang="en-US" altLang="zh-CN"/>
          </a:p>
          <a:p>
            <a:r>
              <a:rPr lang="en-US" altLang="zh-CN"/>
              <a:t>8. 23 June 2016 – The United Kingdom holds a referendum on EU membership; a majority vote to leave.</a:t>
            </a:r>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Autofit/>
          </a:bodyPr>
          <a:p>
            <a:r>
              <a:rPr lang="en-US" altLang="zh-CN" sz="1900"/>
              <a:t>1. 1988 – The United States and Canada signed the Canada–U.S. Free Trade Agreement.  </a:t>
            </a:r>
            <a:endParaRPr lang="en-US" altLang="zh-CN" sz="1900"/>
          </a:p>
          <a:p>
            <a:r>
              <a:rPr lang="en-US" altLang="zh-CN" sz="1900"/>
              <a:t>2. October 1992 – The heads of state of the United States, Canada, and Mexico signed the North American Free Trade Agreement (NAFTA).  </a:t>
            </a:r>
            <a:endParaRPr lang="en-US" altLang="zh-CN" sz="1900"/>
          </a:p>
          <a:p>
            <a:r>
              <a:rPr lang="en-US" altLang="zh-CN" sz="1900"/>
              <a:t>3. September 1994 – The United States formally proposed the creation of a Free Trade Area of the Americas (FTAA).  </a:t>
            </a:r>
            <a:endParaRPr lang="en-US" altLang="zh-CN" sz="1900"/>
          </a:p>
          <a:p>
            <a:r>
              <a:rPr lang="en-US" altLang="zh-CN" sz="1900"/>
              <a:t>4. December 1994 – At the first Summit of the Americas in Miami, 34 countries of the Americas signed an agreement committing to establish the FTAA.  </a:t>
            </a:r>
            <a:endParaRPr lang="en-US" altLang="zh-CN" sz="1900"/>
          </a:p>
          <a:p>
            <a:r>
              <a:rPr lang="en-US" altLang="zh-CN" sz="1900"/>
              <a:t>5. 1998 – At the second Summit of the Americas in Santiago, the negotiations to create the FTAA were officially launched.  </a:t>
            </a:r>
            <a:endParaRPr lang="en-US" altLang="zh-CN" sz="1900"/>
          </a:p>
          <a:p>
            <a:r>
              <a:rPr lang="en-US" altLang="zh-CN" sz="1900"/>
              <a:t>6. April 2001 – The third Summit of the Americas, held in Quebec City, Canada, set a firm deadline of December 2005 for the official launch of the FTAA.</a:t>
            </a:r>
            <a:endParaRPr lang="en-US" altLang="zh-CN" sz="19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r>
              <a:rPr lang="en-US" altLang="zh-CN"/>
              <a:t>1. November 1989 – The first APEC Ministerial Meeting, held in Canberra, marked the formal launch of institutionalized economic cooperation in the Asia-Pacific region.  </a:t>
            </a:r>
            <a:endParaRPr lang="en-US" altLang="zh-CN"/>
          </a:p>
          <a:p>
            <a:r>
              <a:rPr lang="en-US" altLang="zh-CN"/>
              <a:t>2. November 1993 – The inaugural APEC Economic Leaders’ Meeting took place in Seattle, USA.  </a:t>
            </a:r>
            <a:endParaRPr lang="en-US" altLang="zh-CN"/>
          </a:p>
          <a:p>
            <a:r>
              <a:rPr lang="en-US" altLang="zh-CN"/>
              <a:t>3. November 1994 – The Bogor Meeting set two timelines for achieving trade and investment liberalization.  </a:t>
            </a:r>
            <a:endParaRPr lang="en-US" altLang="zh-CN"/>
          </a:p>
          <a:p>
            <a:r>
              <a:rPr lang="en-US" altLang="zh-CN"/>
              <a:t>4. November 1995 – The Osaka Meeting reaffirmed that each member may proceed toward liberalization at its own pace and in its own manner, according to its individual circumstances.  </a:t>
            </a:r>
            <a:endParaRPr lang="en-US" altLang="zh-CN"/>
          </a:p>
          <a:p>
            <a:r>
              <a:rPr lang="en-US" altLang="zh-CN"/>
              <a:t>5. November 2014 – The Beijing Meeting launched the process for an Asia-Pacific Free Trade Area and adopted the APEC Roadmap for its realization.</a:t>
            </a: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32585"/>
            <a:ext cx="8406765" cy="4932680"/>
          </a:xfrm>
        </p:spPr>
        <p:txBody>
          <a:bodyPr>
            <a:noAutofit/>
          </a:bodyPr>
          <a:p>
            <a:r>
              <a:rPr lang="en-US" altLang="zh-CN" sz="2000"/>
              <a:t>Traditional Model  // Asia-Pacific Economic Cooperation (APEC) Approach</a:t>
            </a:r>
            <a:endParaRPr lang="en-US" altLang="zh-CN" sz="2000"/>
          </a:p>
          <a:p>
            <a:r>
              <a:rPr lang="en-US" altLang="zh-CN" sz="2000"/>
              <a:t>1. Traditional: Requires regional integration to be built upon</a:t>
            </a:r>
            <a:endParaRPr lang="en-US" altLang="zh-CN" sz="2000"/>
          </a:p>
          <a:p>
            <a:r>
              <a:rPr lang="en-US" altLang="zh-CN" sz="2000"/>
              <a:t>a complete set of binding institutional rules;</a:t>
            </a:r>
            <a:endParaRPr lang="en-US" altLang="zh-CN" sz="2000"/>
          </a:p>
          <a:p>
            <a:r>
              <a:rPr lang="en-US" altLang="zh-CN" sz="2000"/>
              <a:t>APEC: Adopts voluntary, consensus-based cooperation,</a:t>
            </a:r>
            <a:endParaRPr lang="en-US" altLang="zh-CN" sz="2000"/>
          </a:p>
          <a:p>
            <a:r>
              <a:rPr lang="en-US" altLang="zh-CN" sz="2000"/>
              <a:t>upholding flexibility and non-compulsory principles;</a:t>
            </a:r>
            <a:endParaRPr lang="en-US" altLang="zh-CN" sz="2000"/>
          </a:p>
          <a:p>
            <a:r>
              <a:rPr lang="en-US" altLang="zh-CN" sz="2000"/>
              <a:t>2. Traditional: Advocates the establishment of supranational</a:t>
            </a:r>
            <a:endParaRPr lang="en-US" altLang="zh-CN" sz="2000"/>
          </a:p>
          <a:p>
            <a:r>
              <a:rPr lang="en-US" altLang="zh-CN" sz="2000"/>
              <a:t>authoritative bodies during the integration process;</a:t>
            </a:r>
            <a:endParaRPr lang="en-US" altLang="zh-CN" sz="2000"/>
          </a:p>
          <a:p>
            <a:r>
              <a:rPr lang="en-US" altLang="zh-CN" sz="2000"/>
              <a:t>APEC: Essentially no more than an economic cooperation forum;</a:t>
            </a:r>
            <a:endParaRPr lang="en-US" altLang="zh-CN" sz="2000"/>
          </a:p>
          <a:p>
            <a:r>
              <a:rPr lang="en-US" altLang="zh-CN" sz="2000"/>
              <a:t>3. Traditional: Tends to be exclusive, preferring closed forms of</a:t>
            </a:r>
            <a:endParaRPr lang="en-US" altLang="zh-CN" sz="2000"/>
          </a:p>
          <a:p>
            <a:r>
              <a:rPr lang="en-US" altLang="zh-CN" sz="2000"/>
              <a:t>regional cooperation and showing discrimination</a:t>
            </a:r>
            <a:endParaRPr lang="en-US" altLang="zh-CN" sz="2000"/>
          </a:p>
          <a:p>
            <a:r>
              <a:rPr lang="en-US" altLang="zh-CN" sz="2000"/>
              <a:t>against non-members;</a:t>
            </a:r>
            <a:endParaRPr lang="en-US" altLang="zh-CN" sz="2000"/>
          </a:p>
          <a:p>
            <a:r>
              <a:rPr lang="en-US" altLang="zh-CN" sz="2000"/>
              <a:t>APEC: Has practiced open regionalism from the outset,</a:t>
            </a:r>
            <a:endParaRPr lang="en-US" altLang="zh-CN" sz="2000"/>
          </a:p>
          <a:p>
            <a:r>
              <a:rPr lang="en-US" altLang="zh-CN" sz="2000"/>
              <a:t>applying non-discriminatory principles to non-members as well.</a:t>
            </a:r>
            <a:endParaRPr lang="en-US" altLang="zh-CN"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110" dirty="0">
                <a:latin typeface="Times New Roman" panose="02020603050405020304" charset="0"/>
                <a:cs typeface="Times New Roman" panose="02020603050405020304" charset="0"/>
              </a:rPr>
              <a:t>(IV) Other Regional and Sub-regional Organizations</a:t>
            </a:r>
            <a:endParaRPr lang="en-US" altLang="zh-CN" sz="3110" dirty="0">
              <a:latin typeface="Times New Roman" panose="02020603050405020304" charset="0"/>
              <a:cs typeface="Times New Roman" panose="02020603050405020304" charset="0"/>
            </a:endParaRPr>
          </a:p>
        </p:txBody>
      </p:sp>
      <p:sp>
        <p:nvSpPr>
          <p:cNvPr id="7" name="内容占位符 6"/>
          <p:cNvSpPr>
            <a:spLocks noGrp="1"/>
          </p:cNvSpPr>
          <p:nvPr>
            <p:ph idx="1"/>
          </p:nvPr>
        </p:nvSpPr>
        <p:spPr>
          <a:xfrm>
            <a:off x="457200" y="1752600"/>
            <a:ext cx="8229600" cy="4525010"/>
          </a:xfrm>
        </p:spPr>
        <p:txBody>
          <a:bodyPr>
            <a:normAutofit lnSpcReduction="10000"/>
          </a:bodyPr>
          <a:lstStyle/>
          <a:p>
            <a:r>
              <a:rPr lang="en-US" altLang="zh-CN" dirty="0">
                <a:latin typeface="+mn-ea"/>
              </a:rPr>
              <a:t>- </a:t>
            </a:r>
            <a:r>
              <a:rPr lang="en-US" altLang="zh-CN" sz="2800" dirty="0">
                <a:latin typeface="Times New Roman" panose="02020603050405020304" charset="0"/>
                <a:cs typeface="Times New Roman" panose="02020603050405020304" charset="0"/>
              </a:rPr>
              <a:t>African Union  </a:t>
            </a:r>
            <a:endParaRPr lang="en-US" altLang="zh-CN" sz="2800" dirty="0">
              <a:latin typeface="Times New Roman" panose="02020603050405020304" charset="0"/>
              <a:cs typeface="Times New Roman" panose="02020603050405020304" charset="0"/>
            </a:endParaRPr>
          </a:p>
          <a:p>
            <a:endParaRPr lang="en-US" altLang="zh-CN" sz="2800" dirty="0">
              <a:latin typeface="Times New Roman" panose="02020603050405020304" charset="0"/>
              <a:cs typeface="Times New Roman" panose="02020603050405020304" charset="0"/>
            </a:endParaRPr>
          </a:p>
          <a:p>
            <a:r>
              <a:rPr lang="en-US" altLang="zh-CN" sz="2800" dirty="0">
                <a:latin typeface="Times New Roman" panose="02020603050405020304" charset="0"/>
                <a:cs typeface="Times New Roman" panose="02020603050405020304" charset="0"/>
              </a:rPr>
              <a:t>- Central American Free Trade Area  </a:t>
            </a:r>
            <a:endParaRPr lang="en-US" altLang="zh-CN" sz="2800" dirty="0">
              <a:latin typeface="Times New Roman" panose="02020603050405020304" charset="0"/>
              <a:cs typeface="Times New Roman" panose="02020603050405020304" charset="0"/>
            </a:endParaRPr>
          </a:p>
          <a:p>
            <a:endParaRPr lang="en-US" altLang="zh-CN" sz="2800" dirty="0">
              <a:latin typeface="Times New Roman" panose="02020603050405020304" charset="0"/>
              <a:cs typeface="Times New Roman" panose="02020603050405020304" charset="0"/>
            </a:endParaRPr>
          </a:p>
          <a:p>
            <a:r>
              <a:rPr lang="en-US" altLang="zh-CN" sz="2800" dirty="0">
                <a:latin typeface="Times New Roman" panose="02020603050405020304" charset="0"/>
                <a:cs typeface="Times New Roman" panose="02020603050405020304" charset="0"/>
              </a:rPr>
              <a:t>- Union of South American Nations  </a:t>
            </a:r>
            <a:endParaRPr lang="en-US" altLang="zh-CN" sz="2800" dirty="0">
              <a:latin typeface="Times New Roman" panose="02020603050405020304" charset="0"/>
              <a:cs typeface="Times New Roman" panose="02020603050405020304" charset="0"/>
            </a:endParaRPr>
          </a:p>
          <a:p>
            <a:endParaRPr lang="en-US" altLang="zh-CN" sz="2800" dirty="0">
              <a:latin typeface="Times New Roman" panose="02020603050405020304" charset="0"/>
              <a:cs typeface="Times New Roman" panose="02020603050405020304" charset="0"/>
            </a:endParaRPr>
          </a:p>
          <a:p>
            <a:r>
              <a:rPr lang="en-US" altLang="zh-CN" sz="2800" dirty="0">
                <a:latin typeface="Times New Roman" panose="02020603050405020304" charset="0"/>
                <a:cs typeface="Times New Roman" panose="02020603050405020304" charset="0"/>
              </a:rPr>
              <a:t>- Community of Latin American and Caribbean States</a:t>
            </a:r>
            <a:endParaRPr lang="en-US" altLang="zh-CN" sz="2800" dirty="0">
              <a:latin typeface="Times New Roman" panose="02020603050405020304" charset="0"/>
              <a:cs typeface="Times New Roman" panose="02020603050405020304" charset="0"/>
            </a:endParaRPr>
          </a:p>
          <a:p>
            <a:r>
              <a:rPr lang="en-US" altLang="zh-CN" sz="2800" dirty="0">
                <a:latin typeface="Times New Roman" panose="02020603050405020304" charset="0"/>
                <a:cs typeface="Times New Roman" panose="02020603050405020304" charset="0"/>
              </a:rPr>
              <a:t>  </a:t>
            </a:r>
            <a:endParaRPr lang="en-US" altLang="zh-CN" sz="2800" dirty="0">
              <a:latin typeface="Times New Roman" panose="02020603050405020304" charset="0"/>
              <a:cs typeface="Times New Roman" panose="02020603050405020304" charset="0"/>
            </a:endParaRPr>
          </a:p>
          <a:p>
            <a:r>
              <a:rPr lang="en-US" altLang="zh-CN" sz="2800" dirty="0">
                <a:latin typeface="Times New Roman" panose="02020603050405020304" charset="0"/>
                <a:cs typeface="Times New Roman" panose="02020603050405020304" charset="0"/>
              </a:rPr>
              <a:t>- Association of Southeast Asian Nations</a:t>
            </a:r>
            <a:endParaRPr lang="en-US" altLang="zh-CN" sz="28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48" y="332807"/>
            <a:ext cx="8260672" cy="1039427"/>
          </a:xfrm>
        </p:spPr>
        <p:txBody>
          <a:bodyPr>
            <a:normAutofit fontScale="90000"/>
          </a:bodyPr>
          <a:lstStyle/>
          <a:p>
            <a:r>
              <a:rPr lang="en-US" altLang="zh-CN" sz="3110" dirty="0">
                <a:latin typeface="Times New Roman" panose="02020603050405020304" charset="0"/>
                <a:cs typeface="Times New Roman" panose="02020603050405020304" charset="0"/>
              </a:rPr>
              <a:t>III. Impetus of International Organizations to Regional Economic Integration</a:t>
            </a:r>
            <a:endParaRPr lang="en-US" altLang="zh-CN" sz="3110" dirty="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lstStyle/>
          <a:p>
            <a:pPr marL="571500" indent="-457200">
              <a:buFont typeface="+mj-lt"/>
              <a:buAutoNum type="arabicPeriod"/>
            </a:pPr>
            <a:r>
              <a:rPr lang="en-US" altLang="zh-CN" dirty="0"/>
              <a:t>- Jointly advance the deepening of regional integration and greatly enrich its related theories.</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Activities of regional organizations progressively transcend national boundaries and barriers, reinforcing the trend toward regional bloc formation.</a:t>
            </a:r>
            <a:endParaRPr lang="en-US" altLang="zh-CN" dirty="0"/>
          </a:p>
          <a:p>
            <a:pPr marL="571500" indent="-457200">
              <a:buFont typeface="+mj-lt"/>
              <a:buAutoNum type="arabicPeriod"/>
            </a:pPr>
            <a:endParaRPr lang="en-US" altLang="zh-CN" dirty="0"/>
          </a:p>
          <a:p>
            <a:pPr marL="571500" indent="-457200">
              <a:buFont typeface="+mj-lt"/>
              <a:buAutoNum type="arabicPeriod"/>
            </a:pPr>
            <a:r>
              <a:rPr lang="en-US" altLang="zh-CN" dirty="0"/>
              <a:t>- Global organizations continue to regard the development of regional economic integration as an integral part of worldwide economic integration.</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Discussion Questions  </a:t>
            </a:r>
            <a:endParaRPr lang="zh-CN" altLang="en-US" dirty="0"/>
          </a:p>
        </p:txBody>
      </p:sp>
      <p:sp>
        <p:nvSpPr>
          <p:cNvPr id="3" name="内容占位符 2"/>
          <p:cNvSpPr>
            <a:spLocks noGrp="1"/>
          </p:cNvSpPr>
          <p:nvPr>
            <p:ph idx="1"/>
          </p:nvPr>
        </p:nvSpPr>
        <p:spPr/>
        <p:txBody>
          <a:bodyPr/>
          <a:lstStyle/>
          <a:p>
            <a:pPr marL="114300" indent="0">
              <a:buNone/>
            </a:pPr>
            <a:r>
              <a:rPr lang="en-US" altLang="zh-CN" dirty="0"/>
              <a:t>1. How should we understand the World Trade Organization’s role in advancing the international trading system?  </a:t>
            </a:r>
            <a:endParaRPr lang="en-US" altLang="zh-CN" dirty="0"/>
          </a:p>
          <a:p>
            <a:pPr marL="114300" indent="0">
              <a:buNone/>
            </a:pPr>
            <a:r>
              <a:rPr lang="en-US" altLang="zh-CN" dirty="0"/>
              <a:t>2. How do we assess both the necessity and the limitations of reforming the International Monetary Fund?  </a:t>
            </a:r>
            <a:endParaRPr lang="en-US" altLang="zh-CN" dirty="0"/>
          </a:p>
          <a:p>
            <a:pPr marL="114300" indent="0">
              <a:buNone/>
            </a:pPr>
            <a:r>
              <a:rPr lang="en-US" altLang="zh-CN" dirty="0"/>
              <a:t>3. What advantages do international organizations possess when conducting multilateral aid?  </a:t>
            </a:r>
            <a:endParaRPr lang="en-US" altLang="zh-CN" dirty="0"/>
          </a:p>
          <a:p>
            <a:pPr marL="114300" indent="0">
              <a:buNone/>
            </a:pPr>
            <a:r>
              <a:rPr lang="en-US" altLang="zh-CN" dirty="0"/>
              <a:t>4. What successful lessons has the development of the European Union provided for regional economic integration?</a:t>
            </a:r>
            <a:endParaRPr lang="en-US" altLang="zh-CN" dirty="0"/>
          </a:p>
        </p:txBody>
      </p:sp>
    </p:spTree>
  </p:cSld>
  <p:clrMapOvr>
    <a:masterClrMapping/>
  </p:clrMapOvr>
</p:sld>
</file>

<file path=ppt/tags/tag1.xml><?xml version="1.0" encoding="utf-8"?>
<p:tagLst xmlns:p="http://schemas.openxmlformats.org/presentationml/2006/main">
  <p:tag name="KSO_WM_UNIT_PLACING_PICTURE_USER_VIEWPORT" val="{&quot;height&quot;:4430,&quot;width&quot;:90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奥斯汀">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药剂师">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26813</Words>
  <Application>WPS 演示</Application>
  <PresentationFormat>全屏显示(4:3)</PresentationFormat>
  <Paragraphs>402</Paragraphs>
  <Slides>51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51</vt:i4>
      </vt:variant>
    </vt:vector>
  </HeadingPairs>
  <TitlesOfParts>
    <vt:vector size="63" baseType="lpstr">
      <vt:lpstr>Arial</vt:lpstr>
      <vt:lpstr>宋体</vt:lpstr>
      <vt:lpstr>Wingdings</vt:lpstr>
      <vt:lpstr>Times New Roman</vt:lpstr>
      <vt:lpstr>微软雅黑</vt:lpstr>
      <vt:lpstr>Arial Unicode MS</vt:lpstr>
      <vt:lpstr>黑体</vt:lpstr>
      <vt:lpstr>Calibri</vt:lpstr>
      <vt:lpstr>楷体</vt:lpstr>
      <vt:lpstr>Cambria</vt:lpstr>
      <vt:lpstr>inpin heiti</vt:lpstr>
      <vt:lpstr>药剂师</vt:lpstr>
      <vt:lpstr>Chapter 6 The Economic Cooperation Function of International Organizations</vt:lpstr>
      <vt:lpstr>Section one International Organizations and the Development of International Trade</vt:lpstr>
      <vt:lpstr>I. Evolution of the International Trade Regime</vt:lpstr>
      <vt:lpstr>(I) General Agreement on Tariffs and Trade  </vt:lpstr>
      <vt:lpstr>(II) Other Types of International Organizations</vt:lpstr>
      <vt:lpstr>(III) World Trade Organization  </vt:lpstr>
      <vt:lpstr>II. Activities and Approaches of International Organizations in International Trade</vt:lpstr>
      <vt:lpstr>(I) Activities and Methods of the World Trade Organization  </vt:lpstr>
      <vt:lpstr>(II) Regional International Organizations  </vt:lpstr>
      <vt:lpstr>III. Impetus of International Organizations to International Trade Development </vt:lpstr>
      <vt:lpstr>Section two  International Organizations and International Financial Cooperation</vt:lpstr>
      <vt:lpstr>International Financial Cooperation  </vt:lpstr>
      <vt:lpstr>I. Evolution of the International Financial Mechanism</vt:lpstr>
      <vt:lpstr>(I) International Monetary Fund </vt:lpstr>
      <vt:lpstr>(II) International Bank for Reconstruction and Development (World Bank)</vt:lpstr>
      <vt:lpstr>(II) International Bank for Reconstruction and Development (World Bank)</vt:lpstr>
      <vt:lpstr>(II) International Bank for Reconstruction and Development (World Bank)</vt:lpstr>
      <vt:lpstr>(III) Regional International Organizations</vt:lpstr>
      <vt:lpstr>II. Role of International Organizations in Promoting International Financial Cooperation</vt:lpstr>
      <vt:lpstr>Section three International Organizations and Multilateral Aid</vt:lpstr>
      <vt:lpstr>International Multilateral Aid  </vt:lpstr>
      <vt:lpstr>I. Evolution of the International Multilateral Aid Mechanism</vt:lpstr>
      <vt:lpstr>I. The Evolution of International Multilateral Aid Mechanisms</vt:lpstr>
      <vt:lpstr>I. Evolution of International Multilateral Aid Mechanisms  </vt:lpstr>
      <vt:lpstr>II. Multilateral Aid Activities and Approaches of International Organizations</vt:lpstr>
      <vt:lpstr>(I) Multilateral Aid Activities and Modalities within the United Nations System</vt:lpstr>
      <vt:lpstr>(I) Multilateral Aid Activities and Modalities within the United Nations System</vt:lpstr>
      <vt:lpstr>(I) Multilateral Aid Activities within the United Nations System</vt:lpstr>
      <vt:lpstr>(I) Multilateral Aid Activities within the United Nations System</vt:lpstr>
      <vt:lpstr>(I) Multilateral Aid Activities within the United Nations System</vt:lpstr>
      <vt:lpstr>(II) European Union’s International Aid Activities</vt:lpstr>
      <vt:lpstr>(III) International Aid by Non-Governmental International Organizations</vt:lpstr>
      <vt:lpstr>II. Operational Modalities of Multilateral Aid by International Organizations</vt:lpstr>
      <vt:lpstr>III. Impetus of International Organizations to International Aid</vt:lpstr>
      <vt:lpstr>Section IV  International Organizations and Regional Economic Integration</vt:lpstr>
      <vt:lpstr>Regional Economic Integration </vt:lpstr>
      <vt:lpstr> (I) The Six Stages of Regional Economic Integration</vt:lpstr>
      <vt:lpstr>PowerPoint 演示文稿</vt:lpstr>
      <vt:lpstr>What Are The Levels Of  Regional Economic Integration?</vt:lpstr>
      <vt:lpstr>What Are The Levels Of  Regional Economic Integration?</vt:lpstr>
      <vt:lpstr>What Are The Levels Of  Regional Economic Integration?</vt:lpstr>
      <vt:lpstr>What Are The Levels Of  Regional Economic Integration?</vt:lpstr>
      <vt:lpstr>PowerPoint 演示文稿</vt:lpstr>
      <vt:lpstr>II. Regional Economic Integration Organizations</vt:lpstr>
      <vt:lpstr>PowerPoint 演示文稿</vt:lpstr>
      <vt:lpstr>PowerPoint 演示文稿</vt:lpstr>
      <vt:lpstr>PowerPoint 演示文稿</vt:lpstr>
      <vt:lpstr>PowerPoint 演示文稿</vt:lpstr>
      <vt:lpstr>(IV) Other Regional and Sub-regional Organizations</vt:lpstr>
      <vt:lpstr>III. Impetus of International Organizations to Regional Economic Integration</vt:lpstr>
      <vt:lpstr>Discussion 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国际组织的经济合作功能</dc:title>
  <dc:creator>Administrator</dc:creator>
  <cp:lastModifiedBy>大唐1415436413</cp:lastModifiedBy>
  <cp:revision>111</cp:revision>
  <dcterms:created xsi:type="dcterms:W3CDTF">2017-07-05T13:49:00Z</dcterms:created>
  <dcterms:modified xsi:type="dcterms:W3CDTF">2026-05-10T02:39:19Z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8C24ACCDC78442C1A666C3102F90BC2A_13</vt:lpwstr>
  </property>
  <property fmtid="{D5CDD505-2E9C-101B-9397-08002B2CF9AE}" pid="3" name="KSOProductBuildVer">
    <vt:lpwstr>2052-12.1.0.25865</vt:lpwstr>
  </property>
</Properties>
</file>