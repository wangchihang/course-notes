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89" r:id="rId5"/>
    <p:sldId id="290" r:id="rId6"/>
    <p:sldId id="260" r:id="rId7"/>
    <p:sldId id="298" r:id="rId8"/>
    <p:sldId id="261" r:id="rId9"/>
    <p:sldId id="299" r:id="rId10"/>
    <p:sldId id="262" r:id="rId11"/>
    <p:sldId id="263" r:id="rId12"/>
    <p:sldId id="264" r:id="rId13"/>
    <p:sldId id="265" r:id="rId14"/>
    <p:sldId id="266" r:id="rId15"/>
    <p:sldId id="267" r:id="rId16"/>
    <p:sldId id="268" r:id="rId17"/>
    <p:sldId id="269" r:id="rId18"/>
    <p:sldId id="270" r:id="rId19"/>
    <p:sldId id="292" r:id="rId20"/>
    <p:sldId id="293" r:id="rId21"/>
    <p:sldId id="294" r:id="rId22"/>
    <p:sldId id="274" r:id="rId23"/>
    <p:sldId id="275" r:id="rId24"/>
    <p:sldId id="276" r:id="rId25"/>
    <p:sldId id="277" r:id="rId26"/>
    <p:sldId id="278" r:id="rId27"/>
    <p:sldId id="280" r:id="rId28"/>
    <p:sldId id="283" r:id="rId29"/>
    <p:sldId id="295" r:id="rId30"/>
    <p:sldId id="296" r:id="rId31"/>
    <p:sldId id="297" r:id="rId32"/>
    <p:sldId id="284" r:id="rId33"/>
    <p:sldId id="286" r:id="rId34"/>
    <p:sldId id="287" r:id="rId35"/>
    <p:sldId id="288" r:id="rId36"/>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showGuides="1">
      <p:cViewPr varScale="1">
        <p:scale>
          <a:sx n="65" d="100"/>
          <a:sy n="65" d="100"/>
        </p:scale>
        <p:origin x="-1524" y="-114"/>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9" Type="http://schemas.openxmlformats.org/officeDocument/2006/relationships/tableStyles" Target="tableStyles.xml"/><Relationship Id="rId38" Type="http://schemas.openxmlformats.org/officeDocument/2006/relationships/viewProps" Target="viewProps.xml"/><Relationship Id="rId37" Type="http://schemas.openxmlformats.org/officeDocument/2006/relationships/presProps" Target="presProps.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sp>
        <p:nvSpPr>
          <p:cNvPr id="7" name="Rectangle 6"/>
          <p:cNvSpPr/>
          <p:nvPr/>
        </p:nvSpPr>
        <p:spPr>
          <a:xfrm>
            <a:off x="0" y="0"/>
            <a:ext cx="9144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8" name="Rounded Rectangle 7"/>
          <p:cNvSpPr/>
          <p:nvPr/>
        </p:nvSpPr>
        <p:spPr>
          <a:xfrm>
            <a:off x="91440" y="101600"/>
            <a:ext cx="8961120" cy="6664960"/>
          </a:xfrm>
          <a:prstGeom prst="roundRect">
            <a:avLst>
              <a:gd name="adj" fmla="val 1735"/>
            </a:avLst>
          </a:prstGeom>
          <a:ln w="12700" cmpd="sng">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9" name="Rectangle 8"/>
          <p:cNvSpPr/>
          <p:nvPr/>
        </p:nvSpPr>
        <p:spPr>
          <a:xfrm>
            <a:off x="345440" y="2942602"/>
            <a:ext cx="7147931" cy="2463800"/>
          </a:xfrm>
          <a:prstGeom prst="rect">
            <a:avLst/>
          </a:prstGeom>
          <a:solidFill>
            <a:srgbClr val="FFFFFF">
              <a:alpha val="83000"/>
            </a:srgbClr>
          </a:soli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7572652" y="2944634"/>
            <a:ext cx="1190348" cy="2459736"/>
          </a:xfrm>
          <a:prstGeom prst="rect">
            <a:avLst/>
          </a:prstGeom>
          <a:solidFill>
            <a:srgbClr val="FFFFFF">
              <a:alpha val="83000"/>
            </a:srgbClr>
          </a:soli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p:cNvSpPr/>
          <p:nvPr/>
        </p:nvSpPr>
        <p:spPr>
          <a:xfrm>
            <a:off x="7712714" y="3136658"/>
            <a:ext cx="910224" cy="2075688"/>
          </a:xfrm>
          <a:prstGeom prst="rect">
            <a:avLst/>
          </a:prstGeom>
          <a:solidFill>
            <a:schemeClr val="accent3">
              <a:alpha val="70000"/>
            </a:schemeClr>
          </a:solidFill>
          <a:ln w="635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p:nvPr/>
        </p:nvSpPr>
        <p:spPr>
          <a:xfrm>
            <a:off x="445483" y="3055621"/>
            <a:ext cx="6947845" cy="2245359"/>
          </a:xfrm>
          <a:prstGeom prst="rect">
            <a:avLst/>
          </a:prstGeom>
          <a:solidFill>
            <a:srgbClr val="FFFFFF"/>
          </a:solidFill>
          <a:ln w="6350" cmpd="dbl">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lide Number Placeholder 5"/>
          <p:cNvSpPr>
            <a:spLocks noGrp="1"/>
          </p:cNvSpPr>
          <p:nvPr>
            <p:ph type="sldNum" sz="quarter" idx="12"/>
          </p:nvPr>
        </p:nvSpPr>
        <p:spPr>
          <a:xfrm>
            <a:off x="7786826" y="4625268"/>
            <a:ext cx="762000" cy="457200"/>
          </a:xfrm>
        </p:spPr>
        <p:txBody>
          <a:bodyPr/>
          <a:lstStyle>
            <a:lvl1pPr algn="ctr">
              <a:defRPr sz="2800">
                <a:solidFill>
                  <a:schemeClr val="accent1">
                    <a:lumMod val="50000"/>
                  </a:schemeClr>
                </a:solidFill>
              </a:defRPr>
            </a:lvl1pPr>
          </a:lstStyle>
          <a:p>
            <a:fld id="{0C913308-F349-4B6D-A68A-DD1791B4A57B}" type="slidenum">
              <a:rPr lang="zh-CN" altLang="en-US" smtClean="0"/>
            </a:fld>
            <a:endParaRPr lang="zh-CN" altLang="en-US"/>
          </a:p>
        </p:txBody>
      </p:sp>
      <p:sp>
        <p:nvSpPr>
          <p:cNvPr id="11" name="Rectangle 10"/>
          <p:cNvSpPr/>
          <p:nvPr/>
        </p:nvSpPr>
        <p:spPr>
          <a:xfrm>
            <a:off x="541822" y="4559276"/>
            <a:ext cx="6755166" cy="664367"/>
          </a:xfrm>
          <a:prstGeom prst="rect">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538971" y="3139440"/>
            <a:ext cx="6760868" cy="2077720"/>
          </a:xfrm>
          <a:prstGeom prst="rect">
            <a:avLst/>
          </a:prstGeom>
          <a:noFill/>
          <a:ln w="6350" cmpd="dbl">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p:nvPr>
        </p:nvSpPr>
        <p:spPr>
          <a:xfrm>
            <a:off x="642805" y="4648200"/>
            <a:ext cx="6553200" cy="457200"/>
          </a:xfrm>
        </p:spPr>
        <p:txBody>
          <a:bodyPr>
            <a:normAutofit/>
          </a:bodyPr>
          <a:lstStyle>
            <a:lvl1pPr marL="0" indent="0" algn="ctr">
              <a:buNone/>
              <a:defRPr sz="1800" cap="all" spc="300" baseline="0">
                <a:solidFill>
                  <a:srgbClr val="FFFFFF"/>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smtClean="0"/>
              <a:t>单击此处编辑母版副标题样式</a:t>
            </a:r>
            <a:endParaRPr lang="en-US" dirty="0"/>
          </a:p>
        </p:txBody>
      </p:sp>
      <p:sp>
        <p:nvSpPr>
          <p:cNvPr id="2" name="Title 1"/>
          <p:cNvSpPr>
            <a:spLocks noGrp="1"/>
          </p:cNvSpPr>
          <p:nvPr>
            <p:ph type="ctrTitle"/>
          </p:nvPr>
        </p:nvSpPr>
        <p:spPr>
          <a:xfrm>
            <a:off x="604705" y="3227033"/>
            <a:ext cx="6629400" cy="1219201"/>
          </a:xfrm>
        </p:spPr>
        <p:txBody>
          <a:bodyPr anchor="b" anchorCtr="0">
            <a:noAutofit/>
          </a:bodyPr>
          <a:lstStyle>
            <a:lvl1pPr>
              <a:defRPr sz="4000">
                <a:solidFill>
                  <a:schemeClr val="accent1">
                    <a:lumMod val="50000"/>
                  </a:schemeClr>
                </a:solidFill>
              </a:defRPr>
            </a:lvl1pPr>
          </a:lstStyle>
          <a:p>
            <a:r>
              <a:rPr lang="zh-CN" altLang="en-US" smtClean="0"/>
              <a:t>单击此处编辑母版标题样式</a:t>
            </a:r>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a:p>
        </p:txBody>
      </p:sp>
      <p:sp>
        <p:nvSpPr>
          <p:cNvPr id="3" name="Content Placeholder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a:p>
        </p:txBody>
      </p:sp>
      <p:sp>
        <p:nvSpPr>
          <p:cNvPr id="4" name="Date Placeholder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showMasterSp="0">
  <p:cSld name="节标题">
    <p:spTree>
      <p:nvGrpSpPr>
        <p:cNvPr id="1" name=""/>
        <p:cNvGrpSpPr/>
        <p:nvPr/>
      </p:nvGrpSpPr>
      <p:grpSpPr>
        <a:xfrm>
          <a:off x="0" y="0"/>
          <a:ext cx="0" cy="0"/>
          <a:chOff x="0" y="0"/>
          <a:chExt cx="0" cy="0"/>
        </a:xfrm>
      </p:grpSpPr>
      <p:sp>
        <p:nvSpPr>
          <p:cNvPr id="7" name="Rectangle 6"/>
          <p:cNvSpPr/>
          <p:nvPr/>
        </p:nvSpPr>
        <p:spPr>
          <a:xfrm>
            <a:off x="0" y="0"/>
            <a:ext cx="9144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8" name="Rounded Rectangle 7"/>
          <p:cNvSpPr/>
          <p:nvPr/>
        </p:nvSpPr>
        <p:spPr>
          <a:xfrm>
            <a:off x="91440" y="101600"/>
            <a:ext cx="8961120" cy="6664960"/>
          </a:xfrm>
          <a:prstGeom prst="roundRect">
            <a:avLst>
              <a:gd name="adj" fmla="val 1735"/>
            </a:avLst>
          </a:prstGeom>
          <a:ln w="12700" cmpd="sng">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13" name="Rectangle 12"/>
          <p:cNvSpPr/>
          <p:nvPr/>
        </p:nvSpPr>
        <p:spPr>
          <a:xfrm>
            <a:off x="451976" y="2946400"/>
            <a:ext cx="8265160" cy="2463800"/>
          </a:xfrm>
          <a:prstGeom prst="rect">
            <a:avLst/>
          </a:prstGeom>
          <a:solidFill>
            <a:srgbClr val="FFFFFF">
              <a:alpha val="83000"/>
            </a:srgbClr>
          </a:soli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p:cNvSpPr/>
          <p:nvPr/>
        </p:nvSpPr>
        <p:spPr>
          <a:xfrm>
            <a:off x="567656" y="3048000"/>
            <a:ext cx="8033800" cy="2245359"/>
          </a:xfrm>
          <a:prstGeom prst="rect">
            <a:avLst/>
          </a:prstGeom>
          <a:solidFill>
            <a:srgbClr val="FFFFFF"/>
          </a:solidFill>
          <a:ln w="6350" cmpd="dbl">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0C913308-F349-4B6D-A68A-DD1791B4A57B}" type="slidenum">
              <a:rPr lang="zh-CN" altLang="en-US" smtClean="0"/>
            </a:fld>
            <a:endParaRPr lang="zh-CN" altLang="en-US"/>
          </a:p>
        </p:txBody>
      </p:sp>
      <p:sp>
        <p:nvSpPr>
          <p:cNvPr id="2" name="Title 1"/>
          <p:cNvSpPr>
            <a:spLocks noGrp="1"/>
          </p:cNvSpPr>
          <p:nvPr>
            <p:ph type="title"/>
          </p:nvPr>
        </p:nvSpPr>
        <p:spPr>
          <a:xfrm>
            <a:off x="736456" y="3200399"/>
            <a:ext cx="7696200" cy="1295401"/>
          </a:xfrm>
        </p:spPr>
        <p:txBody>
          <a:bodyPr anchor="b" anchorCtr="0">
            <a:noAutofit/>
          </a:bodyPr>
          <a:lstStyle>
            <a:lvl1pPr algn="ctr" defTabSz="914400" rtl="0" eaLnBrk="1" latinLnBrk="0" hangingPunct="1">
              <a:spcBef>
                <a:spcPct val="0"/>
              </a:spcBef>
              <a:buNone/>
              <a:defRPr lang="en-US" sz="4000" kern="1200" cap="all" baseline="0" dirty="0">
                <a:solidFill>
                  <a:schemeClr val="accent1">
                    <a:lumMod val="50000"/>
                  </a:schemeClr>
                </a:solidFill>
                <a:latin typeface="+mj-lt"/>
                <a:ea typeface="+mj-ea"/>
                <a:cs typeface="+mj-cs"/>
              </a:defRPr>
            </a:lvl1pPr>
          </a:lstStyle>
          <a:p>
            <a:r>
              <a:rPr lang="zh-CN" altLang="en-US" smtClean="0"/>
              <a:t>单击此处编辑母版标题样式</a:t>
            </a:r>
            <a:endParaRPr lang="en-US" dirty="0"/>
          </a:p>
        </p:txBody>
      </p:sp>
      <p:sp>
        <p:nvSpPr>
          <p:cNvPr id="15" name="Rectangle 14"/>
          <p:cNvSpPr/>
          <p:nvPr/>
        </p:nvSpPr>
        <p:spPr>
          <a:xfrm>
            <a:off x="675496" y="4541520"/>
            <a:ext cx="7818120" cy="664367"/>
          </a:xfrm>
          <a:prstGeom prst="rect">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 Placeholder 2"/>
          <p:cNvSpPr>
            <a:spLocks noGrp="1"/>
          </p:cNvSpPr>
          <p:nvPr>
            <p:ph type="body" idx="1"/>
          </p:nvPr>
        </p:nvSpPr>
        <p:spPr>
          <a:xfrm>
            <a:off x="736456" y="4607510"/>
            <a:ext cx="7696200" cy="523783"/>
          </a:xfrm>
        </p:spPr>
        <p:txBody>
          <a:bodyPr anchor="ctr">
            <a:normAutofit/>
          </a:bodyPr>
          <a:lstStyle>
            <a:lvl1pPr marL="0" indent="0" algn="ctr">
              <a:buNone/>
              <a:defRPr sz="2000" cap="all" spc="250" baseline="0">
                <a:solidFill>
                  <a:srgbClr val="FFFFFF"/>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单击此处编辑母版文本样式</a:t>
            </a:r>
            <a:endParaRPr lang="zh-CN" altLang="en-US" smtClean="0"/>
          </a:p>
        </p:txBody>
      </p:sp>
      <p:sp>
        <p:nvSpPr>
          <p:cNvPr id="14" name="Rectangle 13"/>
          <p:cNvSpPr/>
          <p:nvPr/>
        </p:nvSpPr>
        <p:spPr>
          <a:xfrm>
            <a:off x="675757" y="3124200"/>
            <a:ext cx="7817599" cy="2077720"/>
          </a:xfrm>
          <a:prstGeom prst="rect">
            <a:avLst/>
          </a:prstGeom>
          <a:noFill/>
          <a:ln w="6350" cmpd="dbl">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a:xfrm>
            <a:off x="426128" y="408372"/>
            <a:ext cx="8260672" cy="1039427"/>
          </a:xfrm>
        </p:spPr>
        <p:txBody>
          <a:bodyPr/>
          <a:lstStyle/>
          <a:p>
            <a:r>
              <a:rPr lang="zh-CN" altLang="en-US" smtClean="0"/>
              <a:t>单击此处编辑母版标题样式</a:t>
            </a:r>
            <a:endParaRPr lang="en-US"/>
          </a:p>
        </p:txBody>
      </p:sp>
      <p:sp>
        <p:nvSpPr>
          <p:cNvPr id="3" name="Content Placeholder 2"/>
          <p:cNvSpPr>
            <a:spLocks noGrp="1"/>
          </p:cNvSpPr>
          <p:nvPr>
            <p:ph sz="half" idx="1"/>
          </p:nvPr>
        </p:nvSpPr>
        <p:spPr>
          <a:xfrm>
            <a:off x="426128" y="1719071"/>
            <a:ext cx="4038600" cy="440740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4" name="Content Placeholder 3"/>
          <p:cNvSpPr>
            <a:spLocks noGrp="1"/>
          </p:cNvSpPr>
          <p:nvPr>
            <p:ph sz="half" idx="2"/>
          </p:nvPr>
        </p:nvSpPr>
        <p:spPr>
          <a:xfrm>
            <a:off x="4648200" y="1719071"/>
            <a:ext cx="4038600" cy="440740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5" name="Date Placeholder 4"/>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426128" y="408372"/>
            <a:ext cx="8260672" cy="1039427"/>
          </a:xfrm>
        </p:spPr>
        <p:txBody>
          <a:bodyPr/>
          <a:lstStyle>
            <a:lvl1pPr>
              <a:defRPr/>
            </a:lvl1pPr>
          </a:lstStyle>
          <a:p>
            <a:r>
              <a:rPr lang="zh-CN" altLang="en-US" smtClean="0"/>
              <a:t>单击此处编辑母版标题样式</a:t>
            </a:r>
            <a:endParaRPr lang="en-US"/>
          </a:p>
        </p:txBody>
      </p:sp>
      <p:sp>
        <p:nvSpPr>
          <p:cNvPr id="3" name="Text Placeholder 2"/>
          <p:cNvSpPr>
            <a:spLocks noGrp="1"/>
          </p:cNvSpPr>
          <p:nvPr>
            <p:ph type="body" idx="1"/>
          </p:nvPr>
        </p:nvSpPr>
        <p:spPr>
          <a:xfrm>
            <a:off x="426128" y="1722438"/>
            <a:ext cx="4040188" cy="639762"/>
          </a:xfrm>
        </p:spPr>
        <p:txBody>
          <a:bodyPr anchor="b">
            <a:noAutofit/>
          </a:bodyPr>
          <a:lstStyle>
            <a:lvl1pPr marL="0" indent="0" algn="ctr">
              <a:buNone/>
              <a:defRPr sz="22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Content Placeholder 3"/>
          <p:cNvSpPr>
            <a:spLocks noGrp="1"/>
          </p:cNvSpPr>
          <p:nvPr>
            <p:ph sz="half" idx="2"/>
          </p:nvPr>
        </p:nvSpPr>
        <p:spPr>
          <a:xfrm>
            <a:off x="426128" y="2438400"/>
            <a:ext cx="4040188" cy="3687762"/>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5" name="Text Placeholder 4"/>
          <p:cNvSpPr>
            <a:spLocks noGrp="1"/>
          </p:cNvSpPr>
          <p:nvPr>
            <p:ph type="body" sz="quarter" idx="3"/>
          </p:nvPr>
        </p:nvSpPr>
        <p:spPr>
          <a:xfrm>
            <a:off x="4645025" y="1722438"/>
            <a:ext cx="4041775" cy="639762"/>
          </a:xfrm>
        </p:spPr>
        <p:txBody>
          <a:bodyPr anchor="b">
            <a:noAutofit/>
          </a:bodyPr>
          <a:lstStyle>
            <a:lvl1pPr marL="0" indent="0" algn="ctr">
              <a:buNone/>
              <a:defRPr sz="22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Content Placeholder 5"/>
          <p:cNvSpPr>
            <a:spLocks noGrp="1"/>
          </p:cNvSpPr>
          <p:nvPr>
            <p:ph sz="quarter" idx="4"/>
          </p:nvPr>
        </p:nvSpPr>
        <p:spPr>
          <a:xfrm>
            <a:off x="4645025" y="2438400"/>
            <a:ext cx="4041775" cy="3687762"/>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7" name="Date Placeholder 6"/>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a:p>
        </p:txBody>
      </p:sp>
      <p:sp>
        <p:nvSpPr>
          <p:cNvPr id="3" name="Date Placeholder 2"/>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showMasterSp="0">
  <p:cSld name="空白">
    <p:spTree>
      <p:nvGrpSpPr>
        <p:cNvPr id="1" name=""/>
        <p:cNvGrpSpPr/>
        <p:nvPr/>
      </p:nvGrpSpPr>
      <p:grpSpPr>
        <a:xfrm>
          <a:off x="0" y="0"/>
          <a:ext cx="0" cy="0"/>
          <a:chOff x="0" y="0"/>
          <a:chExt cx="0" cy="0"/>
        </a:xfrm>
      </p:grpSpPr>
      <p:sp>
        <p:nvSpPr>
          <p:cNvPr id="5" name="Rectangle 4"/>
          <p:cNvSpPr/>
          <p:nvPr/>
        </p:nvSpPr>
        <p:spPr>
          <a:xfrm>
            <a:off x="0" y="0"/>
            <a:ext cx="9144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Rounded Rectangle 10"/>
          <p:cNvSpPr/>
          <p:nvPr/>
        </p:nvSpPr>
        <p:spPr>
          <a:xfrm>
            <a:off x="91440" y="101600"/>
            <a:ext cx="8961120" cy="6664960"/>
          </a:xfrm>
          <a:prstGeom prst="roundRect">
            <a:avLst>
              <a:gd name="adj" fmla="val 1735"/>
            </a:avLst>
          </a:prstGeom>
          <a:ln w="12700" cmpd="sng">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Date Placeholder 1"/>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showMasterSp="0">
  <p:cSld name="内容与标题">
    <p:spTree>
      <p:nvGrpSpPr>
        <p:cNvPr id="1" name=""/>
        <p:cNvGrpSpPr/>
        <p:nvPr/>
      </p:nvGrpSpPr>
      <p:grpSpPr>
        <a:xfrm>
          <a:off x="0" y="0"/>
          <a:ext cx="0" cy="0"/>
          <a:chOff x="0" y="0"/>
          <a:chExt cx="0" cy="0"/>
        </a:xfrm>
      </p:grpSpPr>
      <p:sp>
        <p:nvSpPr>
          <p:cNvPr id="11" name="Rectangle 10"/>
          <p:cNvSpPr/>
          <p:nvPr/>
        </p:nvSpPr>
        <p:spPr>
          <a:xfrm>
            <a:off x="0" y="0"/>
            <a:ext cx="9144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2" name="Rounded Rectangle 11"/>
          <p:cNvSpPr/>
          <p:nvPr/>
        </p:nvSpPr>
        <p:spPr>
          <a:xfrm>
            <a:off x="91440" y="101600"/>
            <a:ext cx="8961120" cy="6664960"/>
          </a:xfrm>
          <a:prstGeom prst="roundRect">
            <a:avLst>
              <a:gd name="adj" fmla="val 1735"/>
            </a:avLst>
          </a:prstGeom>
          <a:ln w="12700" cmpd="sng">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3886200" y="685800"/>
            <a:ext cx="4572000" cy="525780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5" name="Date Placeholder 4"/>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0C913308-F349-4B6D-A68A-DD1791B4A57B}" type="slidenum">
              <a:rPr lang="zh-CN" altLang="en-US" smtClean="0"/>
            </a:fld>
            <a:endParaRPr lang="zh-CN" altLang="en-US"/>
          </a:p>
        </p:txBody>
      </p:sp>
      <p:sp>
        <p:nvSpPr>
          <p:cNvPr id="8" name="Rectangle 7"/>
          <p:cNvSpPr/>
          <p:nvPr/>
        </p:nvSpPr>
        <p:spPr>
          <a:xfrm>
            <a:off x="560034" y="1505712"/>
            <a:ext cx="2716566" cy="3523488"/>
          </a:xfrm>
          <a:prstGeom prst="rect">
            <a:avLst/>
          </a:prstGeom>
          <a:solidFill>
            <a:srgbClr val="FFFFFF">
              <a:alpha val="83000"/>
            </a:srgbClr>
          </a:soli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676690" y="1642472"/>
            <a:ext cx="2483254" cy="3234328"/>
          </a:xfrm>
          <a:prstGeom prst="rect">
            <a:avLst/>
          </a:prstGeom>
          <a:solidFill>
            <a:srgbClr val="FFFFFF"/>
          </a:solidFill>
          <a:ln w="6350" cmpd="dbl">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 Placeholder 3"/>
          <p:cNvSpPr>
            <a:spLocks noGrp="1"/>
          </p:cNvSpPr>
          <p:nvPr>
            <p:ph type="body" sz="half" idx="2"/>
          </p:nvPr>
        </p:nvSpPr>
        <p:spPr>
          <a:xfrm>
            <a:off x="769000" y="2971800"/>
            <a:ext cx="2298634" cy="1752600"/>
          </a:xfrm>
        </p:spPr>
        <p:txBody>
          <a:bodyPr/>
          <a:lstStyle>
            <a:lvl1pPr marL="0" indent="0">
              <a:spcBef>
                <a:spcPts val="400"/>
              </a:spcBef>
              <a:buNone/>
              <a:defRPr sz="1400">
                <a:solidFill>
                  <a:schemeClr val="accent1">
                    <a:lumMod val="5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2" name="Title 1"/>
          <p:cNvSpPr>
            <a:spLocks noGrp="1"/>
          </p:cNvSpPr>
          <p:nvPr>
            <p:ph type="title"/>
          </p:nvPr>
        </p:nvSpPr>
        <p:spPr>
          <a:xfrm>
            <a:off x="769000" y="1734312"/>
            <a:ext cx="2298634" cy="1191620"/>
          </a:xfrm>
        </p:spPr>
        <p:txBody>
          <a:bodyPr anchor="b">
            <a:normAutofit/>
          </a:bodyPr>
          <a:lstStyle>
            <a:lvl1pPr algn="l">
              <a:defRPr sz="2000" b="0">
                <a:solidFill>
                  <a:schemeClr val="accent1">
                    <a:lumMod val="75000"/>
                  </a:schemeClr>
                </a:solidFill>
              </a:defRPr>
            </a:lvl1pPr>
          </a:lstStyle>
          <a:p>
            <a:r>
              <a:rPr lang="zh-CN" altLang="en-US" smtClean="0"/>
              <a:t>单击此处编辑母版标题样式</a:t>
            </a:r>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showMasterSp="0">
  <p:cSld name="图片与标题">
    <p:spTree>
      <p:nvGrpSpPr>
        <p:cNvPr id="1" name=""/>
        <p:cNvGrpSpPr/>
        <p:nvPr/>
      </p:nvGrpSpPr>
      <p:grpSpPr>
        <a:xfrm>
          <a:off x="0" y="0"/>
          <a:ext cx="0" cy="0"/>
          <a:chOff x="0" y="0"/>
          <a:chExt cx="0" cy="0"/>
        </a:xfrm>
      </p:grpSpPr>
      <p:sp>
        <p:nvSpPr>
          <p:cNvPr id="8" name="Rectangle 7"/>
          <p:cNvSpPr/>
          <p:nvPr/>
        </p:nvSpPr>
        <p:spPr>
          <a:xfrm>
            <a:off x="0" y="0"/>
            <a:ext cx="9144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9" name="Rounded Rectangle 8"/>
          <p:cNvSpPr/>
          <p:nvPr/>
        </p:nvSpPr>
        <p:spPr>
          <a:xfrm>
            <a:off x="91440" y="101600"/>
            <a:ext cx="8961120" cy="6664960"/>
          </a:xfrm>
          <a:prstGeom prst="roundRect">
            <a:avLst>
              <a:gd name="adj" fmla="val 1735"/>
            </a:avLst>
          </a:prstGeom>
          <a:ln w="12700" cmpd="sng">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Picture Placeholder 2"/>
          <p:cNvSpPr>
            <a:spLocks noGrp="1"/>
          </p:cNvSpPr>
          <p:nvPr>
            <p:ph type="pic" idx="1"/>
          </p:nvPr>
        </p:nvSpPr>
        <p:spPr>
          <a:xfrm>
            <a:off x="685800" y="621437"/>
            <a:ext cx="7772400" cy="4331564"/>
          </a:xfrm>
          <a:solidFill>
            <a:schemeClr val="bg2"/>
          </a:solidFill>
          <a:ln>
            <a:noFill/>
          </a:ln>
          <a:effectLst>
            <a:softEdge rad="12700"/>
          </a:effectLst>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smtClean="0"/>
              <a:t>单击图标添加图片</a:t>
            </a:r>
            <a:endParaRPr lang="en-US" dirty="0"/>
          </a:p>
        </p:txBody>
      </p:sp>
      <p:sp>
        <p:nvSpPr>
          <p:cNvPr id="5" name="Date Placeholder 4"/>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7" name="Slide Number Placeholder 6"/>
          <p:cNvSpPr>
            <a:spLocks noGrp="1"/>
          </p:cNvSpPr>
          <p:nvPr>
            <p:ph type="sldNum" sz="quarter" idx="12"/>
          </p:nvPr>
        </p:nvSpPr>
        <p:spPr/>
        <p:txBody>
          <a:bodyPr/>
          <a:lstStyle/>
          <a:p>
            <a:fld id="{0C913308-F349-4B6D-A68A-DD1791B4A57B}" type="slidenum">
              <a:rPr lang="zh-CN" altLang="en-US" smtClean="0"/>
            </a:fld>
            <a:endParaRPr lang="zh-CN" altLang="en-US"/>
          </a:p>
        </p:txBody>
      </p:sp>
      <p:sp>
        <p:nvSpPr>
          <p:cNvPr id="10" name="Rectangle 9"/>
          <p:cNvSpPr/>
          <p:nvPr/>
        </p:nvSpPr>
        <p:spPr>
          <a:xfrm>
            <a:off x="685800" y="4953000"/>
            <a:ext cx="7772400" cy="1371600"/>
          </a:xfrm>
          <a:prstGeom prst="rect">
            <a:avLst/>
          </a:prstGeom>
          <a:solidFill>
            <a:srgbClr val="FFFFFF">
              <a:alpha val="83000"/>
            </a:srgbClr>
          </a:soli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761999" y="5029200"/>
            <a:ext cx="7600765" cy="1202924"/>
          </a:xfrm>
          <a:prstGeom prst="rect">
            <a:avLst/>
          </a:prstGeom>
          <a:solidFill>
            <a:srgbClr val="FFFFFF"/>
          </a:solidFill>
          <a:ln w="6350" cmpd="dbl">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Footer Placeholder 5"/>
          <p:cNvSpPr>
            <a:spLocks noGrp="1"/>
          </p:cNvSpPr>
          <p:nvPr>
            <p:ph type="ftr" sz="quarter" idx="11"/>
          </p:nvPr>
        </p:nvSpPr>
        <p:spPr/>
        <p:txBody>
          <a:bodyPr/>
          <a:lstStyle/>
          <a:p>
            <a:endParaRPr lang="zh-CN" altLang="en-US"/>
          </a:p>
        </p:txBody>
      </p:sp>
      <p:sp>
        <p:nvSpPr>
          <p:cNvPr id="13" name="Rectangle 12"/>
          <p:cNvSpPr/>
          <p:nvPr/>
        </p:nvSpPr>
        <p:spPr>
          <a:xfrm>
            <a:off x="914400" y="5638800"/>
            <a:ext cx="7328514" cy="451696"/>
          </a:xfrm>
          <a:prstGeom prst="rect">
            <a:avLst/>
          </a:prstGeom>
          <a:solidFill>
            <a:schemeClr val="accent1"/>
          </a:solidFill>
          <a:ln w="6350" cmpd="dbl">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605589" y="5074920"/>
            <a:ext cx="7946136" cy="1097280"/>
          </a:xfrm>
          <a:prstGeom prst="rect">
            <a:avLst/>
          </a:prstGeom>
          <a:noFill/>
          <a:ln w="6350" cmpd="dbl">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 Placeholder 3"/>
          <p:cNvSpPr>
            <a:spLocks noGrp="1"/>
          </p:cNvSpPr>
          <p:nvPr>
            <p:ph type="body" sz="half" idx="2"/>
          </p:nvPr>
        </p:nvSpPr>
        <p:spPr>
          <a:xfrm>
            <a:off x="956289" y="5656556"/>
            <a:ext cx="7244736" cy="401715"/>
          </a:xfrm>
        </p:spPr>
        <p:txBody>
          <a:bodyPr anchor="ctr">
            <a:normAutofit/>
          </a:bodyPr>
          <a:lstStyle>
            <a:lvl1pPr marL="0" indent="0" algn="ctr">
              <a:buNone/>
              <a:defRPr sz="1500" cap="all" spc="250" baseline="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2" name="Title 1"/>
          <p:cNvSpPr>
            <a:spLocks noGrp="1"/>
          </p:cNvSpPr>
          <p:nvPr>
            <p:ph type="title"/>
          </p:nvPr>
        </p:nvSpPr>
        <p:spPr>
          <a:xfrm>
            <a:off x="914400" y="5105400"/>
            <a:ext cx="7328514" cy="523043"/>
          </a:xfrm>
        </p:spPr>
        <p:txBody>
          <a:bodyPr anchor="ctr" anchorCtr="0"/>
          <a:lstStyle>
            <a:lvl1pPr algn="ctr">
              <a:defRPr sz="2000" b="0">
                <a:solidFill>
                  <a:schemeClr val="accent1">
                    <a:lumMod val="75000"/>
                  </a:schemeClr>
                </a:solidFill>
              </a:defRPr>
            </a:lvl1pPr>
          </a:lstStyle>
          <a:p>
            <a:r>
              <a:rPr lang="zh-CN" altLang="en-US" smtClean="0"/>
              <a:t>单击此处编辑母版标题样式</a:t>
            </a:r>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a:p>
        </p:txBody>
      </p:sp>
      <p:sp>
        <p:nvSpPr>
          <p:cNvPr id="3" name="Vertical Text Placeholder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a:p>
        </p:txBody>
      </p:sp>
      <p:sp>
        <p:nvSpPr>
          <p:cNvPr id="4" name="Date Placeholder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showMasterSp="0">
  <p:cSld name="垂直排列标题与文本">
    <p:spTree>
      <p:nvGrpSpPr>
        <p:cNvPr id="1" name=""/>
        <p:cNvGrpSpPr/>
        <p:nvPr/>
      </p:nvGrpSpPr>
      <p:grpSpPr>
        <a:xfrm>
          <a:off x="0" y="0"/>
          <a:ext cx="0" cy="0"/>
          <a:chOff x="0" y="0"/>
          <a:chExt cx="0" cy="0"/>
        </a:xfrm>
      </p:grpSpPr>
      <p:sp>
        <p:nvSpPr>
          <p:cNvPr id="7" name="Rectangle 6"/>
          <p:cNvSpPr/>
          <p:nvPr/>
        </p:nvSpPr>
        <p:spPr>
          <a:xfrm>
            <a:off x="6861702" y="228600"/>
            <a:ext cx="1859280" cy="6122634"/>
          </a:xfrm>
          <a:prstGeom prst="rect">
            <a:avLst/>
          </a:prstGeom>
          <a:solidFill>
            <a:srgbClr val="FFFFFF">
              <a:alpha val="85000"/>
            </a:srgb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endParaRPr lang="en-US" sz="1800" kern="1200">
              <a:solidFill>
                <a:schemeClr val="lt1"/>
              </a:solidFill>
              <a:latin typeface="+mn-lt"/>
              <a:ea typeface="+mn-ea"/>
              <a:cs typeface="+mn-cs"/>
            </a:endParaRPr>
          </a:p>
        </p:txBody>
      </p:sp>
      <p:sp>
        <p:nvSpPr>
          <p:cNvPr id="8" name="Rectangle 7"/>
          <p:cNvSpPr/>
          <p:nvPr/>
        </p:nvSpPr>
        <p:spPr>
          <a:xfrm>
            <a:off x="6955225" y="351409"/>
            <a:ext cx="1672235" cy="5877017"/>
          </a:xfrm>
          <a:prstGeom prst="rect">
            <a:avLst/>
          </a:prstGeom>
          <a:solidFill>
            <a:srgbClr val="FFFFFF"/>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Vertical Title 1"/>
          <p:cNvSpPr>
            <a:spLocks noGrp="1"/>
          </p:cNvSpPr>
          <p:nvPr>
            <p:ph type="title" orient="vert"/>
          </p:nvPr>
        </p:nvSpPr>
        <p:spPr>
          <a:xfrm>
            <a:off x="7048577" y="395427"/>
            <a:ext cx="1485531" cy="5788981"/>
          </a:xfrm>
        </p:spPr>
        <p:txBody>
          <a:bodyPr vert="eaVert"/>
          <a:lstStyle/>
          <a:p>
            <a:r>
              <a:rPr lang="zh-CN" altLang="en-US" smtClean="0"/>
              <a:t>单击此处编辑母版标题样式</a:t>
            </a:r>
            <a:endParaRPr lang="en-US" dirty="0"/>
          </a:p>
        </p:txBody>
      </p:sp>
      <p:sp>
        <p:nvSpPr>
          <p:cNvPr id="3" name="Vertical Text Placeholder 2"/>
          <p:cNvSpPr>
            <a:spLocks noGrp="1"/>
          </p:cNvSpPr>
          <p:nvPr>
            <p:ph type="body" orient="vert" idx="1"/>
          </p:nvPr>
        </p:nvSpPr>
        <p:spPr>
          <a:xfrm>
            <a:off x="457200" y="380999"/>
            <a:ext cx="6172200" cy="5791201"/>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4" name="Date Placeholder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8" name="Rectangle 7"/>
          <p:cNvSpPr/>
          <p:nvPr/>
        </p:nvSpPr>
        <p:spPr>
          <a:xfrm>
            <a:off x="0" y="0"/>
            <a:ext cx="9144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7" name="Rounded Rectangle 6"/>
          <p:cNvSpPr/>
          <p:nvPr/>
        </p:nvSpPr>
        <p:spPr>
          <a:xfrm>
            <a:off x="91440" y="101600"/>
            <a:ext cx="8961120" cy="6664960"/>
          </a:xfrm>
          <a:prstGeom prst="roundRect">
            <a:avLst>
              <a:gd name="adj" fmla="val 1735"/>
            </a:avLst>
          </a:prstGeom>
          <a:ln w="12700" cmpd="sng">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 Placeholder 2"/>
          <p:cNvSpPr>
            <a:spLocks noGrp="1"/>
          </p:cNvSpPr>
          <p:nvPr>
            <p:ph type="body" idx="1"/>
          </p:nvPr>
        </p:nvSpPr>
        <p:spPr>
          <a:xfrm>
            <a:off x="457200" y="1752600"/>
            <a:ext cx="8229600" cy="4373563"/>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2"/>
                </a:solidFill>
              </a:defRPr>
            </a:lvl1pPr>
          </a:lstStyle>
          <a:p>
            <a:fld id="{530820CF-B880-4189-942D-D702A7CBA730}" type="datetimeFigureOut">
              <a:rPr lang="zh-CN" altLang="en-US" smtClean="0"/>
            </a:fld>
            <a:endParaRPr lang="zh-CN" alt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2"/>
                </a:solidFill>
              </a:defRPr>
            </a:lvl1pPr>
          </a:lstStyle>
          <a:p>
            <a:endParaRPr lang="zh-CN" alt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2"/>
                </a:solidFill>
              </a:defRPr>
            </a:lvl1pPr>
          </a:lstStyle>
          <a:p>
            <a:fld id="{0C913308-F349-4B6D-A68A-DD1791B4A57B}" type="slidenum">
              <a:rPr lang="zh-CN" altLang="en-US" smtClean="0"/>
            </a:fld>
            <a:endParaRPr lang="zh-CN" altLang="en-US"/>
          </a:p>
        </p:txBody>
      </p:sp>
      <p:sp>
        <p:nvSpPr>
          <p:cNvPr id="9" name="Rectangle 8"/>
          <p:cNvSpPr/>
          <p:nvPr/>
        </p:nvSpPr>
        <p:spPr>
          <a:xfrm>
            <a:off x="274320" y="278166"/>
            <a:ext cx="8595360" cy="1325880"/>
          </a:xfrm>
          <a:prstGeom prst="rect">
            <a:avLst/>
          </a:prstGeom>
          <a:solidFill>
            <a:srgbClr val="FFFFFF">
              <a:alpha val="83000"/>
            </a:srgbClr>
          </a:soli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endParaRPr lang="en-US" sz="1800" kern="1200">
              <a:solidFill>
                <a:schemeClr val="lt1"/>
              </a:solidFill>
              <a:latin typeface="+mn-lt"/>
              <a:ea typeface="+mn-ea"/>
              <a:cs typeface="+mn-cs"/>
            </a:endParaRPr>
          </a:p>
        </p:txBody>
      </p:sp>
      <p:sp>
        <p:nvSpPr>
          <p:cNvPr id="10" name="Rectangle 9"/>
          <p:cNvSpPr/>
          <p:nvPr/>
        </p:nvSpPr>
        <p:spPr>
          <a:xfrm>
            <a:off x="372863" y="372862"/>
            <a:ext cx="8380520" cy="1118587"/>
          </a:xfrm>
          <a:prstGeom prst="rect">
            <a:avLst/>
          </a:prstGeom>
          <a:solidFill>
            <a:srgbClr val="FFFFFF"/>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426128" y="408372"/>
            <a:ext cx="8260672" cy="1039427"/>
          </a:xfrm>
          <a:prstGeom prst="rect">
            <a:avLst/>
          </a:prstGeom>
        </p:spPr>
        <p:txBody>
          <a:bodyPr vert="horz" lIns="91440" tIns="45720" rIns="91440" bIns="45720" rtlCol="0" anchor="ctr">
            <a:normAutofit/>
          </a:bodyPr>
          <a:lstStyle/>
          <a:p>
            <a:r>
              <a:rPr lang="zh-CN" altLang="en-US" smtClean="0"/>
              <a:t>单击此处编辑母版标题样式</a:t>
            </a:r>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3500" kern="1200" cap="all" baseline="0">
          <a:solidFill>
            <a:schemeClr val="accent1">
              <a:lumMod val="75000"/>
            </a:schemeClr>
          </a:solidFill>
          <a:latin typeface="+mj-lt"/>
          <a:ea typeface="+mj-ea"/>
          <a:cs typeface="+mj-cs"/>
        </a:defRPr>
      </a:lvl1pPr>
    </p:titleStyle>
    <p:bodyStyle>
      <a:lvl1pPr marL="342900" indent="-228600" algn="l" defTabSz="914400" rtl="0" eaLnBrk="1" latinLnBrk="0" hangingPunct="1">
        <a:spcBef>
          <a:spcPct val="20000"/>
        </a:spcBef>
        <a:buClr>
          <a:schemeClr val="accent1"/>
        </a:buClr>
        <a:buFont typeface="Arial" panose="020B0604020202020204" pitchFamily="34" charset="0"/>
        <a:buChar char="•"/>
        <a:defRPr sz="2400" kern="1200">
          <a:solidFill>
            <a:schemeClr val="tx2"/>
          </a:solidFill>
          <a:latin typeface="+mn-lt"/>
          <a:ea typeface="+mn-ea"/>
          <a:cs typeface="+mn-cs"/>
        </a:defRPr>
      </a:lvl1pPr>
      <a:lvl2pPr marL="640080" indent="-228600" algn="l" defTabSz="914400" rtl="0" eaLnBrk="1" latinLnBrk="0" hangingPunct="1">
        <a:spcBef>
          <a:spcPct val="20000"/>
        </a:spcBef>
        <a:buClr>
          <a:schemeClr val="accent2"/>
        </a:buClr>
        <a:buFont typeface="Arial" panose="020B0604020202020204" pitchFamily="34" charset="0"/>
        <a:buChar char="•"/>
        <a:defRPr sz="2000" kern="1200">
          <a:solidFill>
            <a:schemeClr val="tx2"/>
          </a:solidFill>
          <a:latin typeface="+mn-lt"/>
          <a:ea typeface="+mn-ea"/>
          <a:cs typeface="+mn-cs"/>
        </a:defRPr>
      </a:lvl2pPr>
      <a:lvl3pPr marL="914400" indent="-228600" algn="l" defTabSz="914400" rtl="0" eaLnBrk="1" latinLnBrk="0" hangingPunct="1">
        <a:spcBef>
          <a:spcPct val="20000"/>
        </a:spcBef>
        <a:buClr>
          <a:schemeClr val="accent3"/>
        </a:buClr>
        <a:buFont typeface="Arial" panose="020B0604020202020204" pitchFamily="34" charset="0"/>
        <a:buChar char="•"/>
        <a:defRPr sz="1800" kern="1200">
          <a:solidFill>
            <a:schemeClr val="tx2"/>
          </a:solidFill>
          <a:latin typeface="+mn-lt"/>
          <a:ea typeface="+mn-ea"/>
          <a:cs typeface="+mn-cs"/>
        </a:defRPr>
      </a:lvl3pPr>
      <a:lvl4pPr marL="1280160" indent="-228600" algn="l" defTabSz="914400" rtl="0" eaLnBrk="1" latinLnBrk="0" hangingPunct="1">
        <a:spcBef>
          <a:spcPct val="20000"/>
        </a:spcBef>
        <a:buClr>
          <a:schemeClr val="accent4"/>
        </a:buClr>
        <a:buFont typeface="Arial" panose="020B0604020202020204" pitchFamily="34" charset="0"/>
        <a:buChar char="•"/>
        <a:defRPr sz="1600" kern="1200">
          <a:solidFill>
            <a:schemeClr val="tx2"/>
          </a:solidFill>
          <a:latin typeface="+mn-lt"/>
          <a:ea typeface="+mn-ea"/>
          <a:cs typeface="+mn-cs"/>
        </a:defRPr>
      </a:lvl4pPr>
      <a:lvl5pPr marL="1554480" indent="-228600" algn="l" defTabSz="914400" rtl="0" eaLnBrk="1" latinLnBrk="0" hangingPunct="1">
        <a:spcBef>
          <a:spcPct val="20000"/>
        </a:spcBef>
        <a:buClr>
          <a:schemeClr val="accent5"/>
        </a:buClr>
        <a:buFont typeface="Arial" panose="020B0604020202020204" pitchFamily="34" charset="0"/>
        <a:buChar char="•"/>
        <a:defRPr sz="1600" kern="1200" baseline="0">
          <a:solidFill>
            <a:schemeClr val="tx2"/>
          </a:solidFill>
          <a:latin typeface="+mn-lt"/>
          <a:ea typeface="+mn-ea"/>
          <a:cs typeface="+mn-cs"/>
        </a:defRPr>
      </a:lvl5pPr>
      <a:lvl6pPr marL="1737360" indent="-182880" algn="l" defTabSz="914400" rtl="0" eaLnBrk="1" latinLnBrk="0" hangingPunct="1">
        <a:spcBef>
          <a:spcPct val="20000"/>
        </a:spcBef>
        <a:buClr>
          <a:schemeClr val="accent1"/>
        </a:buClr>
        <a:buFont typeface="Arial" panose="020B0604020202020204" pitchFamily="34" charset="0"/>
        <a:buChar char="•"/>
        <a:defRPr sz="1400" kern="1200">
          <a:solidFill>
            <a:schemeClr val="tx2"/>
          </a:solidFill>
          <a:latin typeface="+mn-lt"/>
          <a:ea typeface="+mn-ea"/>
          <a:cs typeface="+mn-cs"/>
        </a:defRPr>
      </a:lvl6pPr>
      <a:lvl7pPr marL="2011680" indent="-182880" algn="l" defTabSz="914400" rtl="0" eaLnBrk="1" latinLnBrk="0" hangingPunct="1">
        <a:spcBef>
          <a:spcPct val="20000"/>
        </a:spcBef>
        <a:buClr>
          <a:schemeClr val="accent2"/>
        </a:buClr>
        <a:buFont typeface="Arial" panose="020B0604020202020204" pitchFamily="34" charset="0"/>
        <a:buChar char="•"/>
        <a:defRPr sz="1400" kern="1200">
          <a:solidFill>
            <a:schemeClr val="tx2"/>
          </a:solidFill>
          <a:latin typeface="+mn-lt"/>
          <a:ea typeface="+mn-ea"/>
          <a:cs typeface="+mn-cs"/>
        </a:defRPr>
      </a:lvl7pPr>
      <a:lvl8pPr marL="2194560" indent="-182880" algn="l" defTabSz="914400" rtl="0" eaLnBrk="1" latinLnBrk="0" hangingPunct="1">
        <a:spcBef>
          <a:spcPct val="20000"/>
        </a:spcBef>
        <a:buClr>
          <a:schemeClr val="accent3"/>
        </a:buClr>
        <a:buFont typeface="Arial" panose="020B0604020202020204" pitchFamily="34" charset="0"/>
        <a:buChar char="•"/>
        <a:defRPr sz="1400" kern="1200">
          <a:solidFill>
            <a:schemeClr val="tx2"/>
          </a:solidFill>
          <a:latin typeface="+mn-lt"/>
          <a:ea typeface="+mn-ea"/>
          <a:cs typeface="+mn-cs"/>
        </a:defRPr>
      </a:lvl8pPr>
      <a:lvl9pPr marL="2377440" indent="-182880" algn="l" defTabSz="914400" rtl="0" eaLnBrk="1" latinLnBrk="0" hangingPunct="1">
        <a:spcBef>
          <a:spcPct val="20000"/>
        </a:spcBef>
        <a:buClr>
          <a:schemeClr val="accent4"/>
        </a:buClr>
        <a:buFont typeface="Arial" panose="020B0604020202020204" pitchFamily="34" charset="0"/>
        <a:buChar char="•"/>
        <a:defRPr sz="14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642620" y="3000375"/>
            <a:ext cx="6629400" cy="1443990"/>
          </a:xfrm>
        </p:spPr>
        <p:txBody>
          <a:bodyPr/>
          <a:lstStyle/>
          <a:p>
            <a:r>
              <a:rPr lang="en-US" altLang="zh-CN" sz="2800" b="1" dirty="0">
                <a:latin typeface="Times New Roman" panose="02020603050405020304" charset="0"/>
                <a:cs typeface="Times New Roman" panose="02020603050405020304" charset="0"/>
              </a:rPr>
              <a:t>Chapter Three </a:t>
            </a:r>
            <a:br>
              <a:rPr lang="en-US" altLang="zh-CN" sz="2800" b="1" dirty="0">
                <a:latin typeface="Times New Roman" panose="02020603050405020304" charset="0"/>
                <a:cs typeface="Times New Roman" panose="02020603050405020304" charset="0"/>
              </a:rPr>
            </a:br>
            <a:r>
              <a:rPr lang="en-US" altLang="zh-CN" sz="2800" b="1" dirty="0">
                <a:latin typeface="Times New Roman" panose="02020603050405020304" charset="0"/>
                <a:cs typeface="Times New Roman" panose="02020603050405020304" charset="0"/>
              </a:rPr>
              <a:t>The Evolution of International Organizations</a:t>
            </a:r>
            <a:endParaRPr lang="en-US" altLang="zh-CN" sz="2800" b="1" dirty="0">
              <a:latin typeface="Times New Roman" panose="02020603050405020304" charset="0"/>
              <a:cs typeface="Times New Roman" panose="02020603050405020304"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85495" y="3000375"/>
            <a:ext cx="7696200" cy="1428750"/>
          </a:xfrm>
        </p:spPr>
        <p:txBody>
          <a:bodyPr/>
          <a:lstStyle/>
          <a:p>
            <a:r>
              <a:rPr lang="en-US" altLang="zh-CN" sz="2800" b="1" dirty="0">
                <a:latin typeface="Times New Roman" panose="02020603050405020304" charset="0"/>
                <a:cs typeface="Times New Roman" panose="02020603050405020304" charset="0"/>
              </a:rPr>
              <a:t>Section One The Emergence and Early Development of International Organizations</a:t>
            </a:r>
            <a:endParaRPr lang="en-US" altLang="zh-CN" sz="2800" b="1" dirty="0">
              <a:latin typeface="Times New Roman" panose="02020603050405020304" charset="0"/>
              <a:cs typeface="Times New Roman" panose="02020603050405020304" charset="0"/>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fontScale="90000"/>
          </a:bodyPr>
          <a:p>
            <a:r>
              <a:rPr lang="en-US" altLang="zh-CN" dirty="0">
                <a:latin typeface="Times New Roman" panose="02020603050405020304" charset="0"/>
                <a:cs typeface="Times New Roman" panose="02020603050405020304" charset="0"/>
                <a:sym typeface="+mn-ea"/>
              </a:rPr>
              <a:t>I. The Origins of International Organizations</a:t>
            </a:r>
            <a:endParaRPr lang="zh-CN" altLang="en-US">
              <a:latin typeface="Times New Roman" panose="02020603050405020304" charset="0"/>
              <a:cs typeface="Times New Roman" panose="02020603050405020304" charset="0"/>
            </a:endParaRPr>
          </a:p>
        </p:txBody>
      </p:sp>
      <p:sp>
        <p:nvSpPr>
          <p:cNvPr id="3" name="内容占位符 2"/>
          <p:cNvSpPr>
            <a:spLocks noGrp="1"/>
          </p:cNvSpPr>
          <p:nvPr>
            <p:ph idx="1"/>
          </p:nvPr>
        </p:nvSpPr>
        <p:spPr>
          <a:xfrm>
            <a:off x="307975" y="1767205"/>
            <a:ext cx="8602345" cy="4812665"/>
          </a:xfrm>
        </p:spPr>
        <p:txBody>
          <a:bodyPr>
            <a:noAutofit/>
          </a:bodyPr>
          <a:p>
            <a:r>
              <a:rPr lang="en-US" altLang="zh-CN" sz="2000"/>
              <a:t>(1) Prerequisites for the Emergence of International Organizations:</a:t>
            </a:r>
            <a:endParaRPr lang="en-US" altLang="zh-CN" sz="2000"/>
          </a:p>
          <a:p>
            <a:r>
              <a:rPr lang="en-US" altLang="zh-CN" sz="2000"/>
              <a:t>- The formation of a multi-state system composed of independent sovereign states  </a:t>
            </a:r>
            <a:endParaRPr lang="en-US" altLang="zh-CN" sz="2000"/>
          </a:p>
          <a:p>
            <a:r>
              <a:rPr lang="en-US" altLang="zh-CN" sz="2000"/>
              <a:t>- The development of multilateral interactions among nations  </a:t>
            </a:r>
            <a:endParaRPr lang="en-US" altLang="zh-CN" sz="2000"/>
          </a:p>
          <a:p>
            <a:r>
              <a:rPr lang="en-US" altLang="zh-CN" sz="2000"/>
              <a:t>- These factors directly led to Europe becoming the birthplace of international organizations.</a:t>
            </a:r>
            <a:endParaRPr lang="en-US" altLang="zh-CN" sz="2000"/>
          </a:p>
          <a:p>
            <a:r>
              <a:rPr lang="en-US" altLang="zh-CN" sz="2000"/>
              <a:t>(2) Preconditions:</a:t>
            </a:r>
            <a:endParaRPr lang="en-US" altLang="zh-CN" sz="2000"/>
          </a:p>
          <a:p>
            <a:r>
              <a:rPr lang="en-US" altLang="zh-CN" sz="2000"/>
              <a:t>- The Industrial Revolution and the growth of capitalist economies in Europe promoted the continuous development of international trade and interactions, gradually forming a global market.  </a:t>
            </a:r>
            <a:endParaRPr lang="en-US" altLang="zh-CN" sz="2000"/>
          </a:p>
          <a:p>
            <a:r>
              <a:rPr lang="en-US" altLang="zh-CN" sz="2000"/>
              <a:t>- The rising demand for international cooperation in functional areas and the increasing need for permanent international institutions to coordinate relations directly led to the emergence of early international organizations, represented by international administrative unions.</a:t>
            </a:r>
            <a:endParaRPr lang="en-US" altLang="zh-CN" sz="20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fontScale="90000"/>
          </a:bodyPr>
          <a:p>
            <a:r>
              <a:rPr lang="en-US" altLang="zh-CN" dirty="0">
                <a:sym typeface="+mn-ea"/>
              </a:rPr>
              <a:t>I. The Origins of International Organizations</a:t>
            </a:r>
            <a:endParaRPr lang="zh-CN" altLang="en-US"/>
          </a:p>
        </p:txBody>
      </p:sp>
      <p:sp>
        <p:nvSpPr>
          <p:cNvPr id="3" name="内容占位符 2"/>
          <p:cNvSpPr>
            <a:spLocks noGrp="1"/>
          </p:cNvSpPr>
          <p:nvPr>
            <p:ph idx="1"/>
          </p:nvPr>
        </p:nvSpPr>
        <p:spPr>
          <a:xfrm>
            <a:off x="271145" y="1752600"/>
            <a:ext cx="8581390" cy="4842510"/>
          </a:xfrm>
        </p:spPr>
        <p:txBody>
          <a:bodyPr>
            <a:noAutofit/>
          </a:bodyPr>
          <a:p>
            <a:r>
              <a:rPr lang="en-US" altLang="zh-CN" sz="2000"/>
              <a:t>(3) Practical Reasons:</a:t>
            </a:r>
            <a:endParaRPr lang="en-US" altLang="zh-CN" sz="2000"/>
          </a:p>
          <a:p>
            <a:r>
              <a:rPr lang="en-US" altLang="zh-CN" sz="2000"/>
              <a:t>- The brutal primitive accumulation of capital during the Industrial Revolution, the frequent wars among European capitalist nations, and the increasingly devastating nature of these wars.  </a:t>
            </a:r>
            <a:endParaRPr lang="en-US" altLang="zh-CN" sz="2000"/>
          </a:p>
          <a:p>
            <a:r>
              <a:rPr lang="en-US" altLang="zh-CN" sz="2000"/>
              <a:t>- Consequently, governments began to explore new forms of international engagement and cooperation, directly leading to the emergence of multilateral international conferences, exemplified by the “Concert of Europe”.</a:t>
            </a:r>
            <a:endParaRPr lang="en-US" altLang="zh-CN" sz="2000"/>
          </a:p>
          <a:p>
            <a:r>
              <a:rPr lang="en-US" altLang="zh-CN" sz="2000"/>
              <a:t>(4) Root Causes:</a:t>
            </a:r>
            <a:endParaRPr lang="en-US" altLang="zh-CN" sz="2000"/>
          </a:p>
          <a:p>
            <a:endParaRPr lang="en-US" altLang="zh-CN" sz="2000"/>
          </a:p>
          <a:p>
            <a:r>
              <a:rPr lang="en-US" altLang="zh-CN" sz="2000"/>
              <a:t>- The early emergence of ideas about international organization.  </a:t>
            </a:r>
            <a:endParaRPr lang="en-US" altLang="zh-CN" sz="2000"/>
          </a:p>
          <a:p>
            <a:r>
              <a:rPr lang="en-US" altLang="zh-CN" sz="2000"/>
              <a:t>- These ideas advocated unity and peaceful means to prevent war, proposing the establishment of permanent international institutions or a world government as a remedy for societal ills.</a:t>
            </a:r>
            <a:endParaRPr lang="en-US" altLang="zh-CN" sz="20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latin typeface="Times New Roman" panose="02020603050405020304" charset="0"/>
                <a:cs typeface="Times New Roman" panose="02020603050405020304" charset="0"/>
              </a:rPr>
              <a:t>Early Ideas on International Organization</a:t>
            </a:r>
            <a:endParaRPr lang="en-US" altLang="zh-CN" dirty="0">
              <a:latin typeface="Times New Roman" panose="02020603050405020304" charset="0"/>
              <a:cs typeface="Times New Roman" panose="02020603050405020304" charset="0"/>
            </a:endParaRPr>
          </a:p>
        </p:txBody>
      </p:sp>
      <p:sp>
        <p:nvSpPr>
          <p:cNvPr id="3" name="内容占位符 2"/>
          <p:cNvSpPr>
            <a:spLocks noGrp="1"/>
          </p:cNvSpPr>
          <p:nvPr>
            <p:ph idx="1"/>
          </p:nvPr>
        </p:nvSpPr>
        <p:spPr>
          <a:xfrm>
            <a:off x="163195" y="1533525"/>
            <a:ext cx="8853805" cy="5325110"/>
          </a:xfrm>
        </p:spPr>
        <p:txBody>
          <a:bodyPr>
            <a:noAutofit/>
          </a:bodyPr>
          <a:lstStyle/>
          <a:p>
            <a:pPr>
              <a:lnSpc>
                <a:spcPct val="120000"/>
              </a:lnSpc>
            </a:pPr>
            <a:r>
              <a:rPr lang="en-US" altLang="zh-CN" dirty="0">
                <a:latin typeface="Times New Roman" panose="02020603050405020304" charset="0"/>
                <a:cs typeface="Times New Roman" panose="02020603050405020304" charset="0"/>
              </a:rPr>
              <a:t>Dante Alighieri: In </a:t>
            </a:r>
            <a:r>
              <a:rPr lang="en-US" altLang="zh-CN" i="1" dirty="0">
                <a:latin typeface="Times New Roman" panose="02020603050405020304" charset="0"/>
                <a:cs typeface="Times New Roman" panose="02020603050405020304" charset="0"/>
              </a:rPr>
              <a:t>De Monarchia </a:t>
            </a:r>
            <a:r>
              <a:rPr lang="en-US" altLang="zh-CN" dirty="0">
                <a:latin typeface="Times New Roman" panose="02020603050405020304" charset="0"/>
                <a:cs typeface="Times New Roman" panose="02020603050405020304" charset="0"/>
              </a:rPr>
              <a:t>(On World Empire), he proposed the concept of a “unified humanity” and “a league of united nations,” advocating the creation of an international organization capable of maintaining peace. He was the first in Western political thought to put forward such a proposal.</a:t>
            </a:r>
            <a:endParaRPr lang="en-US" altLang="zh-CN" dirty="0">
              <a:latin typeface="Times New Roman" panose="02020603050405020304" charset="0"/>
              <a:cs typeface="Times New Roman" panose="02020603050405020304" charset="0"/>
            </a:endParaRPr>
          </a:p>
          <a:p>
            <a:pPr>
              <a:lnSpc>
                <a:spcPct val="120000"/>
              </a:lnSpc>
            </a:pPr>
            <a:r>
              <a:rPr lang="en-US" altLang="zh-CN" dirty="0">
                <a:latin typeface="Times New Roman" panose="02020603050405020304" charset="0"/>
                <a:cs typeface="Times New Roman" panose="02020603050405020304" charset="0"/>
              </a:rPr>
              <a:t>Pierre Dubois: In </a:t>
            </a:r>
            <a:r>
              <a:rPr lang="en-US" altLang="zh-CN" i="1" dirty="0">
                <a:latin typeface="Times New Roman" panose="02020603050405020304" charset="0"/>
                <a:cs typeface="Times New Roman" panose="02020603050405020304" charset="0"/>
              </a:rPr>
              <a:t>De Recuperatione Terrae Sanctae</a:t>
            </a:r>
            <a:r>
              <a:rPr lang="en-US" altLang="zh-CN" dirty="0">
                <a:latin typeface="Times New Roman" panose="02020603050405020304" charset="0"/>
                <a:cs typeface="Times New Roman" panose="02020603050405020304" charset="0"/>
              </a:rPr>
              <a:t> (The Recovery of the Holy Land), he called for all Christian states to unite and resolve their disputes through arbitration to prevent war. Any state that violated the collective agreement would be subjected to military sanctions—a pioneering concept of modern sanctions.</a:t>
            </a:r>
            <a:endParaRPr lang="en-US" altLang="zh-CN" dirty="0">
              <a:latin typeface="Times New Roman" panose="02020603050405020304" charset="0"/>
              <a:cs typeface="Times New Roman" panose="02020603050405020304" charset="0"/>
            </a:endParaRPr>
          </a:p>
          <a:p>
            <a:pPr>
              <a:lnSpc>
                <a:spcPct val="120000"/>
              </a:lnSpc>
            </a:pPr>
            <a:endParaRPr lang="en-US" altLang="zh-CN" dirty="0">
              <a:latin typeface="Times New Roman" panose="02020603050405020304" charset="0"/>
              <a:cs typeface="Times New Roman" panose="02020603050405020304" charset="0"/>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normAutofit lnSpcReduction="10000"/>
          </a:bodyPr>
          <a:p>
            <a:pPr>
              <a:lnSpc>
                <a:spcPct val="120000"/>
              </a:lnSpc>
            </a:pPr>
            <a:r>
              <a:rPr lang="en-US" altLang="zh-CN" dirty="0">
                <a:latin typeface="Times New Roman" panose="02020603050405020304" charset="0"/>
                <a:cs typeface="Times New Roman" panose="02020603050405020304" charset="0"/>
                <a:sym typeface="+mn-ea"/>
              </a:rPr>
              <a:t>King Henry IV of France and his minister Maximilien de B</a:t>
            </a:r>
            <a:r>
              <a:rPr lang="en-US" altLang="en-US" dirty="0">
                <a:latin typeface="Times New Roman" panose="02020603050405020304" charset="0"/>
                <a:cs typeface="Times New Roman" panose="02020603050405020304" charset="0"/>
                <a:sym typeface="+mn-ea"/>
              </a:rPr>
              <a:t>é</a:t>
            </a:r>
            <a:r>
              <a:rPr lang="en-US" altLang="zh-CN" dirty="0">
                <a:latin typeface="Times New Roman" panose="02020603050405020304" charset="0"/>
                <a:cs typeface="Times New Roman" panose="02020603050405020304" charset="0"/>
                <a:sym typeface="+mn-ea"/>
              </a:rPr>
              <a:t>thune, Duke of Sully: They envisioned a league composed of European Christian states, with a supreme council—the General Council—made up of delegates appointed by each member state, aimed at achieving lasting peace.</a:t>
            </a:r>
            <a:endParaRPr lang="en-US" altLang="zh-CN" dirty="0">
              <a:latin typeface="Times New Roman" panose="02020603050405020304" charset="0"/>
              <a:cs typeface="Times New Roman" panose="02020603050405020304" charset="0"/>
            </a:endParaRPr>
          </a:p>
          <a:p>
            <a:pPr>
              <a:lnSpc>
                <a:spcPct val="120000"/>
              </a:lnSpc>
            </a:pPr>
            <a:r>
              <a:rPr lang="en-US" altLang="zh-CN" dirty="0">
                <a:latin typeface="Times New Roman" panose="02020603050405020304" charset="0"/>
                <a:cs typeface="Times New Roman" panose="02020603050405020304" charset="0"/>
                <a:sym typeface="+mn-ea"/>
              </a:rPr>
              <a:t>Hugo Grotius: In </a:t>
            </a:r>
            <a:r>
              <a:rPr lang="en-US" altLang="zh-CN" i="1" dirty="0">
                <a:latin typeface="Times New Roman" panose="02020603050405020304" charset="0"/>
                <a:cs typeface="Times New Roman" panose="02020603050405020304" charset="0"/>
                <a:sym typeface="+mn-ea"/>
              </a:rPr>
              <a:t>De Jure Belli ac Pacis</a:t>
            </a:r>
            <a:r>
              <a:rPr lang="en-US" altLang="zh-CN" dirty="0">
                <a:latin typeface="Times New Roman" panose="02020603050405020304" charset="0"/>
                <a:cs typeface="Times New Roman" panose="02020603050405020304" charset="0"/>
                <a:sym typeface="+mn-ea"/>
              </a:rPr>
              <a:t> (On the Law of War and Peace), he urged the European powers embroiled in the Thirty Years’ War to establish a body of laws governing war and peace, sign peace treaties, and use international law to restrain warfare.</a:t>
            </a:r>
            <a:endParaRPr lang="en-US" altLang="zh-CN" dirty="0">
              <a:latin typeface="Times New Roman" panose="02020603050405020304" charset="0"/>
              <a:cs typeface="Times New Roman" panose="02020603050405020304" charset="0"/>
            </a:endParaRPr>
          </a:p>
          <a:p>
            <a:endParaRPr lang="zh-CN" alt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280035" y="481965"/>
            <a:ext cx="8686165" cy="6376035"/>
          </a:xfrm>
        </p:spPr>
        <p:txBody>
          <a:bodyPr>
            <a:normAutofit fontScale="90000"/>
          </a:bodyPr>
          <a:lstStyle/>
          <a:p>
            <a:pPr>
              <a:lnSpc>
                <a:spcPct val="120000"/>
              </a:lnSpc>
            </a:pPr>
            <a:r>
              <a:rPr lang="en-US" altLang="zh-CN" sz="2665" dirty="0">
                <a:latin typeface="Times New Roman" panose="02020603050405020304" charset="0"/>
                <a:cs typeface="Times New Roman" panose="02020603050405020304" charset="0"/>
              </a:rPr>
              <a:t>William Penn: In </a:t>
            </a:r>
            <a:r>
              <a:rPr lang="en-US" altLang="zh-CN" sz="2665" i="1" dirty="0">
                <a:latin typeface="Times New Roman" panose="02020603050405020304" charset="0"/>
                <a:cs typeface="Times New Roman" panose="02020603050405020304" charset="0"/>
              </a:rPr>
              <a:t>An Essay towards the Present and Future Peace of Europe</a:t>
            </a:r>
            <a:r>
              <a:rPr lang="en-US" altLang="zh-CN" sz="2665" dirty="0">
                <a:latin typeface="Times New Roman" panose="02020603050405020304" charset="0"/>
                <a:cs typeface="Times New Roman" panose="02020603050405020304" charset="0"/>
              </a:rPr>
              <a:t>, he proposed that European states unite and appoint representatives in proportion to their size to form a “European Parliament.” This body would oversee arms reduction and peacefully resolve interstate disputes, making decisions by a two-thirds majority and arranging seating around a round table to symbolize equality.</a:t>
            </a:r>
            <a:endParaRPr lang="en-US" altLang="zh-CN" sz="2665" dirty="0">
              <a:latin typeface="Times New Roman" panose="02020603050405020304" charset="0"/>
              <a:cs typeface="Times New Roman" panose="02020603050405020304" charset="0"/>
            </a:endParaRPr>
          </a:p>
          <a:p>
            <a:pPr>
              <a:lnSpc>
                <a:spcPct val="120000"/>
              </a:lnSpc>
            </a:pPr>
            <a:r>
              <a:rPr lang="en-US" altLang="zh-CN" sz="2665" dirty="0">
                <a:latin typeface="Times New Roman" panose="02020603050405020304" charset="0"/>
                <a:cs typeface="Times New Roman" panose="02020603050405020304" charset="0"/>
              </a:rPr>
              <a:t>Abb</a:t>
            </a:r>
            <a:r>
              <a:rPr lang="en-US" altLang="en-US" sz="2665" dirty="0">
                <a:latin typeface="Times New Roman" panose="02020603050405020304" charset="0"/>
                <a:cs typeface="Times New Roman" panose="02020603050405020304" charset="0"/>
              </a:rPr>
              <a:t>é</a:t>
            </a:r>
            <a:r>
              <a:rPr lang="en-US" altLang="zh-CN" sz="2665" dirty="0">
                <a:latin typeface="Times New Roman" panose="02020603050405020304" charset="0"/>
                <a:cs typeface="Times New Roman" panose="02020603050405020304" charset="0"/>
              </a:rPr>
              <a:t> de Saint-Pierre: In </a:t>
            </a:r>
            <a:r>
              <a:rPr lang="en-US" altLang="zh-CN" sz="2665" i="1" dirty="0">
                <a:latin typeface="Times New Roman" panose="02020603050405020304" charset="0"/>
                <a:cs typeface="Times New Roman" panose="02020603050405020304" charset="0"/>
              </a:rPr>
              <a:t>Project for Perpetual Peace in Europe</a:t>
            </a:r>
            <a:r>
              <a:rPr lang="en-US" altLang="zh-CN" sz="2665" dirty="0">
                <a:latin typeface="Times New Roman" panose="02020603050405020304" charset="0"/>
                <a:cs typeface="Times New Roman" panose="02020603050405020304" charset="0"/>
              </a:rPr>
              <a:t>, he advocated the creation of a permanent league of European nations, with each state’s territory and obligations codified in a treaty. Any amendment to the treaty would require the consent and guarantee of at least three-quarters of the members.</a:t>
            </a:r>
            <a:endParaRPr lang="en-US" altLang="zh-CN" sz="2665" dirty="0">
              <a:latin typeface="Times New Roman" panose="02020603050405020304" charset="0"/>
              <a:cs typeface="Times New Roman" panose="02020603050405020304" charset="0"/>
            </a:endParaRPr>
          </a:p>
          <a:p>
            <a:pPr>
              <a:lnSpc>
                <a:spcPct val="120000"/>
              </a:lnSpc>
            </a:pPr>
            <a:endParaRPr lang="en-US" altLang="zh-CN" sz="2665" dirty="0">
              <a:latin typeface="Times New Roman" panose="02020603050405020304" charset="0"/>
              <a:cs typeface="Times New Roman" panose="02020603050405020304" charset="0"/>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normAutofit fontScale="90000"/>
          </a:bodyPr>
          <a:p>
            <a:pPr>
              <a:lnSpc>
                <a:spcPct val="120000"/>
              </a:lnSpc>
            </a:pPr>
            <a:r>
              <a:rPr lang="en-US" altLang="zh-CN" dirty="0">
                <a:latin typeface="Times New Roman" panose="02020603050405020304" charset="0"/>
                <a:cs typeface="Times New Roman" panose="02020603050405020304" charset="0"/>
                <a:sym typeface="+mn-ea"/>
              </a:rPr>
              <a:t>Jean-Jacques Rousseau: He supported the establishment of a European federation, arguing that all international disputes should be submitted to a federal assembly for adjudication or judicial settlement.</a:t>
            </a:r>
            <a:endParaRPr lang="en-US" altLang="zh-CN" dirty="0">
              <a:latin typeface="Times New Roman" panose="02020603050405020304" charset="0"/>
              <a:cs typeface="Times New Roman" panose="02020603050405020304" charset="0"/>
            </a:endParaRPr>
          </a:p>
          <a:p>
            <a:pPr>
              <a:lnSpc>
                <a:spcPct val="120000"/>
              </a:lnSpc>
            </a:pPr>
            <a:r>
              <a:rPr lang="en-US" altLang="zh-CN" dirty="0">
                <a:latin typeface="Times New Roman" panose="02020603050405020304" charset="0"/>
                <a:cs typeface="Times New Roman" panose="02020603050405020304" charset="0"/>
                <a:sym typeface="+mn-ea"/>
              </a:rPr>
              <a:t>Immanuel Kant: In </a:t>
            </a:r>
            <a:r>
              <a:rPr lang="en-US" altLang="zh-CN" i="1" dirty="0">
                <a:latin typeface="Times New Roman" panose="02020603050405020304" charset="0"/>
                <a:cs typeface="Times New Roman" panose="02020603050405020304" charset="0"/>
                <a:sym typeface="+mn-ea"/>
              </a:rPr>
              <a:t>Perpetual Peace: A Philosophical Sketch,</a:t>
            </a:r>
            <a:r>
              <a:rPr lang="en-US" altLang="zh-CN" dirty="0">
                <a:latin typeface="Times New Roman" panose="02020603050405020304" charset="0"/>
                <a:cs typeface="Times New Roman" panose="02020603050405020304" charset="0"/>
                <a:sym typeface="+mn-ea"/>
              </a:rPr>
              <a:t> he proposed a “league of peace” (foedus pacificum). Kant argued that perpetual peace is both a moral imperative and the inevitable direction of human history. Guided by reason, he envisioned a voluntary confederation of European republics working collectively to secure lasting peace.</a:t>
            </a:r>
            <a:endParaRPr lang="en-US" altLang="zh-CN" dirty="0">
              <a:latin typeface="Times New Roman" panose="02020603050405020304" charset="0"/>
              <a:cs typeface="Times New Roman" panose="02020603050405020304" charset="0"/>
            </a:endParaRPr>
          </a:p>
          <a:p>
            <a:endParaRPr lang="zh-CN" alt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pPr algn="l"/>
            <a:r>
              <a:rPr lang="en-US" altLang="zh-CN" sz="3110" dirty="0">
                <a:latin typeface="Times New Roman" panose="02020603050405020304" charset="0"/>
                <a:cs typeface="Times New Roman" panose="02020603050405020304" charset="0"/>
              </a:rPr>
              <a:t>II. The Emergence of International Organizations (The Concert of Europe)</a:t>
            </a:r>
            <a:endParaRPr lang="en-US" altLang="zh-CN" sz="3110" dirty="0">
              <a:latin typeface="Times New Roman" panose="02020603050405020304" charset="0"/>
              <a:cs typeface="Times New Roman" panose="02020603050405020304" charset="0"/>
            </a:endParaRPr>
          </a:p>
        </p:txBody>
      </p:sp>
      <p:graphicFrame>
        <p:nvGraphicFramePr>
          <p:cNvPr id="7" name="内容占位符 6"/>
          <p:cNvGraphicFramePr>
            <a:graphicFrameLocks noGrp="1"/>
          </p:cNvGraphicFramePr>
          <p:nvPr>
            <p:ph idx="1"/>
          </p:nvPr>
        </p:nvGraphicFramePr>
        <p:xfrm>
          <a:off x="384175" y="1736090"/>
          <a:ext cx="8364220" cy="5147310"/>
        </p:xfrm>
        <a:graphic>
          <a:graphicData uri="http://schemas.openxmlformats.org/drawingml/2006/table">
            <a:tbl>
              <a:tblPr firstRow="1" bandRow="1">
                <a:tableStyleId>{5C22544A-7EE6-4342-B048-85BDC9FD1C3A}</a:tableStyleId>
              </a:tblPr>
              <a:tblGrid>
                <a:gridCol w="2139950"/>
                <a:gridCol w="6224270"/>
              </a:tblGrid>
              <a:tr h="499745">
                <a:tc>
                  <a:txBody>
                    <a:bodyPr/>
                    <a:lstStyle/>
                    <a:p>
                      <a:pPr marL="40005" indent="0" algn="ctr">
                        <a:spcBef>
                          <a:spcPct val="0"/>
                        </a:spcBef>
                        <a:spcAft>
                          <a:spcPct val="0"/>
                        </a:spcAft>
                      </a:pPr>
                      <a:r>
                        <a:rPr lang="en-US" altLang="zh-CN" sz="1200" b="0">
                          <a:latin typeface="Times New Roman" panose="02020603050405020304"/>
                          <a:ea typeface="宋体" panose="02010600030101010101" pitchFamily="2" charset="-122"/>
                        </a:rPr>
                        <a:t>Date</a:t>
                      </a:r>
                      <a:endParaRPr lang="en-US" altLang="zh-CN" sz="1200" b="0">
                        <a:latin typeface="Times New Roman" panose="02020603050405020304"/>
                        <a:ea typeface="宋体" panose="02010600030101010101" pitchFamily="2" charset="-122"/>
                      </a:endParaRPr>
                    </a:p>
                  </a:txBody>
                  <a:tcPr marL="9525" marR="9525" marT="9525" marB="9525" anchor="ctr" anchorCtr="0"/>
                </a:tc>
                <a:tc>
                  <a:txBody>
                    <a:bodyPr/>
                    <a:lstStyle/>
                    <a:p>
                      <a:pPr marL="40005" indent="0" algn="ctr">
                        <a:spcBef>
                          <a:spcPct val="0"/>
                        </a:spcBef>
                        <a:spcAft>
                          <a:spcPct val="0"/>
                        </a:spcAft>
                      </a:pPr>
                      <a:r>
                        <a:rPr lang="en-US" altLang="zh-CN" sz="1200" b="0">
                          <a:latin typeface="Times New Roman" panose="02020603050405020304"/>
                          <a:ea typeface="宋体" panose="02010600030101010101" pitchFamily="2" charset="-122"/>
                        </a:rPr>
                        <a:t>Key Events of the Concert of Europe</a:t>
                      </a:r>
                      <a:endParaRPr lang="en-US" altLang="zh-CN" sz="1200" b="0">
                        <a:latin typeface="Times New Roman" panose="02020603050405020304"/>
                        <a:ea typeface="宋体" panose="02010600030101010101" pitchFamily="2" charset="-122"/>
                      </a:endParaRPr>
                    </a:p>
                  </a:txBody>
                  <a:tcPr marL="9525" marR="9525" marT="9525" marB="9525" anchor="ctr" anchorCtr="0"/>
                </a:tc>
              </a:tr>
              <a:tr h="883285">
                <a:tc>
                  <a:txBody>
                    <a:bodyPr/>
                    <a:lstStyle/>
                    <a:p>
                      <a:pPr marL="40005" indent="0" algn="l">
                        <a:spcBef>
                          <a:spcPct val="0"/>
                        </a:spcBef>
                        <a:spcAft>
                          <a:spcPct val="0"/>
                        </a:spcAft>
                      </a:pPr>
                      <a:r>
                        <a:rPr lang="en-US" altLang="zh-CN" sz="1400" b="0">
                          <a:latin typeface="Times New Roman" panose="02020603050405020304"/>
                          <a:ea typeface="宋体" panose="02010600030101010101" pitchFamily="2" charset="-122"/>
                        </a:rPr>
                        <a:t>March 1, 1814</a:t>
                      </a:r>
                      <a:endParaRPr lang="en-US" altLang="zh-CN" sz="1400" b="0">
                        <a:latin typeface="Times New Roman" panose="02020603050405020304"/>
                        <a:ea typeface="宋体" panose="02010600030101010101" pitchFamily="2" charset="-122"/>
                      </a:endParaRPr>
                    </a:p>
                  </a:txBody>
                  <a:tcPr marL="9525" marR="9525" marT="9525" marB="9525" anchor="ctr" anchorCtr="0"/>
                </a:tc>
                <a:tc>
                  <a:txBody>
                    <a:bodyPr/>
                    <a:lstStyle/>
                    <a:p>
                      <a:pPr marL="40005" indent="0" algn="l">
                        <a:spcBef>
                          <a:spcPct val="0"/>
                        </a:spcBef>
                        <a:spcAft>
                          <a:spcPct val="0"/>
                        </a:spcAft>
                      </a:pPr>
                      <a:r>
                        <a:rPr lang="en-US" altLang="zh-CN" sz="1600" b="0">
                          <a:latin typeface="Times New Roman" panose="02020603050405020304"/>
                          <a:ea typeface="宋体" panose="02010600030101010101" pitchFamily="2" charset="-122"/>
                        </a:rPr>
                        <a:t>Britain, Russia, Austria, and Prussia signed the Treaty of Chaumont to maintain their coalition against France.</a:t>
                      </a:r>
                      <a:endParaRPr lang="en-US" altLang="zh-CN" sz="1600" b="0">
                        <a:latin typeface="Times New Roman" panose="02020603050405020304"/>
                        <a:ea typeface="宋体" panose="02010600030101010101" pitchFamily="2" charset="-122"/>
                      </a:endParaRPr>
                    </a:p>
                  </a:txBody>
                  <a:tcPr marL="9525" marR="9525" marT="9525" marB="9525" anchor="ctr" anchorCtr="0"/>
                </a:tc>
              </a:tr>
              <a:tr h="883920">
                <a:tc>
                  <a:txBody>
                    <a:bodyPr/>
                    <a:lstStyle/>
                    <a:p>
                      <a:pPr marL="40005" indent="0" algn="l">
                        <a:spcBef>
                          <a:spcPct val="0"/>
                        </a:spcBef>
                        <a:spcAft>
                          <a:spcPct val="0"/>
                        </a:spcAft>
                      </a:pPr>
                      <a:r>
                        <a:rPr lang="en-US" altLang="zh-CN" sz="1400" b="0">
                          <a:latin typeface="Times New Roman" panose="02020603050405020304"/>
                          <a:ea typeface="宋体" panose="02010600030101010101" pitchFamily="2" charset="-122"/>
                        </a:rPr>
                        <a:t>1814</a:t>
                      </a:r>
                      <a:endParaRPr lang="en-US" altLang="zh-CN" sz="1400" b="0">
                        <a:latin typeface="Times New Roman" panose="02020603050405020304"/>
                        <a:ea typeface="宋体" panose="02010600030101010101" pitchFamily="2" charset="-122"/>
                      </a:endParaRPr>
                    </a:p>
                  </a:txBody>
                  <a:tcPr marL="9525" marR="9525" marT="9525" marB="9525" anchor="ctr" anchorCtr="0"/>
                </a:tc>
                <a:tc>
                  <a:txBody>
                    <a:bodyPr/>
                    <a:lstStyle/>
                    <a:p>
                      <a:pPr marL="40005" indent="0" algn="l">
                        <a:spcBef>
                          <a:spcPct val="0"/>
                        </a:spcBef>
                        <a:spcAft>
                          <a:spcPct val="0"/>
                        </a:spcAft>
                      </a:pPr>
                      <a:r>
                        <a:rPr lang="en-US" altLang="zh-CN" sz="1600" b="0">
                          <a:latin typeface="Times New Roman" panose="02020603050405020304"/>
                          <a:ea typeface="宋体" panose="02010600030101010101" pitchFamily="2" charset="-122"/>
                        </a:rPr>
                        <a:t>The Congress of Vienna: Britain, Russia, Austria, Prussia, and France established a “new European order” based on territorial redistribution.</a:t>
                      </a:r>
                      <a:endParaRPr lang="en-US" altLang="zh-CN" sz="1600" b="0">
                        <a:latin typeface="Times New Roman" panose="02020603050405020304"/>
                        <a:ea typeface="宋体" panose="02010600030101010101" pitchFamily="2" charset="-122"/>
                      </a:endParaRPr>
                    </a:p>
                  </a:txBody>
                  <a:tcPr marL="9525" marR="9525" marT="9525" marB="9525" anchor="ctr" anchorCtr="0"/>
                </a:tc>
              </a:tr>
              <a:tr h="499110">
                <a:tc>
                  <a:txBody>
                    <a:bodyPr/>
                    <a:lstStyle/>
                    <a:p>
                      <a:pPr marL="40005" indent="0" algn="l">
                        <a:spcBef>
                          <a:spcPct val="0"/>
                        </a:spcBef>
                        <a:spcAft>
                          <a:spcPct val="0"/>
                        </a:spcAft>
                      </a:pPr>
                      <a:r>
                        <a:rPr lang="en-US" altLang="zh-CN" sz="1200" b="0">
                          <a:latin typeface="Times New Roman" panose="02020603050405020304"/>
                          <a:ea typeface="宋体" panose="02010600030101010101" pitchFamily="2" charset="-122"/>
                        </a:rPr>
                        <a:t>September 1815</a:t>
                      </a:r>
                      <a:endParaRPr lang="en-US" altLang="zh-CN" sz="1200" b="0">
                        <a:latin typeface="Times New Roman" panose="02020603050405020304"/>
                        <a:ea typeface="宋体" panose="02010600030101010101" pitchFamily="2" charset="-122"/>
                      </a:endParaRPr>
                    </a:p>
                  </a:txBody>
                  <a:tcPr marL="9525" marR="9525" marT="9525" marB="9525" anchor="ctr" anchorCtr="0"/>
                </a:tc>
                <a:tc>
                  <a:txBody>
                    <a:bodyPr/>
                    <a:lstStyle/>
                    <a:p>
                      <a:pPr marL="40005" indent="0" algn="l">
                        <a:spcBef>
                          <a:spcPct val="0"/>
                        </a:spcBef>
                        <a:spcAft>
                          <a:spcPct val="0"/>
                        </a:spcAft>
                      </a:pPr>
                      <a:r>
                        <a:rPr lang="en-US" altLang="zh-CN" sz="1200" b="0">
                          <a:latin typeface="Times New Roman" panose="02020603050405020304"/>
                          <a:ea typeface="宋体" panose="02010600030101010101" pitchFamily="2" charset="-122"/>
                        </a:rPr>
                        <a:t>The rulers of Russia, Austria, and Prussia formed the Holy Alliance in Paris.</a:t>
                      </a:r>
                      <a:endParaRPr lang="en-US" altLang="zh-CN" sz="1200" b="0">
                        <a:latin typeface="Times New Roman" panose="02020603050405020304"/>
                        <a:ea typeface="宋体" panose="02010600030101010101" pitchFamily="2" charset="-122"/>
                      </a:endParaRPr>
                    </a:p>
                  </a:txBody>
                  <a:tcPr marL="9525" marR="9525" marT="9525" marB="9525" anchor="ctr" anchorCtr="0"/>
                </a:tc>
              </a:tr>
              <a:tr h="499110">
                <a:tc>
                  <a:txBody>
                    <a:bodyPr/>
                    <a:lstStyle/>
                    <a:p>
                      <a:pPr marL="40005" indent="0" algn="l">
                        <a:spcBef>
                          <a:spcPct val="0"/>
                        </a:spcBef>
                        <a:spcAft>
                          <a:spcPct val="0"/>
                        </a:spcAft>
                      </a:pPr>
                      <a:r>
                        <a:rPr lang="en-US" altLang="zh-CN" sz="1200" b="0">
                          <a:latin typeface="Times New Roman" panose="02020603050405020304"/>
                          <a:ea typeface="宋体" panose="02010600030101010101" pitchFamily="2" charset="-122"/>
                        </a:rPr>
                        <a:t>November 20, 1815</a:t>
                      </a:r>
                      <a:endParaRPr lang="en-US" altLang="zh-CN" sz="1200" b="0">
                        <a:latin typeface="Times New Roman" panose="02020603050405020304"/>
                        <a:ea typeface="宋体" panose="02010600030101010101" pitchFamily="2" charset="-122"/>
                      </a:endParaRPr>
                    </a:p>
                  </a:txBody>
                  <a:tcPr marL="9525" marR="9525" marT="9525" marB="9525" anchor="ctr" anchorCtr="0"/>
                </a:tc>
                <a:tc>
                  <a:txBody>
                    <a:bodyPr/>
                    <a:lstStyle/>
                    <a:p>
                      <a:pPr marL="40005" indent="0" algn="l">
                        <a:spcBef>
                          <a:spcPct val="0"/>
                        </a:spcBef>
                        <a:spcAft>
                          <a:spcPct val="0"/>
                        </a:spcAft>
                      </a:pPr>
                      <a:r>
                        <a:rPr lang="en-US" altLang="zh-CN" sz="1200" b="0">
                          <a:latin typeface="Times New Roman" panose="02020603050405020304"/>
                          <a:ea typeface="宋体" panose="02010600030101010101" pitchFamily="2" charset="-122"/>
                        </a:rPr>
                        <a:t>Britain, Russia, Prussia, and Austria signed the Quadruple Alliance Treaty in Paris, valid for 20 years.</a:t>
                      </a:r>
                      <a:endParaRPr lang="en-US" altLang="zh-CN" sz="1200" b="0">
                        <a:latin typeface="Times New Roman" panose="02020603050405020304"/>
                        <a:ea typeface="宋体" panose="02010600030101010101" pitchFamily="2" charset="-122"/>
                      </a:endParaRPr>
                    </a:p>
                  </a:txBody>
                  <a:tcPr marL="9525" marR="9525" marT="9525" marB="9525" anchor="ctr" anchorCtr="0"/>
                </a:tc>
              </a:tr>
              <a:tr h="883920">
                <a:tc>
                  <a:txBody>
                    <a:bodyPr/>
                    <a:lstStyle/>
                    <a:p>
                      <a:pPr marL="40005" indent="0" algn="l">
                        <a:spcBef>
                          <a:spcPct val="0"/>
                        </a:spcBef>
                        <a:spcAft>
                          <a:spcPct val="0"/>
                        </a:spcAft>
                      </a:pPr>
                      <a:r>
                        <a:rPr lang="en-US" altLang="zh-CN" sz="1200" b="0">
                          <a:latin typeface="Times New Roman" panose="02020603050405020304"/>
                          <a:ea typeface="宋体" panose="02010600030101010101" pitchFamily="2" charset="-122"/>
                        </a:rPr>
                        <a:t>1818</a:t>
                      </a:r>
                      <a:endParaRPr lang="en-US" altLang="zh-CN" sz="1200" b="0">
                        <a:latin typeface="Times New Roman" panose="02020603050405020304"/>
                        <a:ea typeface="宋体" panose="02010600030101010101" pitchFamily="2" charset="-122"/>
                      </a:endParaRPr>
                    </a:p>
                  </a:txBody>
                  <a:tcPr marL="9525" marR="9525" marT="9525" marB="9525" anchor="ctr" anchorCtr="0"/>
                </a:tc>
                <a:tc>
                  <a:txBody>
                    <a:bodyPr/>
                    <a:lstStyle/>
                    <a:p>
                      <a:pPr marL="40005" indent="0" algn="l">
                        <a:spcBef>
                          <a:spcPct val="0"/>
                        </a:spcBef>
                        <a:spcAft>
                          <a:spcPct val="0"/>
                        </a:spcAft>
                      </a:pPr>
                      <a:r>
                        <a:rPr lang="en-US" altLang="zh-CN" sz="1200" b="0">
                          <a:latin typeface="Times New Roman" panose="02020603050405020304"/>
                          <a:ea typeface="宋体" panose="02010600030101010101" pitchFamily="2" charset="-122"/>
                        </a:rPr>
                        <a:t>France joined the alliance, forming the Quintuple Alliance.</a:t>
                      </a:r>
                      <a:endParaRPr lang="en-US" altLang="zh-CN" sz="1200" b="0">
                        <a:latin typeface="Times New Roman" panose="02020603050405020304"/>
                        <a:ea typeface="宋体" panose="02010600030101010101" pitchFamily="2" charset="-122"/>
                      </a:endParaRPr>
                    </a:p>
                  </a:txBody>
                  <a:tcPr marL="9525" marR="9525" marT="9525" marB="9525" anchor="ctr" anchorCtr="0"/>
                </a:tc>
              </a:tr>
              <a:tr h="499110">
                <a:tc>
                  <a:txBody>
                    <a:bodyPr/>
                    <a:lstStyle/>
                    <a:p>
                      <a:pPr marL="40005" indent="0" algn="l">
                        <a:spcBef>
                          <a:spcPct val="0"/>
                        </a:spcBef>
                        <a:spcAft>
                          <a:spcPct val="0"/>
                        </a:spcAft>
                      </a:pPr>
                      <a:r>
                        <a:rPr lang="en-US" altLang="zh-CN" sz="1200" b="0">
                          <a:latin typeface="Times New Roman" panose="02020603050405020304"/>
                          <a:ea typeface="宋体" panose="02010600030101010101" pitchFamily="2" charset="-122"/>
                        </a:rPr>
                        <a:t>—</a:t>
                      </a:r>
                      <a:endParaRPr lang="en-US" altLang="zh-CN" sz="1200" b="0">
                        <a:latin typeface="Times New Roman" panose="02020603050405020304"/>
                        <a:ea typeface="宋体" panose="02010600030101010101" pitchFamily="2" charset="-122"/>
                      </a:endParaRPr>
                    </a:p>
                  </a:txBody>
                  <a:tcPr marL="9525" marR="9525" marT="9525" marB="9525" anchor="ctr" anchorCtr="0"/>
                </a:tc>
                <a:tc>
                  <a:txBody>
                    <a:bodyPr/>
                    <a:lstStyle/>
                    <a:p>
                      <a:pPr marL="40005" indent="0" algn="l">
                        <a:spcBef>
                          <a:spcPct val="0"/>
                        </a:spcBef>
                        <a:spcAft>
                          <a:spcPct val="0"/>
                        </a:spcAft>
                      </a:pPr>
                      <a:r>
                        <a:rPr lang="en-US" altLang="zh-CN" sz="1200" b="0">
                          <a:latin typeface="Times New Roman" panose="02020603050405020304"/>
                          <a:ea typeface="宋体" panose="02010600030101010101" pitchFamily="2" charset="-122"/>
                        </a:rPr>
                        <a:t>The Concert of Europe—a system dominated by these five great powers—was thus established.</a:t>
                      </a:r>
                      <a:endParaRPr lang="en-US" altLang="zh-CN" sz="1200" b="0">
                        <a:latin typeface="Times New Roman" panose="02020603050405020304"/>
                        <a:ea typeface="宋体" panose="02010600030101010101" pitchFamily="2" charset="-122"/>
                      </a:endParaRPr>
                    </a:p>
                  </a:txBody>
                  <a:tcPr marL="9525" marR="9525" marT="9525" marB="9525" anchor="ctr" anchorCtr="0"/>
                </a:tc>
              </a:tr>
              <a:tr h="499110">
                <a:tc>
                  <a:txBody>
                    <a:bodyPr/>
                    <a:p>
                      <a:pPr marL="40005" indent="0" algn="l">
                        <a:spcBef>
                          <a:spcPct val="0"/>
                        </a:spcBef>
                        <a:spcAft>
                          <a:spcPct val="0"/>
                        </a:spcAft>
                      </a:pPr>
                      <a:r>
                        <a:rPr lang="en-US" altLang="zh-CN" sz="1200" b="0">
                          <a:latin typeface="Times New Roman" panose="02020603050405020304"/>
                          <a:ea typeface="宋体" panose="02010600030101010101" pitchFamily="2" charset="-122"/>
                        </a:rPr>
                        <a:t>1912–1913</a:t>
                      </a:r>
                      <a:endParaRPr lang="en-US" altLang="zh-CN" sz="1200" b="0">
                        <a:latin typeface="Times New Roman" panose="02020603050405020304"/>
                        <a:ea typeface="宋体" panose="02010600030101010101" pitchFamily="2" charset="-122"/>
                      </a:endParaRPr>
                    </a:p>
                  </a:txBody>
                  <a:tcPr marL="9525" marR="9525" marT="9525" marB="9525" anchor="ctr" anchorCtr="0"/>
                </a:tc>
                <a:tc>
                  <a:txBody>
                    <a:bodyPr/>
                    <a:p>
                      <a:pPr marL="40005" indent="0" algn="l">
                        <a:spcBef>
                          <a:spcPct val="0"/>
                        </a:spcBef>
                        <a:spcAft>
                          <a:spcPct val="0"/>
                        </a:spcAft>
                      </a:pPr>
                      <a:r>
                        <a:rPr lang="en-US" altLang="zh-CN" sz="1200" b="0">
                          <a:latin typeface="Times New Roman" panose="02020603050405020304"/>
                          <a:ea typeface="宋体" panose="02010600030101010101" pitchFamily="2" charset="-122"/>
                        </a:rPr>
                        <a:t>The London Conference—the final meeting of the Concert of Europe.</a:t>
                      </a:r>
                      <a:endParaRPr lang="en-US" altLang="zh-CN" sz="1200" b="0">
                        <a:latin typeface="Times New Roman" panose="02020603050405020304"/>
                        <a:ea typeface="宋体" panose="02010600030101010101" pitchFamily="2" charset="-122"/>
                      </a:endParaRPr>
                    </a:p>
                  </a:txBody>
                  <a:tcPr marL="9525" marR="9525" marT="9525" marB="9525" anchor="ctr" anchorCtr="0"/>
                </a:tc>
              </a:tr>
            </a:tbl>
          </a:graphicData>
        </a:graphic>
      </p:graphicFrame>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sz="2665" dirty="0">
                <a:latin typeface="Times New Roman" panose="02020603050405020304" charset="0"/>
                <a:cs typeface="Times New Roman" panose="02020603050405020304" charset="0"/>
              </a:rPr>
              <a:t>Characteristics of the Concert of Europe and the Emergence of International Organizations</a:t>
            </a:r>
            <a:endParaRPr lang="en-US" altLang="zh-CN" sz="2665" dirty="0">
              <a:latin typeface="Times New Roman" panose="02020603050405020304" charset="0"/>
              <a:cs typeface="Times New Roman" panose="02020603050405020304" charset="0"/>
            </a:endParaRPr>
          </a:p>
        </p:txBody>
      </p:sp>
      <p:sp>
        <p:nvSpPr>
          <p:cNvPr id="3" name="内容占位符 2"/>
          <p:cNvSpPr>
            <a:spLocks noGrp="1"/>
          </p:cNvSpPr>
          <p:nvPr>
            <p:ph idx="1"/>
          </p:nvPr>
        </p:nvSpPr>
        <p:spPr>
          <a:xfrm>
            <a:off x="365760" y="1752600"/>
            <a:ext cx="8529955" cy="4772660"/>
          </a:xfrm>
        </p:spPr>
        <p:txBody>
          <a:bodyPr>
            <a:normAutofit fontScale="80000"/>
          </a:bodyPr>
          <a:lstStyle/>
          <a:p>
            <a:pPr marL="571500" indent="-457200">
              <a:lnSpc>
                <a:spcPct val="110000"/>
              </a:lnSpc>
              <a:buFont typeface="+mj-lt"/>
              <a:buAutoNum type="arabicPeriod"/>
            </a:pPr>
            <a:r>
              <a:rPr lang="en-US" altLang="zh-CN" dirty="0">
                <a:latin typeface="Times New Roman" panose="02020603050405020304" charset="0"/>
                <a:cs typeface="Times New Roman" panose="02020603050405020304" charset="0"/>
              </a:rPr>
              <a:t>The Concert of Europe institutionalized regular conferences, establishing multilateral diplomacy as a relatively stable system, thereby directly fostering and advancing the development of international organizations.</a:t>
            </a:r>
            <a:endParaRPr lang="en-US" altLang="zh-CN" dirty="0">
              <a:latin typeface="Times New Roman" panose="02020603050405020304" charset="0"/>
              <a:cs typeface="Times New Roman" panose="02020603050405020304" charset="0"/>
            </a:endParaRPr>
          </a:p>
          <a:p>
            <a:pPr marL="571500" indent="-457200">
              <a:lnSpc>
                <a:spcPct val="110000"/>
              </a:lnSpc>
              <a:buFont typeface="+mj-lt"/>
              <a:buAutoNum type="arabicPeriod"/>
            </a:pPr>
            <a:r>
              <a:rPr lang="en-US" altLang="zh-CN" dirty="0">
                <a:latin typeface="Times New Roman" panose="02020603050405020304" charset="0"/>
                <a:cs typeface="Times New Roman" panose="02020603050405020304" charset="0"/>
              </a:rPr>
              <a:t>It operated on the principles of collective response and consensus-based decision-making. Through great-power consensus and mutual restraint, it maintained nearly a century of peace among European states and ensured stability on the European continent.</a:t>
            </a:r>
            <a:endParaRPr lang="en-US" altLang="zh-CN" dirty="0">
              <a:latin typeface="Times New Roman" panose="02020603050405020304" charset="0"/>
              <a:cs typeface="Times New Roman" panose="02020603050405020304" charset="0"/>
            </a:endParaRPr>
          </a:p>
          <a:p>
            <a:pPr marL="571500" indent="-457200">
              <a:lnSpc>
                <a:spcPct val="110000"/>
              </a:lnSpc>
              <a:buFont typeface="+mj-lt"/>
              <a:buAutoNum type="arabicPeriod"/>
            </a:pPr>
            <a:r>
              <a:rPr lang="en-US" altLang="zh-CN" dirty="0">
                <a:latin typeface="Times New Roman" panose="02020603050405020304" charset="0"/>
                <a:cs typeface="Times New Roman" panose="02020603050405020304" charset="0"/>
              </a:rPr>
              <a:t>The conference procedures adopted during the Concert of Europe also introduced innovations, leading to the creation of numerous new rules of procedure tailored to practical needs.</a:t>
            </a:r>
            <a:endParaRPr lang="en-US" altLang="zh-CN" dirty="0">
              <a:latin typeface="Times New Roman" panose="02020603050405020304" charset="0"/>
              <a:cs typeface="Times New Roman" panose="02020603050405020304" charset="0"/>
            </a:endParaRPr>
          </a:p>
          <a:p>
            <a:pPr marL="571500" indent="-457200">
              <a:lnSpc>
                <a:spcPct val="110000"/>
              </a:lnSpc>
              <a:buFont typeface="+mj-lt"/>
              <a:buAutoNum type="arabicPeriod"/>
            </a:pPr>
            <a:r>
              <a:rPr lang="en-US" altLang="zh-CN" dirty="0">
                <a:latin typeface="Times New Roman" panose="02020603050405020304" charset="0"/>
                <a:cs typeface="Times New Roman" panose="02020603050405020304" charset="0"/>
              </a:rPr>
              <a:t>The Concert of Europe directly led to the establishment of the earliest international administrative bodies—the Central Commission for Navigation on the Rhine (Rhine River Commission) and the European Commission of the Danube (Danube River Commission).</a:t>
            </a:r>
            <a:endParaRPr lang="en-US" altLang="zh-CN" dirty="0">
              <a:latin typeface="Times New Roman" panose="02020603050405020304" charset="0"/>
              <a:cs typeface="Times New Roman" panose="02020603050405020304" charset="0"/>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pPr algn="l"/>
            <a:r>
              <a:rPr lang="en-US" altLang="zh-CN" dirty="0">
                <a:latin typeface="Times New Roman" panose="02020603050405020304" charset="0"/>
                <a:cs typeface="Times New Roman" panose="02020603050405020304" charset="0"/>
              </a:rPr>
              <a:t>III. The Early Development of International Organizations </a:t>
            </a:r>
            <a:endParaRPr lang="en-US" altLang="zh-CN" dirty="0">
              <a:latin typeface="Times New Roman" panose="02020603050405020304" charset="0"/>
              <a:cs typeface="Times New Roman" panose="02020603050405020304" charset="0"/>
            </a:endParaRPr>
          </a:p>
        </p:txBody>
      </p:sp>
      <p:sp>
        <p:nvSpPr>
          <p:cNvPr id="3" name="内容占位符 2"/>
          <p:cNvSpPr>
            <a:spLocks noGrp="1"/>
          </p:cNvSpPr>
          <p:nvPr>
            <p:ph idx="1"/>
          </p:nvPr>
        </p:nvSpPr>
        <p:spPr>
          <a:xfrm>
            <a:off x="280035" y="1646555"/>
            <a:ext cx="8513445" cy="4998720"/>
          </a:xfrm>
        </p:spPr>
        <p:txBody>
          <a:bodyPr>
            <a:noAutofit/>
          </a:bodyPr>
          <a:lstStyle/>
          <a:p>
            <a:pPr>
              <a:lnSpc>
                <a:spcPct val="150000"/>
              </a:lnSpc>
            </a:pPr>
            <a:r>
              <a:rPr lang="en-US" altLang="zh-CN" sz="2300" dirty="0">
                <a:latin typeface="Times New Roman" panose="02020603050405020304" charset="0"/>
                <a:ea typeface="楷体" panose="02010609060101010101" pitchFamily="49" charset="-122"/>
                <a:cs typeface="Times New Roman" panose="02020603050405020304" charset="0"/>
              </a:rPr>
              <a:t>- The first wave of international bodies were international administrative organizations, administrative unions, or “universal unions.”  </a:t>
            </a:r>
            <a:endParaRPr lang="en-US" altLang="zh-CN" sz="2300" dirty="0">
              <a:latin typeface="Times New Roman" panose="02020603050405020304" charset="0"/>
              <a:ea typeface="楷体" panose="02010609060101010101" pitchFamily="49" charset="-122"/>
              <a:cs typeface="Times New Roman" panose="02020603050405020304" charset="0"/>
            </a:endParaRPr>
          </a:p>
          <a:p>
            <a:pPr>
              <a:lnSpc>
                <a:spcPct val="150000"/>
              </a:lnSpc>
            </a:pPr>
            <a:r>
              <a:rPr lang="en-US" altLang="zh-CN" sz="2300" dirty="0">
                <a:latin typeface="Times New Roman" panose="02020603050405020304" charset="0"/>
                <a:ea typeface="楷体" panose="02010609060101010101" pitchFamily="49" charset="-122"/>
                <a:cs typeface="Times New Roman" panose="02020603050405020304" charset="0"/>
              </a:rPr>
              <a:t>- Their primary purpose was practical cooperation among states on matters of shared interest.  </a:t>
            </a:r>
            <a:endParaRPr lang="en-US" altLang="zh-CN" sz="2300" dirty="0">
              <a:latin typeface="Times New Roman" panose="02020603050405020304" charset="0"/>
              <a:ea typeface="楷体" panose="02010609060101010101" pitchFamily="49" charset="-122"/>
              <a:cs typeface="Times New Roman" panose="02020603050405020304" charset="0"/>
            </a:endParaRPr>
          </a:p>
          <a:p>
            <a:pPr>
              <a:lnSpc>
                <a:spcPct val="150000"/>
              </a:lnSpc>
            </a:pPr>
            <a:r>
              <a:rPr lang="en-US" altLang="zh-CN" sz="2300" dirty="0">
                <a:latin typeface="Times New Roman" panose="02020603050405020304" charset="0"/>
                <a:ea typeface="楷体" panose="02010609060101010101" pitchFamily="49" charset="-122"/>
                <a:cs typeface="Times New Roman" panose="02020603050405020304" charset="0"/>
              </a:rPr>
              <a:t>- They were functionally oriented, promoting technical collaboration.  </a:t>
            </a:r>
            <a:endParaRPr lang="en-US" altLang="zh-CN" sz="2300" dirty="0">
              <a:latin typeface="Times New Roman" panose="02020603050405020304" charset="0"/>
              <a:ea typeface="楷体" panose="02010609060101010101" pitchFamily="49" charset="-122"/>
              <a:cs typeface="Times New Roman" panose="02020603050405020304" charset="0"/>
            </a:endParaRPr>
          </a:p>
          <a:p>
            <a:pPr>
              <a:lnSpc>
                <a:spcPct val="150000"/>
              </a:lnSpc>
            </a:pPr>
            <a:r>
              <a:rPr lang="en-US" altLang="zh-CN" sz="2300" dirty="0">
                <a:latin typeface="Times New Roman" panose="02020603050405020304" charset="0"/>
                <a:ea typeface="楷体" panose="02010609060101010101" pitchFamily="49" charset="-122"/>
                <a:cs typeface="Times New Roman" panose="02020603050405020304" charset="0"/>
              </a:rPr>
              <a:t>Examples: the International Telegraph Union and the Universal Postal Union.</a:t>
            </a:r>
            <a:endParaRPr lang="en-US" altLang="zh-CN" sz="2300" dirty="0">
              <a:latin typeface="Times New Roman" panose="02020603050405020304" charset="0"/>
              <a:ea typeface="楷体" panose="02010609060101010101" pitchFamily="49" charset="-122"/>
              <a:cs typeface="Times New Roman" panose="02020603050405020304" charset="0"/>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algn="l"/>
            <a:r>
              <a:rPr lang="en-US" altLang="zh-CN" sz="3110" dirty="0">
                <a:latin typeface="Times New Roman" panose="02020603050405020304" charset="0"/>
                <a:cs typeface="Times New Roman" panose="02020603050405020304" charset="0"/>
              </a:rPr>
              <a:t>(1) The International Administrative Unions</a:t>
            </a:r>
            <a:endParaRPr lang="en-US" altLang="zh-CN" sz="3110" dirty="0">
              <a:latin typeface="Times New Roman" panose="02020603050405020304" charset="0"/>
              <a:cs typeface="Times New Roman" panose="02020603050405020304" charset="0"/>
            </a:endParaRPr>
          </a:p>
        </p:txBody>
      </p:sp>
      <p:sp>
        <p:nvSpPr>
          <p:cNvPr id="3" name="内容占位符 2"/>
          <p:cNvSpPr>
            <a:spLocks noGrp="1"/>
          </p:cNvSpPr>
          <p:nvPr>
            <p:ph idx="1"/>
          </p:nvPr>
        </p:nvSpPr>
        <p:spPr>
          <a:xfrm>
            <a:off x="273050" y="1635760"/>
            <a:ext cx="8724265" cy="5105400"/>
          </a:xfrm>
        </p:spPr>
        <p:txBody>
          <a:bodyPr>
            <a:noAutofit/>
          </a:bodyPr>
          <a:lstStyle/>
          <a:p>
            <a:pPr marL="114300" indent="0">
              <a:lnSpc>
                <a:spcPct val="170000"/>
              </a:lnSpc>
              <a:buNone/>
            </a:pPr>
            <a:r>
              <a:rPr lang="en-US" altLang="zh-CN" sz="1600" dirty="0">
                <a:latin typeface="Times New Roman" panose="02020603050405020304" charset="0"/>
                <a:cs typeface="Times New Roman" panose="02020603050405020304" charset="0"/>
              </a:rPr>
              <a:t>- The international administrative unions were the forerunners of modern international organizations.  </a:t>
            </a:r>
            <a:endParaRPr lang="en-US" altLang="zh-CN" sz="1600" dirty="0">
              <a:latin typeface="Times New Roman" panose="02020603050405020304" charset="0"/>
              <a:cs typeface="Times New Roman" panose="02020603050405020304" charset="0"/>
            </a:endParaRPr>
          </a:p>
          <a:p>
            <a:pPr marL="114300" indent="0">
              <a:lnSpc>
                <a:spcPct val="170000"/>
              </a:lnSpc>
              <a:buNone/>
            </a:pPr>
            <a:r>
              <a:rPr lang="en-US" altLang="zh-CN" sz="1600" dirty="0">
                <a:latin typeface="Times New Roman" panose="02020603050405020304" charset="0"/>
                <a:cs typeface="Times New Roman" panose="02020603050405020304" charset="0"/>
              </a:rPr>
              <a:t>- They fostered inter-governmental cooperation and interaction, aiming at specialized and technical collaboration across a wide range of professional fields, thereby providing a channel for governments to discuss and handle issues of common concern.  </a:t>
            </a:r>
            <a:endParaRPr lang="en-US" altLang="zh-CN" sz="1600" dirty="0">
              <a:latin typeface="Times New Roman" panose="02020603050405020304" charset="0"/>
              <a:cs typeface="Times New Roman" panose="02020603050405020304" charset="0"/>
            </a:endParaRPr>
          </a:p>
          <a:p>
            <a:pPr marL="114300" indent="0">
              <a:lnSpc>
                <a:spcPct val="170000"/>
              </a:lnSpc>
              <a:buNone/>
            </a:pPr>
            <a:r>
              <a:rPr lang="en-US" altLang="zh-CN" sz="1600" dirty="0">
                <a:latin typeface="Times New Roman" panose="02020603050405020304" charset="0"/>
                <a:cs typeface="Times New Roman" panose="02020603050405020304" charset="0"/>
              </a:rPr>
              <a:t>- They created permanent bodies—the International Bureaux—which became the prototype of today’s international-secretariats and institutionalized the previously disjointed sequence of ad-hoc conferences.  </a:t>
            </a:r>
            <a:endParaRPr lang="en-US" altLang="zh-CN" sz="1600" dirty="0">
              <a:latin typeface="Times New Roman" panose="02020603050405020304" charset="0"/>
              <a:cs typeface="Times New Roman" panose="02020603050405020304" charset="0"/>
            </a:endParaRPr>
          </a:p>
          <a:p>
            <a:pPr marL="114300" indent="0">
              <a:lnSpc>
                <a:spcPct val="170000"/>
              </a:lnSpc>
              <a:buNone/>
            </a:pPr>
            <a:r>
              <a:rPr lang="en-US" altLang="zh-CN" sz="1600" dirty="0">
                <a:latin typeface="Times New Roman" panose="02020603050405020304" charset="0"/>
                <a:cs typeface="Times New Roman" panose="02020603050405020304" charset="0"/>
              </a:rPr>
              <a:t>- Each union established two organs—a General Assembly and a Council—enhancing operational capacity:  </a:t>
            </a:r>
            <a:endParaRPr lang="en-US" altLang="zh-CN" sz="1600" dirty="0">
              <a:latin typeface="Times New Roman" panose="02020603050405020304" charset="0"/>
              <a:cs typeface="Times New Roman" panose="02020603050405020304" charset="0"/>
            </a:endParaRPr>
          </a:p>
          <a:p>
            <a:pPr marL="114300" indent="0">
              <a:lnSpc>
                <a:spcPct val="170000"/>
              </a:lnSpc>
              <a:buNone/>
            </a:pPr>
            <a:r>
              <a:rPr lang="en-US" altLang="zh-CN" sz="1600" dirty="0">
                <a:latin typeface="Times New Roman" panose="02020603050405020304" charset="0"/>
                <a:cs typeface="Times New Roman" panose="02020603050405020304" charset="0"/>
              </a:rPr>
              <a:t>  – General Assembly: the deliberative body composed of all member states;  </a:t>
            </a:r>
            <a:endParaRPr lang="en-US" altLang="zh-CN" sz="1600" dirty="0">
              <a:latin typeface="Times New Roman" panose="02020603050405020304" charset="0"/>
              <a:cs typeface="Times New Roman" panose="02020603050405020304" charset="0"/>
            </a:endParaRPr>
          </a:p>
          <a:p>
            <a:pPr marL="114300" indent="0">
              <a:lnSpc>
                <a:spcPct val="170000"/>
              </a:lnSpc>
              <a:buNone/>
            </a:pPr>
            <a:r>
              <a:rPr lang="en-US" altLang="zh-CN" sz="1600" dirty="0">
                <a:latin typeface="Times New Roman" panose="02020603050405020304" charset="0"/>
                <a:cs typeface="Times New Roman" panose="02020603050405020304" charset="0"/>
              </a:rPr>
              <a:t>  – Council: the executive body composed of a limited number of member states elected by the Assembly, empowered to implement policies on behalf of the Assembly between sessions.</a:t>
            </a:r>
            <a:endParaRPr lang="en-US" altLang="zh-CN" sz="1600" dirty="0">
              <a:latin typeface="Times New Roman" panose="02020603050405020304" charset="0"/>
              <a:cs typeface="Times New Roman" panose="02020603050405020304" charset="0"/>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pPr algn="l"/>
            <a:r>
              <a:rPr lang="en-US" altLang="zh-CN" sz="2700" dirty="0">
                <a:latin typeface="Times New Roman" panose="02020603050405020304" charset="0"/>
                <a:cs typeface="Times New Roman" panose="02020603050405020304" charset="0"/>
              </a:rPr>
              <a:t>(2) Non-Governmental International Organizations  (exemplified by pacifist associations)</a:t>
            </a:r>
            <a:endParaRPr lang="en-US" altLang="zh-CN" sz="2700" dirty="0">
              <a:latin typeface="Times New Roman" panose="02020603050405020304" charset="0"/>
              <a:cs typeface="Times New Roman" panose="02020603050405020304" charset="0"/>
            </a:endParaRPr>
          </a:p>
        </p:txBody>
      </p:sp>
      <p:sp>
        <p:nvSpPr>
          <p:cNvPr id="3" name="内容占位符 2"/>
          <p:cNvSpPr>
            <a:spLocks noGrp="1"/>
          </p:cNvSpPr>
          <p:nvPr>
            <p:ph idx="1"/>
          </p:nvPr>
        </p:nvSpPr>
        <p:spPr>
          <a:xfrm>
            <a:off x="220980" y="1791335"/>
            <a:ext cx="8465820" cy="4703445"/>
          </a:xfrm>
        </p:spPr>
        <p:txBody>
          <a:bodyPr>
            <a:normAutofit fontScale="90000"/>
          </a:bodyPr>
          <a:lstStyle/>
          <a:p>
            <a:pPr marL="571500" indent="-457200">
              <a:lnSpc>
                <a:spcPct val="110000"/>
              </a:lnSpc>
              <a:buFont typeface="+mj-lt"/>
              <a:buAutoNum type="arabicPeriod"/>
            </a:pPr>
            <a:r>
              <a:rPr lang="en-US" altLang="zh-CN" dirty="0">
                <a:latin typeface="Times New Roman" panose="02020603050405020304" charset="0"/>
                <a:cs typeface="Times New Roman" panose="02020603050405020304" charset="0"/>
              </a:rPr>
              <a:t>- In 1815 the world’s first pacifist bodies—the New York Peace Society and the Massachusetts Peace Society—were founded in New York and Massachusetts respectively.  </a:t>
            </a:r>
            <a:endParaRPr lang="en-US" altLang="zh-CN" dirty="0">
              <a:latin typeface="Times New Roman" panose="02020603050405020304" charset="0"/>
              <a:cs typeface="Times New Roman" panose="02020603050405020304" charset="0"/>
            </a:endParaRPr>
          </a:p>
          <a:p>
            <a:pPr marL="571500" indent="-457200">
              <a:lnSpc>
                <a:spcPct val="110000"/>
              </a:lnSpc>
              <a:buFont typeface="+mj-lt"/>
              <a:buAutoNum type="arabicPeriod"/>
            </a:pPr>
            <a:r>
              <a:rPr lang="en-US" altLang="zh-CN" dirty="0">
                <a:latin typeface="Times New Roman" panose="02020603050405020304" charset="0"/>
                <a:cs typeface="Times New Roman" panose="02020603050405020304" charset="0"/>
              </a:rPr>
              <a:t>- Similar societies soon appeared on the European continent: London (1816) and Geneva (1830).  </a:t>
            </a:r>
            <a:endParaRPr lang="en-US" altLang="zh-CN" dirty="0">
              <a:latin typeface="Times New Roman" panose="02020603050405020304" charset="0"/>
              <a:cs typeface="Times New Roman" panose="02020603050405020304" charset="0"/>
            </a:endParaRPr>
          </a:p>
          <a:p>
            <a:pPr marL="571500" indent="-457200">
              <a:lnSpc>
                <a:spcPct val="110000"/>
              </a:lnSpc>
              <a:buFont typeface="+mj-lt"/>
              <a:buAutoNum type="arabicPeriod"/>
            </a:pPr>
            <a:r>
              <a:rPr lang="en-US" altLang="zh-CN" dirty="0">
                <a:latin typeface="Times New Roman" panose="02020603050405020304" charset="0"/>
                <a:cs typeface="Times New Roman" panose="02020603050405020304" charset="0"/>
              </a:rPr>
              <a:t>- In 1867 Victor Hugo, Giuseppe Garibaldi and others established the League of Peace and Freedom in Geneva.  </a:t>
            </a:r>
            <a:endParaRPr lang="en-US" altLang="zh-CN" dirty="0">
              <a:latin typeface="Times New Roman" panose="02020603050405020304" charset="0"/>
              <a:cs typeface="Times New Roman" panose="02020603050405020304" charset="0"/>
            </a:endParaRPr>
          </a:p>
          <a:p>
            <a:pPr marL="571500" indent="-457200">
              <a:lnSpc>
                <a:spcPct val="110000"/>
              </a:lnSpc>
              <a:buFont typeface="+mj-lt"/>
              <a:buAutoNum type="arabicPeriod"/>
            </a:pPr>
            <a:r>
              <a:rPr lang="en-US" altLang="zh-CN" dirty="0">
                <a:latin typeface="Times New Roman" panose="02020603050405020304" charset="0"/>
                <a:cs typeface="Times New Roman" panose="02020603050405020304" charset="0"/>
              </a:rPr>
              <a:t>- In 1863 the Swiss Henry Dunant created the first international humanitarian relief organization—the “International Committee for the Relief of Wounded Soldiers” (also known as the “Geneva Five-Man Committee”). </a:t>
            </a:r>
            <a:endParaRPr lang="zh-CN" altLang="en-US" dirty="0">
              <a:latin typeface="Times New Roman" panose="02020603050405020304" charset="0"/>
              <a:cs typeface="Times New Roman" panose="02020603050405020304" charset="0"/>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en-US" altLang="zh-CN" dirty="0">
                <a:latin typeface="Times New Roman" panose="02020603050405020304" charset="0"/>
                <a:cs typeface="Times New Roman" panose="02020603050405020304" charset="0"/>
              </a:rPr>
              <a:t>(3) The Hague System  </a:t>
            </a:r>
            <a:endParaRPr lang="en-US" altLang="zh-CN" dirty="0">
              <a:latin typeface="Times New Roman" panose="02020603050405020304" charset="0"/>
              <a:cs typeface="Times New Roman" panose="02020603050405020304" charset="0"/>
            </a:endParaRPr>
          </a:p>
        </p:txBody>
      </p:sp>
      <p:sp>
        <p:nvSpPr>
          <p:cNvPr id="3" name="内容占位符 2"/>
          <p:cNvSpPr>
            <a:spLocks noGrp="1"/>
          </p:cNvSpPr>
          <p:nvPr>
            <p:ph idx="1"/>
          </p:nvPr>
        </p:nvSpPr>
        <p:spPr>
          <a:xfrm>
            <a:off x="268605" y="1603375"/>
            <a:ext cx="8627745" cy="4967605"/>
          </a:xfrm>
        </p:spPr>
        <p:txBody>
          <a:bodyPr>
            <a:noAutofit/>
          </a:bodyPr>
          <a:lstStyle/>
          <a:p>
            <a:pPr marL="571500" indent="-457200">
              <a:lnSpc>
                <a:spcPct val="150000"/>
              </a:lnSpc>
              <a:buFont typeface="+mj-lt"/>
              <a:buAutoNum type="arabicPeriod"/>
            </a:pPr>
            <a:r>
              <a:rPr lang="en-US" altLang="zh-CN" sz="1900" dirty="0">
                <a:latin typeface="Times New Roman" panose="02020603050405020304" charset="0"/>
                <a:cs typeface="Times New Roman" panose="02020603050405020304" charset="0"/>
              </a:rPr>
              <a:t>- Emerged from the two Hague Peace Conferences held in 1899 and 1907.  </a:t>
            </a:r>
            <a:endParaRPr lang="en-US" altLang="zh-CN" sz="1900" dirty="0">
              <a:latin typeface="Times New Roman" panose="02020603050405020304" charset="0"/>
              <a:cs typeface="Times New Roman" panose="02020603050405020304" charset="0"/>
            </a:endParaRPr>
          </a:p>
          <a:p>
            <a:pPr marL="571500" indent="-457200">
              <a:lnSpc>
                <a:spcPct val="150000"/>
              </a:lnSpc>
              <a:buFont typeface="+mj-lt"/>
              <a:buAutoNum type="arabicPeriod"/>
            </a:pPr>
            <a:r>
              <a:rPr lang="en-US" altLang="zh-CN" sz="1900" dirty="0">
                <a:latin typeface="Times New Roman" panose="02020603050405020304" charset="0"/>
                <a:cs typeface="Times New Roman" panose="02020603050405020304" charset="0"/>
              </a:rPr>
              <a:t>- Laid the cornerstone for the institutionalization of international organizations.  </a:t>
            </a:r>
            <a:endParaRPr lang="en-US" altLang="zh-CN" sz="1900" dirty="0">
              <a:latin typeface="Times New Roman" panose="02020603050405020304" charset="0"/>
              <a:cs typeface="Times New Roman" panose="02020603050405020304" charset="0"/>
            </a:endParaRPr>
          </a:p>
          <a:p>
            <a:pPr marL="571500" indent="-457200">
              <a:lnSpc>
                <a:spcPct val="150000"/>
              </a:lnSpc>
              <a:buFont typeface="+mj-lt"/>
              <a:buAutoNum type="arabicPeriod"/>
            </a:pPr>
            <a:r>
              <a:rPr lang="en-US" altLang="zh-CN" sz="1900" dirty="0">
                <a:latin typeface="Times New Roman" panose="02020603050405020304" charset="0"/>
                <a:cs typeface="Times New Roman" panose="02020603050405020304" charset="0"/>
              </a:rPr>
              <a:t>Introduced valuable experiments and innovations:  </a:t>
            </a:r>
            <a:endParaRPr lang="en-US" altLang="zh-CN" sz="1900" dirty="0">
              <a:latin typeface="Times New Roman" panose="02020603050405020304" charset="0"/>
              <a:cs typeface="Times New Roman" panose="02020603050405020304" charset="0"/>
            </a:endParaRPr>
          </a:p>
          <a:p>
            <a:pPr marL="114300" indent="0">
              <a:lnSpc>
                <a:spcPct val="150000"/>
              </a:lnSpc>
              <a:buFont typeface="+mj-lt"/>
              <a:buNone/>
            </a:pPr>
            <a:r>
              <a:rPr lang="en-US" altLang="zh-CN" sz="1900" dirty="0">
                <a:latin typeface="Times New Roman" panose="02020603050405020304" charset="0"/>
                <a:cs typeface="Times New Roman" panose="02020603050405020304" charset="0"/>
              </a:rPr>
              <a:t>  – Universal membership: participation for the first time extended beyond Europe.  </a:t>
            </a:r>
            <a:endParaRPr lang="en-US" altLang="zh-CN" sz="1900" dirty="0">
              <a:latin typeface="Times New Roman" panose="02020603050405020304" charset="0"/>
              <a:cs typeface="Times New Roman" panose="02020603050405020304" charset="0"/>
            </a:endParaRPr>
          </a:p>
          <a:p>
            <a:pPr marL="114300" indent="0">
              <a:lnSpc>
                <a:spcPct val="150000"/>
              </a:lnSpc>
              <a:buFont typeface="+mj-lt"/>
              <a:buNone/>
            </a:pPr>
            <a:r>
              <a:rPr lang="en-US" altLang="zh-CN" sz="1900" dirty="0">
                <a:latin typeface="Times New Roman" panose="02020603050405020304" charset="0"/>
                <a:cs typeface="Times New Roman" panose="02020603050405020304" charset="0"/>
              </a:rPr>
              <a:t>  – Principle of sovereign equality: equal voting rights, one vote per state.  </a:t>
            </a:r>
            <a:endParaRPr lang="en-US" altLang="zh-CN" sz="1900" dirty="0">
              <a:latin typeface="Times New Roman" panose="02020603050405020304" charset="0"/>
              <a:cs typeface="Times New Roman" panose="02020603050405020304" charset="0"/>
            </a:endParaRPr>
          </a:p>
          <a:p>
            <a:pPr marL="114300" indent="0">
              <a:lnSpc>
                <a:spcPct val="150000"/>
              </a:lnSpc>
              <a:buFont typeface="+mj-lt"/>
              <a:buNone/>
            </a:pPr>
            <a:r>
              <a:rPr lang="en-US" altLang="zh-CN" sz="1900" dirty="0">
                <a:latin typeface="Times New Roman" panose="02020603050405020304" charset="0"/>
                <a:cs typeface="Times New Roman" panose="02020603050405020304" charset="0"/>
              </a:rPr>
              <a:t>  – Peaceful settlement of disputes: non-contending states could also intervene to facilitate a peaceful solution.  </a:t>
            </a:r>
            <a:endParaRPr lang="en-US" altLang="zh-CN" sz="1900" dirty="0">
              <a:latin typeface="Times New Roman" panose="02020603050405020304" charset="0"/>
              <a:cs typeface="Times New Roman" panose="02020603050405020304" charset="0"/>
            </a:endParaRPr>
          </a:p>
          <a:p>
            <a:pPr marL="114300" indent="0">
              <a:lnSpc>
                <a:spcPct val="150000"/>
              </a:lnSpc>
              <a:buFont typeface="+mj-lt"/>
              <a:buNone/>
            </a:pPr>
            <a:r>
              <a:rPr lang="en-US" altLang="zh-CN" sz="1900" dirty="0">
                <a:latin typeface="Times New Roman" panose="02020603050405020304" charset="0"/>
                <a:cs typeface="Times New Roman" panose="02020603050405020304" charset="0"/>
              </a:rPr>
              <a:t>  – Voting innovation: a quasi-unanimity rule—consensus required except for abstentions.</a:t>
            </a:r>
            <a:endParaRPr lang="en-US" altLang="zh-CN" sz="1900" dirty="0">
              <a:latin typeface="Times New Roman" panose="02020603050405020304" charset="0"/>
              <a:cs typeface="Times New Roman" panose="02020603050405020304" charset="0"/>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57250" y="2928620"/>
            <a:ext cx="7696200" cy="1582420"/>
          </a:xfrm>
        </p:spPr>
        <p:txBody>
          <a:bodyPr/>
          <a:lstStyle/>
          <a:p>
            <a:r>
              <a:rPr lang="en-US" altLang="zh-CN" sz="2400" b="1" dirty="0">
                <a:latin typeface="Times New Roman" panose="02020603050405020304" charset="0"/>
                <a:cs typeface="Times New Roman" panose="02020603050405020304" charset="0"/>
              </a:rPr>
              <a:t>Section two </a:t>
            </a:r>
            <a:br>
              <a:rPr lang="en-US" altLang="zh-CN" sz="2400" b="1" dirty="0">
                <a:latin typeface="Times New Roman" panose="02020603050405020304" charset="0"/>
                <a:cs typeface="Times New Roman" panose="02020603050405020304" charset="0"/>
              </a:rPr>
            </a:br>
            <a:r>
              <a:rPr lang="en-US" altLang="zh-CN" sz="2400" b="1" dirty="0">
                <a:latin typeface="Times New Roman" panose="02020603050405020304" charset="0"/>
                <a:cs typeface="Times New Roman" panose="02020603050405020304" charset="0"/>
              </a:rPr>
              <a:t>International Organizations in the Twentieth Century</a:t>
            </a:r>
            <a:r>
              <a:rPr lang="en-US" altLang="zh-CN" b="1" dirty="0">
                <a:latin typeface="Times New Roman" panose="02020603050405020304" charset="0"/>
                <a:cs typeface="Times New Roman" panose="02020603050405020304" charset="0"/>
              </a:rPr>
              <a:t>  </a:t>
            </a:r>
            <a:endParaRPr lang="en-US" altLang="zh-CN" b="1" dirty="0">
              <a:latin typeface="Times New Roman" panose="02020603050405020304" charset="0"/>
              <a:cs typeface="Times New Roman" panose="02020603050405020304" charset="0"/>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normAutofit fontScale="90000"/>
          </a:bodyPr>
          <a:lstStyle/>
          <a:p>
            <a:pPr algn="l"/>
            <a:r>
              <a:rPr lang="en-US" altLang="zh-CN" dirty="0">
                <a:latin typeface="Times New Roman" panose="02020603050405020304" charset="0"/>
                <a:cs typeface="Times New Roman" panose="02020603050405020304" charset="0"/>
              </a:rPr>
              <a:t>I. The Establishment and Evolution of the League of Nations </a:t>
            </a:r>
            <a:r>
              <a:rPr lang="en-US" altLang="zh-CN" dirty="0">
                <a:latin typeface="Times New Roman" panose="02020603050405020304" charset="0"/>
                <a:cs typeface="Times New Roman" panose="02020603050405020304" charset="0"/>
              </a:rPr>
              <a:t> </a:t>
            </a:r>
            <a:endParaRPr lang="en-US" altLang="zh-CN" dirty="0">
              <a:latin typeface="Times New Roman" panose="02020603050405020304" charset="0"/>
              <a:cs typeface="Times New Roman" panose="02020603050405020304" charset="0"/>
            </a:endParaRPr>
          </a:p>
        </p:txBody>
      </p:sp>
      <p:sp>
        <p:nvSpPr>
          <p:cNvPr id="5" name="内容占位符 4"/>
          <p:cNvSpPr>
            <a:spLocks noGrp="1"/>
          </p:cNvSpPr>
          <p:nvPr>
            <p:ph idx="1"/>
          </p:nvPr>
        </p:nvSpPr>
        <p:spPr>
          <a:xfrm>
            <a:off x="457200" y="1752600"/>
            <a:ext cx="8229600" cy="4697730"/>
          </a:xfrm>
        </p:spPr>
        <p:txBody>
          <a:bodyPr>
            <a:normAutofit fontScale="80000"/>
          </a:bodyPr>
          <a:lstStyle/>
          <a:p>
            <a:pPr>
              <a:lnSpc>
                <a:spcPct val="150000"/>
              </a:lnSpc>
            </a:pPr>
            <a:r>
              <a:rPr lang="en-US" altLang="zh-CN" sz="2400" dirty="0">
                <a:latin typeface="Times New Roman" panose="02020603050405020304" charset="0"/>
                <a:cs typeface="Times New Roman" panose="02020603050405020304" charset="0"/>
              </a:rPr>
              <a:t>- Founded on 10 January 1920.  </a:t>
            </a:r>
            <a:endParaRPr lang="en-US" altLang="zh-CN" sz="2400" dirty="0">
              <a:latin typeface="Times New Roman" panose="02020603050405020304" charset="0"/>
              <a:cs typeface="Times New Roman" panose="02020603050405020304" charset="0"/>
            </a:endParaRPr>
          </a:p>
          <a:p>
            <a:pPr>
              <a:lnSpc>
                <a:spcPct val="150000"/>
              </a:lnSpc>
            </a:pPr>
            <a:r>
              <a:rPr lang="en-US" altLang="zh-CN" sz="2400" dirty="0">
                <a:latin typeface="Times New Roman" panose="02020603050405020304" charset="0"/>
                <a:cs typeface="Times New Roman" panose="02020603050405020304" charset="0"/>
              </a:rPr>
              <a:t>- Marked the opening of a new phase in the history of international organizations.  </a:t>
            </a:r>
            <a:endParaRPr lang="en-US" altLang="zh-CN" sz="2400" dirty="0">
              <a:latin typeface="Times New Roman" panose="02020603050405020304" charset="0"/>
              <a:cs typeface="Times New Roman" panose="02020603050405020304" charset="0"/>
            </a:endParaRPr>
          </a:p>
          <a:p>
            <a:pPr>
              <a:lnSpc>
                <a:spcPct val="150000"/>
              </a:lnSpc>
            </a:pPr>
            <a:r>
              <a:rPr lang="en-US" altLang="zh-CN" sz="2400" dirty="0">
                <a:latin typeface="Times New Roman" panose="02020603050405020304" charset="0"/>
                <a:cs typeface="Times New Roman" panose="02020603050405020304" charset="0"/>
              </a:rPr>
              <a:t>Compared with the “Concert of Europe,” its institutional and legal character was significantly enhanced:  </a:t>
            </a:r>
            <a:endParaRPr lang="en-US" altLang="zh-CN" sz="2400" dirty="0">
              <a:latin typeface="Times New Roman" panose="02020603050405020304" charset="0"/>
              <a:cs typeface="Times New Roman" panose="02020603050405020304" charset="0"/>
            </a:endParaRPr>
          </a:p>
          <a:p>
            <a:pPr>
              <a:lnSpc>
                <a:spcPct val="150000"/>
              </a:lnSpc>
            </a:pPr>
            <a:r>
              <a:rPr lang="en-US" altLang="zh-CN" sz="2400" dirty="0">
                <a:latin typeface="Times New Roman" panose="02020603050405020304" charset="0"/>
                <a:cs typeface="Times New Roman" panose="02020603050405020304" charset="0"/>
              </a:rPr>
              <a:t>  – Institutionally, the League was a tangible body endowed with international legal personality.  </a:t>
            </a:r>
            <a:endParaRPr lang="en-US" altLang="zh-CN" sz="2400" dirty="0">
              <a:latin typeface="Times New Roman" panose="02020603050405020304" charset="0"/>
              <a:cs typeface="Times New Roman" panose="02020603050405020304" charset="0"/>
            </a:endParaRPr>
          </a:p>
          <a:p>
            <a:pPr>
              <a:lnSpc>
                <a:spcPct val="150000"/>
              </a:lnSpc>
            </a:pPr>
            <a:r>
              <a:rPr lang="en-US" altLang="zh-CN" sz="2400" dirty="0">
                <a:latin typeface="Times New Roman" panose="02020603050405020304" charset="0"/>
                <a:cs typeface="Times New Roman" panose="02020603050405020304" charset="0"/>
              </a:rPr>
              <a:t>  – Formally, the Covenant of the League—adopted by the Assembly—was a binding legal instrument that codified principles, rules, and decision-making procedures for international security.</a:t>
            </a:r>
            <a:endParaRPr lang="en-US" altLang="zh-CN" sz="2400" dirty="0">
              <a:latin typeface="Times New Roman" panose="02020603050405020304" charset="0"/>
              <a:cs typeface="Times New Roman" panose="02020603050405020304" charset="0"/>
            </a:endParaRP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latin typeface="Times New Roman" panose="02020603050405020304" charset="0"/>
                <a:cs typeface="Times New Roman" panose="02020603050405020304" charset="0"/>
              </a:rPr>
              <a:t>Principal Organs of the League of Nations </a:t>
            </a:r>
            <a:endParaRPr lang="en-US" altLang="zh-CN" dirty="0">
              <a:latin typeface="Times New Roman" panose="02020603050405020304" charset="0"/>
              <a:cs typeface="Times New Roman" panose="02020603050405020304" charset="0"/>
            </a:endParaRPr>
          </a:p>
        </p:txBody>
      </p:sp>
      <p:sp>
        <p:nvSpPr>
          <p:cNvPr id="3" name="内容占位符 2"/>
          <p:cNvSpPr>
            <a:spLocks noGrp="1"/>
          </p:cNvSpPr>
          <p:nvPr>
            <p:ph idx="1"/>
          </p:nvPr>
        </p:nvSpPr>
        <p:spPr>
          <a:xfrm>
            <a:off x="457200" y="1752600"/>
            <a:ext cx="8229600" cy="4546600"/>
          </a:xfrm>
        </p:spPr>
        <p:txBody>
          <a:bodyPr>
            <a:normAutofit fontScale="90000" lnSpcReduction="20000"/>
          </a:bodyPr>
          <a:lstStyle/>
          <a:p>
            <a:pPr marL="571500" indent="-457200">
              <a:lnSpc>
                <a:spcPct val="150000"/>
              </a:lnSpc>
              <a:buFont typeface="+mj-ea"/>
              <a:buAutoNum type="circleNumDbPlain"/>
            </a:pPr>
            <a:r>
              <a:rPr lang="en-US" altLang="zh-CN" sz="2285" dirty="0">
                <a:latin typeface="Times New Roman" panose="02020603050405020304" charset="0"/>
                <a:cs typeface="Times New Roman" panose="02020603050405020304" charset="0"/>
              </a:rPr>
              <a:t>- Assembly, Council, Secretariat, and the Permanent Court of International Justice.  </a:t>
            </a:r>
            <a:endParaRPr lang="en-US" altLang="zh-CN" sz="2285" dirty="0">
              <a:latin typeface="Times New Roman" panose="02020603050405020304" charset="0"/>
              <a:cs typeface="Times New Roman" panose="02020603050405020304" charset="0"/>
            </a:endParaRPr>
          </a:p>
          <a:p>
            <a:pPr marL="571500" indent="-457200">
              <a:lnSpc>
                <a:spcPct val="150000"/>
              </a:lnSpc>
              <a:buFont typeface="+mj-ea"/>
              <a:buAutoNum type="circleNumDbPlain"/>
            </a:pPr>
            <a:r>
              <a:rPr lang="en-US" altLang="zh-CN" sz="2285" dirty="0">
                <a:latin typeface="Times New Roman" panose="02020603050405020304" charset="0"/>
                <a:cs typeface="Times New Roman" panose="02020603050405020304" charset="0"/>
              </a:rPr>
              <a:t>- Numerous subsidiary bodies: specialized commissions and advisory committees created by the Assembly and the Council.  </a:t>
            </a:r>
            <a:endParaRPr lang="en-US" altLang="zh-CN" sz="2285" dirty="0">
              <a:latin typeface="Times New Roman" panose="02020603050405020304" charset="0"/>
              <a:cs typeface="Times New Roman" panose="02020603050405020304" charset="0"/>
            </a:endParaRPr>
          </a:p>
          <a:p>
            <a:pPr marL="571500" indent="-457200">
              <a:lnSpc>
                <a:spcPct val="150000"/>
              </a:lnSpc>
              <a:buFont typeface="+mj-ea"/>
              <a:buAutoNum type="circleNumDbPlain"/>
            </a:pPr>
            <a:r>
              <a:rPr lang="en-US" altLang="zh-CN" sz="2285" dirty="0">
                <a:latin typeface="Times New Roman" panose="02020603050405020304" charset="0"/>
                <a:cs typeface="Times New Roman" panose="02020603050405020304" charset="0"/>
              </a:rPr>
              <a:t>- Statutorily independent organs: the Permanent Court of International Justice and the International Labour Organization.  </a:t>
            </a:r>
            <a:endParaRPr lang="en-US" altLang="zh-CN" sz="2285" dirty="0">
              <a:latin typeface="Times New Roman" panose="02020603050405020304" charset="0"/>
              <a:cs typeface="Times New Roman" panose="02020603050405020304" charset="0"/>
            </a:endParaRPr>
          </a:p>
          <a:p>
            <a:pPr marL="571500" indent="-457200">
              <a:lnSpc>
                <a:spcPct val="150000"/>
              </a:lnSpc>
              <a:buFont typeface="+mj-ea"/>
              <a:buAutoNum type="circleNumDbPlain"/>
            </a:pPr>
            <a:r>
              <a:rPr lang="en-US" altLang="zh-CN" sz="2285" dirty="0">
                <a:latin typeface="Times New Roman" panose="02020603050405020304" charset="0"/>
                <a:cs typeface="Times New Roman" panose="02020603050405020304" charset="0"/>
              </a:rPr>
              <a:t>- Cooperative agencies: institutions such as the International Institute of Intellectual Cooperation, the International Institute for the Unification of Private Law, and the International Educational Cinematographic Institute that worked with the League.</a:t>
            </a:r>
            <a:endParaRPr lang="en-US" altLang="zh-CN" sz="2285" dirty="0">
              <a:latin typeface="Times New Roman" panose="02020603050405020304" charset="0"/>
              <a:cs typeface="Times New Roman" panose="02020603050405020304" charset="0"/>
            </a:endParaRP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fontScale="90000"/>
          </a:bodyPr>
          <a:p>
            <a:r>
              <a:rPr lang="en-US" altLang="zh-CN"/>
              <a:t>(I) The Assembly and the Council of the League of Nations  </a:t>
            </a:r>
            <a:endParaRPr lang="en-US" altLang="zh-CN"/>
          </a:p>
        </p:txBody>
      </p:sp>
      <p:sp>
        <p:nvSpPr>
          <p:cNvPr id="3" name="内容占位符 2"/>
          <p:cNvSpPr>
            <a:spLocks noGrp="1"/>
          </p:cNvSpPr>
          <p:nvPr>
            <p:ph idx="1"/>
          </p:nvPr>
        </p:nvSpPr>
        <p:spPr>
          <a:xfrm>
            <a:off x="403225" y="1752600"/>
            <a:ext cx="8283575" cy="4504690"/>
          </a:xfrm>
        </p:spPr>
        <p:txBody>
          <a:bodyPr>
            <a:normAutofit fontScale="90000" lnSpcReduction="20000"/>
          </a:bodyPr>
          <a:p>
            <a:r>
              <a:rPr lang="en-US" altLang="zh-CN"/>
              <a:t>(1) The Assembly  </a:t>
            </a:r>
            <a:endParaRPr lang="en-US" altLang="zh-CN"/>
          </a:p>
          <a:p>
            <a:r>
              <a:rPr lang="en-US" altLang="zh-CN"/>
              <a:t>- Modeled on the multilateral diplomatic conferences that had been held for centuries.  </a:t>
            </a:r>
            <a:endParaRPr lang="en-US" altLang="zh-CN"/>
          </a:p>
          <a:p>
            <a:r>
              <a:rPr lang="en-US" altLang="zh-CN"/>
              <a:t>- Each member state had one vote, and decisions required the unanimous consent of all members.  </a:t>
            </a:r>
            <a:endParaRPr lang="en-US" altLang="zh-CN"/>
          </a:p>
          <a:p>
            <a:r>
              <a:rPr lang="en-US" altLang="zh-CN"/>
              <a:t>(2) The Council  </a:t>
            </a:r>
            <a:endParaRPr lang="en-US" altLang="zh-CN"/>
          </a:p>
          <a:p>
            <a:r>
              <a:rPr lang="en-US" altLang="zh-CN"/>
              <a:t>- The Council was the most important organ of the League of Nations.  </a:t>
            </a:r>
            <a:endParaRPr lang="en-US" altLang="zh-CN"/>
          </a:p>
          <a:p>
            <a:r>
              <a:rPr lang="en-US" altLang="zh-CN"/>
              <a:t>- Initially composed of representatives from five permanent members and four non-permanent members.  </a:t>
            </a:r>
            <a:endParaRPr lang="en-US" altLang="zh-CN"/>
          </a:p>
          <a:p>
            <a:r>
              <a:rPr lang="en-US" altLang="zh-CN"/>
              <a:t>- It possessed the same powers as the Assembly, and in addition had the authority to expel member states, allocate mandate territories, and recommend specific military action to governments.  </a:t>
            </a:r>
            <a:endParaRPr lang="en-US" altLang="zh-CN"/>
          </a:p>
          <a:p>
            <a:r>
              <a:rPr lang="en-US" altLang="zh-CN"/>
              <a:t>- Operated on the principle of “collective unanimity.”</a:t>
            </a:r>
            <a:endParaRPr lang="en-US" altLang="zh-CN"/>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fontScale="90000"/>
          </a:bodyPr>
          <a:p>
            <a:r>
              <a:rPr lang="en-US" altLang="zh-CN" dirty="0">
                <a:sym typeface="+mn-ea"/>
              </a:rPr>
              <a:t>(iI) </a:t>
            </a:r>
            <a:r>
              <a:rPr lang="en-US" altLang="zh-CN" dirty="0">
                <a:latin typeface="Times New Roman" panose="02020603050405020304" charset="0"/>
                <a:cs typeface="Times New Roman" panose="02020603050405020304" charset="0"/>
                <a:sym typeface="+mn-ea"/>
              </a:rPr>
              <a:t>The Secretariat and the Permanent Court of International Justice </a:t>
            </a:r>
            <a:endParaRPr lang="zh-CN" altLang="en-US"/>
          </a:p>
        </p:txBody>
      </p:sp>
      <p:sp>
        <p:nvSpPr>
          <p:cNvPr id="3" name="内容占位符 2"/>
          <p:cNvSpPr>
            <a:spLocks noGrp="1"/>
          </p:cNvSpPr>
          <p:nvPr>
            <p:ph idx="1"/>
          </p:nvPr>
        </p:nvSpPr>
        <p:spPr>
          <a:xfrm>
            <a:off x="271145" y="1661160"/>
            <a:ext cx="8587740" cy="5048250"/>
          </a:xfrm>
        </p:spPr>
        <p:txBody>
          <a:bodyPr>
            <a:noAutofit/>
          </a:bodyPr>
          <a:p>
            <a:r>
              <a:rPr lang="en-US" altLang="zh-CN" sz="1700"/>
              <a:t>(3) The Secretariat  </a:t>
            </a:r>
            <a:endParaRPr lang="en-US" altLang="zh-CN" sz="1700"/>
          </a:p>
          <a:p>
            <a:r>
              <a:rPr lang="en-US" altLang="zh-CN" sz="1700"/>
              <a:t>- The Secretariat was the League’s administrative servicing body, staffed by a Secretary-General, secretaries, and clerical personnel.  </a:t>
            </a:r>
            <a:endParaRPr lang="en-US" altLang="zh-CN" sz="1700"/>
          </a:p>
          <a:p>
            <a:r>
              <a:rPr lang="en-US" altLang="zh-CN" sz="1700"/>
              <a:t>- Its civil servants were international in character: recruited solely on merit by the League itself, independent of national nomination.  </a:t>
            </a:r>
            <a:endParaRPr lang="en-US" altLang="zh-CN" sz="1700"/>
          </a:p>
          <a:p>
            <a:r>
              <a:rPr lang="en-US" altLang="zh-CN" sz="1700"/>
              <a:t>- Their remuneration was set at an exceptionally generous level to ensure continuity of service.  </a:t>
            </a:r>
            <a:endParaRPr lang="en-US" altLang="zh-CN" sz="1700"/>
          </a:p>
          <a:p>
            <a:r>
              <a:rPr lang="en-US" altLang="zh-CN" sz="1700"/>
              <a:t>(4) The Permanent Court of International Justice  </a:t>
            </a:r>
            <a:endParaRPr lang="en-US" altLang="zh-CN" sz="1700"/>
          </a:p>
          <a:p>
            <a:r>
              <a:rPr lang="en-US" altLang="zh-CN" sz="1700"/>
              <a:t>- Core principles: sovereign equality of states; voluntary acceptance of jurisdiction; and a democratic rule that arbitral decisions be taken by majority while respecting dissenting opinions.  </a:t>
            </a:r>
            <a:endParaRPr lang="en-US" altLang="zh-CN" sz="1700"/>
          </a:p>
          <a:p>
            <a:r>
              <a:rPr lang="en-US" altLang="zh-CN" sz="1700"/>
              <a:t>- The judicial system was further refined:  </a:t>
            </a:r>
            <a:endParaRPr lang="en-US" altLang="zh-CN" sz="1700"/>
          </a:p>
          <a:p>
            <a:r>
              <a:rPr lang="en-US" altLang="zh-CN" sz="1700"/>
              <a:t>  – “Arbitrators” were replaced by permanent “judges,” forming the Court’s core.  </a:t>
            </a:r>
            <a:endParaRPr lang="en-US" altLang="zh-CN" sz="1700"/>
          </a:p>
          <a:p>
            <a:r>
              <a:rPr lang="en-US" altLang="zh-CN" sz="1700"/>
              <a:t>  – Judges were elected jointly by the Assembly and the Council of the League.  </a:t>
            </a:r>
            <a:endParaRPr lang="en-US" altLang="zh-CN" sz="1700"/>
          </a:p>
          <a:p>
            <a:r>
              <a:rPr lang="en-US" altLang="zh-CN" sz="1700"/>
              <a:t>  – The bench was fixed at eleven judges (later raised to fifteen), supplemented by four deputy-judges, replacing the earlier system under which each member state could appoint up to four arbitrators.</a:t>
            </a:r>
            <a:endParaRPr lang="en-US" altLang="zh-CN" sz="170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fontScale="90000"/>
          </a:bodyPr>
          <a:p>
            <a:r>
              <a:rPr lang="en-US" altLang="zh-CN" sz="2665" dirty="0">
                <a:latin typeface="Times New Roman" panose="02020603050405020304" charset="0"/>
                <a:cs typeface="Times New Roman" panose="02020603050405020304" charset="0"/>
                <a:sym typeface="+mn-ea"/>
              </a:rPr>
              <a:t>II. The Establishment and Evolution of the United Nations</a:t>
            </a:r>
            <a:br>
              <a:rPr lang="en-US" altLang="zh-CN" sz="2665" dirty="0">
                <a:latin typeface="Times New Roman" panose="02020603050405020304" charset="0"/>
                <a:cs typeface="Times New Roman" panose="02020603050405020304" charset="0"/>
                <a:sym typeface="+mn-ea"/>
              </a:rPr>
            </a:br>
            <a:r>
              <a:rPr lang="en-US" altLang="zh-CN" sz="2665" dirty="0">
                <a:latin typeface="Times New Roman" panose="02020603050405020304" charset="0"/>
                <a:cs typeface="Times New Roman" panose="02020603050405020304" charset="0"/>
                <a:sym typeface="+mn-ea"/>
              </a:rPr>
              <a:t> Key Milestones in the Founding of the United Nations</a:t>
            </a:r>
            <a:endParaRPr lang="zh-CN" altLang="en-US" sz="2665"/>
          </a:p>
        </p:txBody>
      </p:sp>
      <p:sp>
        <p:nvSpPr>
          <p:cNvPr id="3" name="内容占位符 2"/>
          <p:cNvSpPr>
            <a:spLocks noGrp="1"/>
          </p:cNvSpPr>
          <p:nvPr>
            <p:ph idx="1"/>
          </p:nvPr>
        </p:nvSpPr>
        <p:spPr>
          <a:xfrm>
            <a:off x="313690" y="1875790"/>
            <a:ext cx="8373745" cy="4815840"/>
          </a:xfrm>
        </p:spPr>
        <p:txBody>
          <a:bodyPr>
            <a:normAutofit fontScale="60000"/>
          </a:bodyPr>
          <a:p>
            <a:r>
              <a:rPr lang="en-US" altLang="zh-CN"/>
              <a:t>| Date                  | Milestone                                                                                                                                                                                         |------------------------------------------------------------------------------------------ |</a:t>
            </a:r>
            <a:endParaRPr lang="en-US" altLang="zh-CN"/>
          </a:p>
          <a:p>
            <a:r>
              <a:rPr lang="en-US" altLang="zh-CN"/>
              <a:t>| June 1941           | The Declaration of St. James’s Palace (London) – first step toward creating the United   Nations.                                                                                                   |</a:t>
            </a:r>
            <a:endParaRPr lang="en-US" altLang="zh-CN"/>
          </a:p>
          <a:p>
            <a:r>
              <a:rPr lang="en-US" altLang="zh-CN"/>
              <a:t>| January 1942        | Representatives of 26 states (including China, the United States, the United Kingdom, and the USSR) sign the Declaration by United Nations in Washington, first use of the term “United Nations.” |</a:t>
            </a:r>
            <a:endParaRPr lang="en-US" altLang="zh-CN"/>
          </a:p>
          <a:p>
            <a:r>
              <a:rPr lang="en-US" altLang="zh-CN"/>
              <a:t>| October 1943        | Representatives of China, the United States, the United Kingdom, and the USSR meet in  Moscow and issue the Four-Nation Declaration on General Security.                                           |</a:t>
            </a:r>
            <a:endParaRPr lang="en-US" altLang="zh-CN"/>
          </a:p>
          <a:p>
            <a:r>
              <a:rPr lang="en-US" altLang="zh-CN"/>
              <a:t>| August–October 1944  | Dumbarton Oaks Conference produces proposals for the structure of the United Nations.                                                                                                             |</a:t>
            </a:r>
            <a:endParaRPr lang="en-US" altLang="zh-CN"/>
          </a:p>
          <a:p>
            <a:r>
              <a:rPr lang="en-US" altLang="zh-CN"/>
              <a:t>| 25 April 1945        | Fifty nations convene the United Nations Conference on International Organization in San Francisco.                                                                                               |</a:t>
            </a:r>
            <a:endParaRPr lang="en-US" altLang="zh-CN"/>
          </a:p>
          <a:p>
            <a:r>
              <a:rPr lang="en-US" altLang="zh-CN"/>
              <a:t>| 25 June 1945        | The Charter of the United Nations is adopted.                                                                                                                                                     |</a:t>
            </a:r>
            <a:endParaRPr lang="en-US" altLang="zh-CN"/>
          </a:p>
          <a:p>
            <a:r>
              <a:rPr lang="en-US" altLang="zh-CN"/>
              <a:t>| 26 June 1945        | Representatives of 50 states sign the Charter of the United Nations.                                                                                                                              |</a:t>
            </a:r>
            <a:endParaRPr lang="en-US" altLang="zh-CN"/>
          </a:p>
          <a:p>
            <a:r>
              <a:rPr lang="en-US" altLang="zh-CN"/>
              <a:t>| 24 October 1945      | The Charter enters into force and the United Nations is officially established.  </a:t>
            </a:r>
            <a:endParaRPr lang="en-US" altLang="zh-CN"/>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t>(I) Purposes of the United Nations  </a:t>
            </a:r>
            <a:endParaRPr lang="en-US" altLang="zh-CN" dirty="0"/>
          </a:p>
        </p:txBody>
      </p:sp>
      <p:sp>
        <p:nvSpPr>
          <p:cNvPr id="3" name="内容占位符 2"/>
          <p:cNvSpPr>
            <a:spLocks noGrp="1"/>
          </p:cNvSpPr>
          <p:nvPr>
            <p:ph idx="1"/>
          </p:nvPr>
        </p:nvSpPr>
        <p:spPr>
          <a:xfrm>
            <a:off x="457200" y="1752600"/>
            <a:ext cx="8229600" cy="5000625"/>
          </a:xfrm>
        </p:spPr>
        <p:txBody>
          <a:bodyPr>
            <a:normAutofit fontScale="80000"/>
          </a:bodyPr>
          <a:lstStyle/>
          <a:p>
            <a:pPr marL="114300" indent="0">
              <a:lnSpc>
                <a:spcPct val="150000"/>
              </a:lnSpc>
              <a:buNone/>
            </a:pPr>
            <a:r>
              <a:rPr lang="en-US" altLang="zh-CN" sz="2500" dirty="0">
                <a:latin typeface="Times New Roman" panose="02020603050405020304" charset="0"/>
                <a:cs typeface="Times New Roman" panose="02020603050405020304" charset="0"/>
              </a:rPr>
              <a:t>As set forth in the Charter of the United Nations:  </a:t>
            </a:r>
            <a:endParaRPr lang="en-US" altLang="zh-CN" sz="2500" dirty="0">
              <a:latin typeface="Times New Roman" panose="02020603050405020304" charset="0"/>
              <a:cs typeface="Times New Roman" panose="02020603050405020304" charset="0"/>
            </a:endParaRPr>
          </a:p>
          <a:p>
            <a:pPr marL="114300" indent="0">
              <a:lnSpc>
                <a:spcPct val="150000"/>
              </a:lnSpc>
              <a:buNone/>
            </a:pPr>
            <a:endParaRPr lang="en-US" altLang="zh-CN" sz="2500" dirty="0">
              <a:latin typeface="Times New Roman" panose="02020603050405020304" charset="0"/>
              <a:cs typeface="Times New Roman" panose="02020603050405020304" charset="0"/>
            </a:endParaRPr>
          </a:p>
          <a:p>
            <a:pPr marL="114300" indent="0">
              <a:lnSpc>
                <a:spcPct val="150000"/>
              </a:lnSpc>
              <a:buNone/>
            </a:pPr>
            <a:r>
              <a:rPr lang="en-US" altLang="zh-CN" sz="2500" dirty="0">
                <a:latin typeface="Times New Roman" panose="02020603050405020304" charset="0"/>
                <a:cs typeface="Times New Roman" panose="02020603050405020304" charset="0"/>
              </a:rPr>
              <a:t>- To maintain international peace and security;  </a:t>
            </a:r>
            <a:endParaRPr lang="en-US" altLang="zh-CN" sz="2500" dirty="0">
              <a:latin typeface="Times New Roman" panose="02020603050405020304" charset="0"/>
              <a:cs typeface="Times New Roman" panose="02020603050405020304" charset="0"/>
            </a:endParaRPr>
          </a:p>
          <a:p>
            <a:pPr marL="114300" indent="0">
              <a:lnSpc>
                <a:spcPct val="150000"/>
              </a:lnSpc>
              <a:buNone/>
            </a:pPr>
            <a:r>
              <a:rPr lang="en-US" altLang="zh-CN" sz="2500" dirty="0">
                <a:latin typeface="Times New Roman" panose="02020603050405020304" charset="0"/>
                <a:cs typeface="Times New Roman" panose="02020603050405020304" charset="0"/>
              </a:rPr>
              <a:t>- To develop friendly relations among nations based on respect for the principle of equal rights and self-determination of peoples;  </a:t>
            </a:r>
            <a:endParaRPr lang="en-US" altLang="zh-CN" sz="2500" dirty="0">
              <a:latin typeface="Times New Roman" panose="02020603050405020304" charset="0"/>
              <a:cs typeface="Times New Roman" panose="02020603050405020304" charset="0"/>
            </a:endParaRPr>
          </a:p>
          <a:p>
            <a:pPr marL="114300" indent="0">
              <a:lnSpc>
                <a:spcPct val="150000"/>
              </a:lnSpc>
              <a:buNone/>
            </a:pPr>
            <a:r>
              <a:rPr lang="en-US" altLang="zh-CN" sz="2500" dirty="0">
                <a:latin typeface="Times New Roman" panose="02020603050405020304" charset="0"/>
                <a:cs typeface="Times New Roman" panose="02020603050405020304" charset="0"/>
              </a:rPr>
              <a:t>- To achieve international cooperation in solving international problems of an economic, social, cultural, or humanitarian character;  </a:t>
            </a:r>
            <a:endParaRPr lang="en-US" altLang="zh-CN" sz="2500" dirty="0">
              <a:latin typeface="Times New Roman" panose="02020603050405020304" charset="0"/>
              <a:cs typeface="Times New Roman" panose="02020603050405020304" charset="0"/>
            </a:endParaRPr>
          </a:p>
          <a:p>
            <a:pPr marL="114300" indent="0">
              <a:lnSpc>
                <a:spcPct val="150000"/>
              </a:lnSpc>
              <a:buNone/>
            </a:pPr>
            <a:r>
              <a:rPr lang="en-US" altLang="zh-CN" sz="2500" dirty="0">
                <a:latin typeface="Times New Roman" panose="02020603050405020304" charset="0"/>
                <a:cs typeface="Times New Roman" panose="02020603050405020304" charset="0"/>
              </a:rPr>
              <a:t>- To be a center for harmonizing the actions of nations in the attainment of these common ends.</a:t>
            </a:r>
            <a:endParaRPr lang="en-US" altLang="zh-CN" sz="2500" dirty="0">
              <a:latin typeface="Times New Roman" panose="02020603050405020304" charset="0"/>
              <a:cs typeface="Times New Roman" panose="02020603050405020304" charset="0"/>
            </a:endParaRP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t>(II) Principles of the United Nations </a:t>
            </a:r>
            <a:endParaRPr lang="en-US" altLang="zh-CN" dirty="0"/>
          </a:p>
        </p:txBody>
      </p:sp>
      <p:sp>
        <p:nvSpPr>
          <p:cNvPr id="3" name="内容占位符 2"/>
          <p:cNvSpPr>
            <a:spLocks noGrp="1"/>
          </p:cNvSpPr>
          <p:nvPr>
            <p:ph idx="1"/>
          </p:nvPr>
        </p:nvSpPr>
        <p:spPr>
          <a:xfrm>
            <a:off x="457200" y="1752600"/>
            <a:ext cx="8365490" cy="4925695"/>
          </a:xfrm>
        </p:spPr>
        <p:txBody>
          <a:bodyPr>
            <a:normAutofit fontScale="80000"/>
          </a:bodyPr>
          <a:lstStyle/>
          <a:p>
            <a:pPr marL="114300" indent="0">
              <a:lnSpc>
                <a:spcPct val="150000"/>
              </a:lnSpc>
              <a:buNone/>
            </a:pPr>
            <a:r>
              <a:rPr lang="en-US" altLang="zh-CN" dirty="0">
                <a:latin typeface="Times New Roman" panose="02020603050405020304" charset="0"/>
                <a:cs typeface="Times New Roman" panose="02020603050405020304" charset="0"/>
              </a:rPr>
              <a:t>1. Sovereign equality of all Member States.  </a:t>
            </a:r>
            <a:endParaRPr lang="en-US" altLang="zh-CN" dirty="0">
              <a:latin typeface="Times New Roman" panose="02020603050405020304" charset="0"/>
              <a:cs typeface="Times New Roman" panose="02020603050405020304" charset="0"/>
            </a:endParaRPr>
          </a:p>
          <a:p>
            <a:pPr marL="114300" indent="0">
              <a:lnSpc>
                <a:spcPct val="150000"/>
              </a:lnSpc>
              <a:buNone/>
            </a:pPr>
            <a:r>
              <a:rPr lang="en-US" altLang="zh-CN" dirty="0">
                <a:latin typeface="Times New Roman" panose="02020603050405020304" charset="0"/>
                <a:cs typeface="Times New Roman" panose="02020603050405020304" charset="0"/>
              </a:rPr>
              <a:t>2. Fulfillment in good faith of Charter obligations.  </a:t>
            </a:r>
            <a:endParaRPr lang="en-US" altLang="zh-CN" dirty="0">
              <a:latin typeface="Times New Roman" panose="02020603050405020304" charset="0"/>
              <a:cs typeface="Times New Roman" panose="02020603050405020304" charset="0"/>
            </a:endParaRPr>
          </a:p>
          <a:p>
            <a:pPr marL="114300" indent="0">
              <a:lnSpc>
                <a:spcPct val="150000"/>
              </a:lnSpc>
              <a:buNone/>
            </a:pPr>
            <a:r>
              <a:rPr lang="en-US" altLang="zh-CN" dirty="0">
                <a:latin typeface="Times New Roman" panose="02020603050405020304" charset="0"/>
                <a:cs typeface="Times New Roman" panose="02020603050405020304" charset="0"/>
              </a:rPr>
              <a:t>3. Peaceful settlement of international disputes.  </a:t>
            </a:r>
            <a:endParaRPr lang="en-US" altLang="zh-CN" dirty="0">
              <a:latin typeface="Times New Roman" panose="02020603050405020304" charset="0"/>
              <a:cs typeface="Times New Roman" panose="02020603050405020304" charset="0"/>
            </a:endParaRPr>
          </a:p>
          <a:p>
            <a:pPr marL="114300" indent="0">
              <a:lnSpc>
                <a:spcPct val="150000"/>
              </a:lnSpc>
              <a:buNone/>
            </a:pPr>
            <a:r>
              <a:rPr lang="en-US" altLang="zh-CN" dirty="0">
                <a:latin typeface="Times New Roman" panose="02020603050405020304" charset="0"/>
                <a:cs typeface="Times New Roman" panose="02020603050405020304" charset="0"/>
              </a:rPr>
              <a:t>4. Refraining from the threat or use of force.  </a:t>
            </a:r>
            <a:endParaRPr lang="en-US" altLang="zh-CN" dirty="0">
              <a:latin typeface="Times New Roman" panose="02020603050405020304" charset="0"/>
              <a:cs typeface="Times New Roman" panose="02020603050405020304" charset="0"/>
            </a:endParaRPr>
          </a:p>
          <a:p>
            <a:pPr marL="114300" indent="0">
              <a:lnSpc>
                <a:spcPct val="150000"/>
              </a:lnSpc>
              <a:buNone/>
            </a:pPr>
            <a:r>
              <a:rPr lang="en-US" altLang="zh-CN" dirty="0">
                <a:latin typeface="Times New Roman" panose="02020603050405020304" charset="0"/>
                <a:cs typeface="Times New Roman" panose="02020603050405020304" charset="0"/>
              </a:rPr>
              <a:t>5. Collective assistance in actions taken under the Charter.  </a:t>
            </a:r>
            <a:endParaRPr lang="en-US" altLang="zh-CN" dirty="0">
              <a:latin typeface="Times New Roman" panose="02020603050405020304" charset="0"/>
              <a:cs typeface="Times New Roman" panose="02020603050405020304" charset="0"/>
            </a:endParaRPr>
          </a:p>
          <a:p>
            <a:pPr marL="114300" indent="0">
              <a:lnSpc>
                <a:spcPct val="150000"/>
              </a:lnSpc>
              <a:buNone/>
            </a:pPr>
            <a:r>
              <a:rPr lang="en-US" altLang="zh-CN" dirty="0">
                <a:latin typeface="Times New Roman" panose="02020603050405020304" charset="0"/>
                <a:cs typeface="Times New Roman" panose="02020603050405020304" charset="0"/>
              </a:rPr>
              <a:t>6. Ensuring that non-Member States act in accordance with these principles so far as necessary for the maintenance of international peace and security.  </a:t>
            </a:r>
            <a:endParaRPr lang="en-US" altLang="zh-CN" dirty="0">
              <a:latin typeface="Times New Roman" panose="02020603050405020304" charset="0"/>
              <a:cs typeface="Times New Roman" panose="02020603050405020304" charset="0"/>
            </a:endParaRPr>
          </a:p>
          <a:p>
            <a:pPr marL="114300" indent="0">
              <a:lnSpc>
                <a:spcPct val="150000"/>
              </a:lnSpc>
              <a:buNone/>
            </a:pPr>
            <a:r>
              <a:rPr lang="en-US" altLang="zh-CN" dirty="0">
                <a:latin typeface="Times New Roman" panose="02020603050405020304" charset="0"/>
                <a:cs typeface="Times New Roman" panose="02020603050405020304" charset="0"/>
              </a:rPr>
              <a:t>7. Non-intervention in matters essentially within the domestic jurisdiction of any State.</a:t>
            </a:r>
            <a:endParaRPr lang="en-US" altLang="zh-CN" dirty="0">
              <a:latin typeface="Times New Roman" panose="02020603050405020304" charset="0"/>
              <a:cs typeface="Times New Roman" panose="02020603050405020304" charset="0"/>
            </a:endParaRP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latin typeface="Times New Roman" panose="02020603050405020304" charset="0"/>
                <a:cs typeface="Times New Roman" panose="02020603050405020304" charset="0"/>
              </a:rPr>
              <a:t>(III) Historical Stages of the United Nations </a:t>
            </a:r>
            <a:r>
              <a:rPr lang="en-US" altLang="zh-CN" dirty="0"/>
              <a:t> </a:t>
            </a:r>
            <a:endParaRPr lang="en-US" altLang="zh-CN" dirty="0"/>
          </a:p>
        </p:txBody>
      </p:sp>
      <p:sp>
        <p:nvSpPr>
          <p:cNvPr id="3" name="内容占位符 2"/>
          <p:cNvSpPr>
            <a:spLocks noGrp="1"/>
          </p:cNvSpPr>
          <p:nvPr>
            <p:ph idx="1"/>
          </p:nvPr>
        </p:nvSpPr>
        <p:spPr>
          <a:xfrm>
            <a:off x="307975" y="1465580"/>
            <a:ext cx="8580120" cy="5298440"/>
          </a:xfrm>
        </p:spPr>
        <p:txBody>
          <a:bodyPr>
            <a:noAutofit/>
          </a:bodyPr>
          <a:lstStyle/>
          <a:p>
            <a:pPr marL="114300" indent="0">
              <a:lnSpc>
                <a:spcPct val="170000"/>
              </a:lnSpc>
              <a:buNone/>
            </a:pPr>
            <a:r>
              <a:rPr lang="en-US" altLang="zh-CN" sz="2000" dirty="0">
                <a:latin typeface="Times New Roman" panose="02020603050405020304" charset="0"/>
                <a:cs typeface="Times New Roman" panose="02020603050405020304" charset="0"/>
              </a:rPr>
              <a:t>- (1) The early years of the UN: a hegemonic instrument dominated by the United States.  </a:t>
            </a:r>
            <a:endParaRPr lang="en-US" altLang="zh-CN" sz="2000" dirty="0">
              <a:latin typeface="Times New Roman" panose="02020603050405020304" charset="0"/>
              <a:cs typeface="Times New Roman" panose="02020603050405020304" charset="0"/>
            </a:endParaRPr>
          </a:p>
          <a:p>
            <a:pPr marL="114300" indent="0">
              <a:lnSpc>
                <a:spcPct val="170000"/>
              </a:lnSpc>
              <a:buNone/>
            </a:pPr>
            <a:r>
              <a:rPr lang="en-US" altLang="zh-CN" sz="2000" dirty="0">
                <a:latin typeface="Times New Roman" panose="02020603050405020304" charset="0"/>
                <a:cs typeface="Times New Roman" panose="02020603050405020304" charset="0"/>
              </a:rPr>
              <a:t>- (2) After the 1960s, during the Cold War: the UN became an arena for U.S.–Soviet rivalry, and the Security Council veto was wielded by both sides as a weapon in their confrontations.  </a:t>
            </a:r>
            <a:endParaRPr lang="en-US" altLang="zh-CN" sz="2000" dirty="0">
              <a:latin typeface="Times New Roman" panose="02020603050405020304" charset="0"/>
              <a:cs typeface="Times New Roman" panose="02020603050405020304" charset="0"/>
            </a:endParaRPr>
          </a:p>
          <a:p>
            <a:pPr marL="114300" indent="0">
              <a:lnSpc>
                <a:spcPct val="170000"/>
              </a:lnSpc>
              <a:buNone/>
            </a:pPr>
            <a:r>
              <a:rPr lang="en-US" altLang="zh-CN" sz="2000" dirty="0">
                <a:latin typeface="Times New Roman" panose="02020603050405020304" charset="0"/>
                <a:cs typeface="Times New Roman" panose="02020603050405020304" charset="0"/>
              </a:rPr>
              <a:t>- (3) After the 1960s, as decolonization accelerated: the UN evolved into a forum for Third-World states to oppose hegemonism and power politics, and a venue where small and medium-sized countries could assert justice, thereby expanding its role in maintaining world peace and promoting global development.</a:t>
            </a:r>
            <a:endParaRPr lang="en-US" altLang="zh-CN" sz="2000" dirty="0">
              <a:latin typeface="Times New Roman" panose="02020603050405020304" charset="0"/>
              <a:cs typeface="Times New Roman" panose="02020603050405020304" charset="0"/>
            </a:endParaRP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3110" dirty="0">
                <a:latin typeface="Times New Roman" panose="02020603050405020304" charset="0"/>
                <a:cs typeface="Times New Roman" panose="02020603050405020304" charset="0"/>
              </a:rPr>
              <a:t>(III) Historical Stages of the United Nations (continued)</a:t>
            </a:r>
            <a:endParaRPr lang="en-US" altLang="zh-CN" sz="3110" dirty="0">
              <a:latin typeface="Times New Roman" panose="02020603050405020304" charset="0"/>
              <a:cs typeface="Times New Roman" panose="02020603050405020304" charset="0"/>
            </a:endParaRPr>
          </a:p>
        </p:txBody>
      </p:sp>
      <p:sp>
        <p:nvSpPr>
          <p:cNvPr id="3" name="内容占位符 2"/>
          <p:cNvSpPr>
            <a:spLocks noGrp="1"/>
          </p:cNvSpPr>
          <p:nvPr>
            <p:ph idx="1"/>
          </p:nvPr>
        </p:nvSpPr>
        <p:spPr>
          <a:xfrm>
            <a:off x="457200" y="1752600"/>
            <a:ext cx="8229600" cy="4961255"/>
          </a:xfrm>
        </p:spPr>
        <p:txBody>
          <a:bodyPr>
            <a:normAutofit fontScale="80000"/>
          </a:bodyPr>
          <a:lstStyle/>
          <a:p>
            <a:pPr marL="114300" indent="0">
              <a:lnSpc>
                <a:spcPct val="150000"/>
              </a:lnSpc>
              <a:buNone/>
            </a:pPr>
            <a:r>
              <a:rPr lang="en-US" altLang="zh-CN" dirty="0"/>
              <a:t>(4) The 1990s – after the Cold War  </a:t>
            </a:r>
            <a:endParaRPr lang="en-US" altLang="zh-CN" dirty="0"/>
          </a:p>
          <a:p>
            <a:pPr marL="114300" indent="0">
              <a:lnSpc>
                <a:spcPct val="150000"/>
              </a:lnSpc>
              <a:buNone/>
            </a:pPr>
            <a:r>
              <a:rPr lang="en-US" altLang="zh-CN" dirty="0"/>
              <a:t>- UN activities spread to every corner of the globe.  </a:t>
            </a:r>
            <a:endParaRPr lang="en-US" altLang="zh-CN" dirty="0"/>
          </a:p>
          <a:p>
            <a:pPr marL="114300" indent="0">
              <a:lnSpc>
                <a:spcPct val="150000"/>
              </a:lnSpc>
              <a:buNone/>
            </a:pPr>
            <a:r>
              <a:rPr lang="en-US" altLang="zh-CN" dirty="0"/>
              <a:t>- The agenda widened dramatically: global warming, ecological balance, arms control and disarmament, regional conflicts, peace-keeping and disaster relief, anti-money-laundering, anti-smuggling, anti-narcotics, anti-poverty, HIV/AIDS prevention, plus education, science, technology, culture and human rights.  </a:t>
            </a:r>
            <a:endParaRPr lang="en-US" altLang="zh-CN" dirty="0"/>
          </a:p>
          <a:p>
            <a:pPr marL="114300" indent="0">
              <a:lnSpc>
                <a:spcPct val="150000"/>
              </a:lnSpc>
              <a:buNone/>
            </a:pPr>
            <a:r>
              <a:rPr lang="en-US" altLang="zh-CN" dirty="0"/>
              <a:t>- Peace-keeping evolved into multi-functional operations encompassing political, social, economic and humanitarian tasks, growing sharply in both number and size.</a:t>
            </a:r>
            <a:endParaRPr lang="en-US" altLang="zh-CN" dirty="0"/>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pPr algn="l"/>
            <a:r>
              <a:rPr lang="en-US" altLang="zh-CN" sz="3110" dirty="0">
                <a:latin typeface="Times New Roman" panose="02020603050405020304" charset="0"/>
                <a:cs typeface="Times New Roman" panose="02020603050405020304" charset="0"/>
              </a:rPr>
              <a:t>III. Other International Organizations after World War II </a:t>
            </a:r>
            <a:r>
              <a:rPr lang="en-US" altLang="zh-CN" dirty="0"/>
              <a:t> </a:t>
            </a:r>
            <a:endParaRPr lang="en-US" altLang="zh-CN" dirty="0"/>
          </a:p>
        </p:txBody>
      </p:sp>
      <p:sp>
        <p:nvSpPr>
          <p:cNvPr id="3" name="内容占位符 2"/>
          <p:cNvSpPr>
            <a:spLocks noGrp="1"/>
          </p:cNvSpPr>
          <p:nvPr>
            <p:ph idx="1"/>
          </p:nvPr>
        </p:nvSpPr>
        <p:spPr>
          <a:xfrm>
            <a:off x="358775" y="1690370"/>
            <a:ext cx="8434705" cy="4954270"/>
          </a:xfrm>
        </p:spPr>
        <p:txBody>
          <a:bodyPr>
            <a:noAutofit/>
          </a:bodyPr>
          <a:lstStyle/>
          <a:p>
            <a:pPr marL="571500" indent="-457200">
              <a:lnSpc>
                <a:spcPct val="160000"/>
              </a:lnSpc>
              <a:buFont typeface="+mj-lt"/>
              <a:buAutoNum type="arabicPeriod"/>
            </a:pPr>
            <a:r>
              <a:rPr lang="en-US" altLang="zh-CN" sz="1500" dirty="0">
                <a:latin typeface="Times New Roman" panose="02020603050405020304" charset="0"/>
                <a:cs typeface="Times New Roman" panose="02020603050405020304" charset="0"/>
              </a:rPr>
              <a:t>A host of economically oriented international bodies were created.  </a:t>
            </a:r>
            <a:endParaRPr lang="en-US" altLang="zh-CN" sz="1500" dirty="0">
              <a:latin typeface="Times New Roman" panose="02020603050405020304" charset="0"/>
              <a:cs typeface="Times New Roman" panose="02020603050405020304" charset="0"/>
            </a:endParaRPr>
          </a:p>
          <a:p>
            <a:pPr marL="571500" indent="-457200">
              <a:lnSpc>
                <a:spcPct val="160000"/>
              </a:lnSpc>
              <a:buFont typeface="+mj-lt"/>
              <a:buAutoNum type="arabicPeriod"/>
            </a:pPr>
            <a:r>
              <a:rPr lang="en-US" altLang="zh-CN" sz="1500" dirty="0">
                <a:latin typeface="Times New Roman" panose="02020603050405020304" charset="0"/>
                <a:cs typeface="Times New Roman" panose="02020603050405020304" charset="0"/>
              </a:rPr>
              <a:t>- Region-based organizations multiplied rapidly, becoming a major component of the global institutional system. </a:t>
            </a:r>
            <a:endParaRPr lang="en-US" altLang="zh-CN" sz="1500" dirty="0">
              <a:latin typeface="Times New Roman" panose="02020603050405020304" charset="0"/>
              <a:cs typeface="Times New Roman" panose="02020603050405020304" charset="0"/>
            </a:endParaRPr>
          </a:p>
          <a:p>
            <a:pPr marL="114300" indent="0">
              <a:lnSpc>
                <a:spcPct val="160000"/>
              </a:lnSpc>
              <a:buFont typeface="+mj-lt"/>
              <a:buNone/>
            </a:pPr>
            <a:r>
              <a:rPr lang="en-US" altLang="zh-CN" sz="1500" dirty="0">
                <a:latin typeface="Times New Roman" panose="02020603050405020304" charset="0"/>
                <a:cs typeface="Times New Roman" panose="02020603050405020304" charset="0"/>
              </a:rPr>
              <a:t>    Reasons:  </a:t>
            </a:r>
            <a:endParaRPr lang="en-US" altLang="zh-CN" sz="1500" dirty="0">
              <a:latin typeface="Times New Roman" panose="02020603050405020304" charset="0"/>
              <a:cs typeface="Times New Roman" panose="02020603050405020304" charset="0"/>
            </a:endParaRPr>
          </a:p>
          <a:p>
            <a:pPr marL="114300" indent="0">
              <a:lnSpc>
                <a:spcPct val="160000"/>
              </a:lnSpc>
              <a:buFont typeface="+mj-lt"/>
              <a:buNone/>
            </a:pPr>
            <a:r>
              <a:rPr lang="en-US" altLang="zh-CN" sz="1500" dirty="0">
                <a:latin typeface="Times New Roman" panose="02020603050405020304" charset="0"/>
                <a:cs typeface="Times New Roman" panose="02020603050405020304" charset="0"/>
              </a:rPr>
              <a:t>    – The East–West divide turned regional alliances into key vehicles for each camp.  </a:t>
            </a:r>
            <a:endParaRPr lang="en-US" altLang="zh-CN" sz="1500" dirty="0">
              <a:latin typeface="Times New Roman" panose="02020603050405020304" charset="0"/>
              <a:cs typeface="Times New Roman" panose="02020603050405020304" charset="0"/>
            </a:endParaRPr>
          </a:p>
          <a:p>
            <a:pPr marL="114300" indent="0">
              <a:lnSpc>
                <a:spcPct val="160000"/>
              </a:lnSpc>
              <a:buFont typeface="+mj-lt"/>
              <a:buNone/>
            </a:pPr>
            <a:r>
              <a:rPr lang="en-US" altLang="zh-CN" sz="1500" dirty="0">
                <a:latin typeface="Times New Roman" panose="02020603050405020304" charset="0"/>
                <a:cs typeface="Times New Roman" panose="02020603050405020304" charset="0"/>
              </a:rPr>
              <a:t>    – To safeguard their own security and interests and to restore Europe’s international standing and competitiveness, Western European states embarked on a path of unity and self-strengthening.  </a:t>
            </a:r>
            <a:endParaRPr lang="en-US" altLang="zh-CN" sz="1500" dirty="0">
              <a:latin typeface="Times New Roman" panose="02020603050405020304" charset="0"/>
              <a:cs typeface="Times New Roman" panose="02020603050405020304" charset="0"/>
            </a:endParaRPr>
          </a:p>
          <a:p>
            <a:pPr marL="571500" indent="-457200">
              <a:lnSpc>
                <a:spcPct val="160000"/>
              </a:lnSpc>
              <a:buFont typeface="+mj-lt"/>
              <a:buAutoNum type="arabicPeriod"/>
            </a:pPr>
            <a:r>
              <a:rPr lang="en-US" altLang="zh-CN" sz="1500" dirty="0">
                <a:latin typeface="Times New Roman" panose="02020603050405020304" charset="0"/>
                <a:cs typeface="Times New Roman" panose="02020603050405020304" charset="0"/>
              </a:rPr>
              <a:t>  – South–South cooperation among developing countries likewise fueled the growth of regional groupings.  </a:t>
            </a:r>
            <a:endParaRPr lang="en-US" altLang="zh-CN" sz="1500" dirty="0">
              <a:latin typeface="Times New Roman" panose="02020603050405020304" charset="0"/>
              <a:cs typeface="Times New Roman" panose="02020603050405020304" charset="0"/>
            </a:endParaRPr>
          </a:p>
          <a:p>
            <a:pPr marL="571500" indent="-457200">
              <a:lnSpc>
                <a:spcPct val="160000"/>
              </a:lnSpc>
              <a:buFont typeface="+mj-lt"/>
              <a:buAutoNum type="arabicPeriod"/>
            </a:pPr>
            <a:r>
              <a:rPr lang="en-US" altLang="zh-CN" sz="1500" dirty="0">
                <a:latin typeface="Times New Roman" panose="02020603050405020304" charset="0"/>
                <a:cs typeface="Times New Roman" panose="02020603050405020304" charset="0"/>
              </a:rPr>
              <a:t>- Producer-based commodity organizations were also established, e.g., the Organization of the Petroleum Exporting Countries (OPEC), the International Cocoa Organization, and the International Coffee Organization.</a:t>
            </a:r>
            <a:endParaRPr lang="en-US" altLang="zh-CN" sz="1500" dirty="0">
              <a:latin typeface="Times New Roman" panose="02020603050405020304" charset="0"/>
              <a:cs typeface="Times New Roman" panose="02020603050405020304" charset="0"/>
            </a:endParaRP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85495" y="2928620"/>
            <a:ext cx="7696200" cy="1623695"/>
          </a:xfrm>
        </p:spPr>
        <p:txBody>
          <a:bodyPr/>
          <a:lstStyle/>
          <a:p>
            <a:r>
              <a:rPr lang="en-US" altLang="zh-CN" sz="2800" b="1" dirty="0">
                <a:latin typeface="Times New Roman" panose="02020603050405020304" charset="0"/>
                <a:cs typeface="Times New Roman" panose="02020603050405020304" charset="0"/>
              </a:rPr>
              <a:t>Section three</a:t>
            </a:r>
            <a:br>
              <a:rPr lang="en-US" altLang="zh-CN" sz="2800" b="1" dirty="0">
                <a:latin typeface="Times New Roman" panose="02020603050405020304" charset="0"/>
                <a:cs typeface="Times New Roman" panose="02020603050405020304" charset="0"/>
              </a:rPr>
            </a:br>
            <a:r>
              <a:rPr lang="en-US" altLang="zh-CN" sz="2800" b="1" dirty="0">
                <a:latin typeface="Times New Roman" panose="02020603050405020304" charset="0"/>
                <a:cs typeface="Times New Roman" panose="02020603050405020304" charset="0"/>
              </a:rPr>
              <a:t>International Organizations in the Twenty-First Century</a:t>
            </a:r>
            <a:endParaRPr lang="en-US" altLang="zh-CN" sz="2800" b="1" dirty="0">
              <a:latin typeface="Times New Roman" panose="02020603050405020304" charset="0"/>
              <a:cs typeface="Times New Roman" panose="02020603050405020304" charset="0"/>
            </a:endParaRP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sz="3110" dirty="0">
                <a:latin typeface="Times New Roman" panose="02020603050405020304" charset="0"/>
                <a:cs typeface="Times New Roman" panose="02020603050405020304" charset="0"/>
              </a:rPr>
              <a:t>I. The Evolution of International Organizations in the 21st Century</a:t>
            </a:r>
            <a:r>
              <a:rPr lang="en-US" altLang="zh-CN" dirty="0">
                <a:latin typeface="Times New Roman" panose="02020603050405020304" charset="0"/>
                <a:cs typeface="Times New Roman" panose="02020603050405020304" charset="0"/>
              </a:rPr>
              <a:t> </a:t>
            </a:r>
            <a:r>
              <a:rPr lang="en-US" altLang="zh-CN" dirty="0"/>
              <a:t> </a:t>
            </a:r>
            <a:endParaRPr lang="en-US" altLang="zh-CN" dirty="0"/>
          </a:p>
        </p:txBody>
      </p:sp>
      <p:sp>
        <p:nvSpPr>
          <p:cNvPr id="3" name="内容占位符 2"/>
          <p:cNvSpPr>
            <a:spLocks noGrp="1"/>
          </p:cNvSpPr>
          <p:nvPr>
            <p:ph idx="1"/>
          </p:nvPr>
        </p:nvSpPr>
        <p:spPr>
          <a:xfrm>
            <a:off x="457200" y="1752600"/>
            <a:ext cx="8229600" cy="4734560"/>
          </a:xfrm>
        </p:spPr>
        <p:txBody>
          <a:bodyPr>
            <a:normAutofit fontScale="90000"/>
          </a:bodyPr>
          <a:lstStyle/>
          <a:p>
            <a:r>
              <a:rPr lang="en-US" altLang="zh-CN" dirty="0">
                <a:latin typeface="Times New Roman" panose="02020603050405020304" charset="0"/>
                <a:cs typeface="Times New Roman" panose="02020603050405020304" charset="0"/>
              </a:rPr>
              <a:t>  In the twenty-first century, both the international structure and the global context have undergone new changes:  </a:t>
            </a:r>
            <a:endParaRPr lang="en-US" altLang="zh-CN" dirty="0">
              <a:latin typeface="Times New Roman" panose="02020603050405020304" charset="0"/>
              <a:cs typeface="Times New Roman" panose="02020603050405020304" charset="0"/>
            </a:endParaRPr>
          </a:p>
          <a:p>
            <a:r>
              <a:rPr lang="en-US" altLang="zh-CN" dirty="0">
                <a:latin typeface="Times New Roman" panose="02020603050405020304" charset="0"/>
                <a:cs typeface="Times New Roman" panose="02020603050405020304" charset="0"/>
              </a:rPr>
              <a:t>  – The collective rise of developing states has altered the balance of power between North and South, propelling the democratization of international relations.  </a:t>
            </a:r>
            <a:endParaRPr lang="en-US" altLang="zh-CN" dirty="0">
              <a:latin typeface="Times New Roman" panose="02020603050405020304" charset="0"/>
              <a:cs typeface="Times New Roman" panose="02020603050405020304" charset="0"/>
            </a:endParaRPr>
          </a:p>
          <a:p>
            <a:r>
              <a:rPr lang="en-US" altLang="zh-CN" dirty="0">
                <a:latin typeface="Times New Roman" panose="02020603050405020304" charset="0"/>
                <a:cs typeface="Times New Roman" panose="02020603050405020304" charset="0"/>
              </a:rPr>
              <a:t>  – The United States, Europe and other Western developed countries have tightened their coalition, seeking to delay the transfer of power to emerging-market states by retaining leadership over international rules.  </a:t>
            </a:r>
            <a:endParaRPr lang="en-US" altLang="zh-CN" dirty="0">
              <a:latin typeface="Times New Roman" panose="02020603050405020304" charset="0"/>
              <a:cs typeface="Times New Roman" panose="02020603050405020304" charset="0"/>
            </a:endParaRPr>
          </a:p>
          <a:p>
            <a:r>
              <a:rPr lang="en-US" altLang="zh-CN" dirty="0">
                <a:latin typeface="Times New Roman" panose="02020603050405020304" charset="0"/>
                <a:cs typeface="Times New Roman" panose="02020603050405020304" charset="0"/>
              </a:rPr>
              <a:t>  – Events such as 9/11, the wars in Afghanistan and Iraq, and the U.S. sub-prime mortgage crisis have made both traditional and non-traditional security threats increasingly prominent on the international agenda.</a:t>
            </a:r>
            <a:endParaRPr lang="en-US" altLang="zh-CN" dirty="0">
              <a:latin typeface="Times New Roman" panose="02020603050405020304" charset="0"/>
              <a:cs typeface="Times New Roman" panose="02020603050405020304" charset="0"/>
            </a:endParaRP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fontScale="90000"/>
          </a:bodyPr>
          <a:p>
            <a:r>
              <a:rPr lang="en-US" altLang="zh-CN" sz="3110">
                <a:latin typeface="Times New Roman" panose="02020603050405020304" charset="0"/>
                <a:cs typeface="Times New Roman" panose="02020603050405020304" charset="0"/>
              </a:rPr>
              <a:t>I. The Evolution of International Organizations in the 21st Century</a:t>
            </a:r>
            <a:r>
              <a:rPr lang="en-US" altLang="zh-CN"/>
              <a:t> </a:t>
            </a:r>
            <a:endParaRPr lang="en-US" altLang="zh-CN"/>
          </a:p>
        </p:txBody>
      </p:sp>
      <p:sp>
        <p:nvSpPr>
          <p:cNvPr id="3" name="内容占位符 2"/>
          <p:cNvSpPr>
            <a:spLocks noGrp="1"/>
          </p:cNvSpPr>
          <p:nvPr>
            <p:ph idx="1"/>
          </p:nvPr>
        </p:nvSpPr>
        <p:spPr/>
        <p:txBody>
          <a:bodyPr>
            <a:normAutofit fontScale="90000" lnSpcReduction="20000"/>
          </a:bodyPr>
          <a:p>
            <a:r>
              <a:rPr lang="en-US" altLang="zh-CN"/>
              <a:t>(1) The United Nations’ areas of activity and influence have continued to expand.  </a:t>
            </a:r>
            <a:endParaRPr lang="en-US" altLang="zh-CN"/>
          </a:p>
          <a:p>
            <a:r>
              <a:rPr lang="en-US" altLang="zh-CN"/>
              <a:t>- In September 2000 the UN convened the Millennium Summit, at which world leaders unanimously adopted the Millennium Development Goals (MDGs).  </a:t>
            </a:r>
            <a:endParaRPr lang="en-US" altLang="zh-CN"/>
          </a:p>
          <a:p>
            <a:r>
              <a:rPr lang="en-US" altLang="zh-CN"/>
              <a:t>  – Aim: to cut global poverty in half by 2015 (using 1990 as the baseline), signalling a shift in UN priorities toward development.  </a:t>
            </a:r>
            <a:endParaRPr lang="en-US" altLang="zh-CN"/>
          </a:p>
          <a:p>
            <a:endParaRPr lang="en-US" altLang="zh-CN"/>
          </a:p>
          <a:p>
            <a:r>
              <a:rPr lang="en-US" altLang="zh-CN"/>
              <a:t>- In 2003 the United States bypassed the UN, launched a war against Iraq and occupied the country militarily.  </a:t>
            </a:r>
            <a:endParaRPr lang="en-US" altLang="zh-CN"/>
          </a:p>
          <a:p>
            <a:r>
              <a:rPr lang="en-US" altLang="zh-CN"/>
              <a:t>  – This unilateral, hegemonic action dealt the single greatest blow to the authority of the world’s premier international organization since the end of the Cold War, exposing the UN’s limited capacity to confront raw power.</a:t>
            </a:r>
            <a:endParaRPr lang="en-US" altLang="zh-CN"/>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fontScale="90000"/>
          </a:bodyPr>
          <a:p>
            <a:r>
              <a:rPr lang="en-US" altLang="zh-CN" sz="3110" dirty="0">
                <a:latin typeface="Times New Roman" panose="02020603050405020304" charset="0"/>
                <a:cs typeface="Times New Roman" panose="02020603050405020304" charset="0"/>
                <a:sym typeface="+mn-ea"/>
              </a:rPr>
              <a:t>I. The Evolution of International Organizations in the 21st Century</a:t>
            </a:r>
            <a:r>
              <a:rPr lang="en-US" altLang="zh-CN" dirty="0">
                <a:sym typeface="+mn-ea"/>
              </a:rPr>
              <a:t> </a:t>
            </a:r>
            <a:endParaRPr lang="zh-CN" altLang="en-US"/>
          </a:p>
        </p:txBody>
      </p:sp>
      <p:sp>
        <p:nvSpPr>
          <p:cNvPr id="3" name="内容占位符 2"/>
          <p:cNvSpPr>
            <a:spLocks noGrp="1"/>
          </p:cNvSpPr>
          <p:nvPr>
            <p:ph idx="1"/>
          </p:nvPr>
        </p:nvSpPr>
        <p:spPr>
          <a:xfrm>
            <a:off x="227965" y="1752600"/>
            <a:ext cx="8562975" cy="4845050"/>
          </a:xfrm>
        </p:spPr>
        <p:txBody>
          <a:bodyPr>
            <a:normAutofit fontScale="90000" lnSpcReduction="20000"/>
          </a:bodyPr>
          <a:p>
            <a:r>
              <a:rPr lang="en-US" altLang="zh-CN" sz="2500"/>
              <a:t>(2) Developing countries have joined forces to strengthen themselves, raising their voice in global affairs.  </a:t>
            </a:r>
            <a:endParaRPr lang="en-US" altLang="zh-CN" sz="2500"/>
          </a:p>
          <a:p>
            <a:r>
              <a:rPr lang="en-US" altLang="zh-CN" sz="2500"/>
              <a:t>- The Group of 20 has gradually replaced the Group of 8—previously composed mainly of Western industrialized states—as the primary forum for international economic coordination, operating through annual summits.  </a:t>
            </a:r>
            <a:endParaRPr lang="en-US" altLang="zh-CN" sz="2500"/>
          </a:p>
          <a:p>
            <a:r>
              <a:rPr lang="en-US" altLang="zh-CN" sz="2500"/>
              <a:t>- In June 2009 the leaders of Brazil, China, India and Russia held the first BRIC summit, launching the BRIC cooperation mechanism.  </a:t>
            </a:r>
            <a:endParaRPr lang="en-US" altLang="zh-CN" sz="2500"/>
          </a:p>
          <a:p>
            <a:r>
              <a:rPr lang="en-US" altLang="zh-CN" sz="2500"/>
              <a:t>- At the third summit in April 2011, hosted by China, South Africa was admitted as a full member, creating the BRICS platform for emerging economies.  </a:t>
            </a:r>
            <a:endParaRPr lang="en-US" altLang="zh-CN" sz="2500"/>
          </a:p>
          <a:p>
            <a:r>
              <a:rPr lang="en-US" altLang="zh-CN" sz="2500"/>
              <a:t>- The Executive Board of the International Monetary Fund approved a quota and governance reform package that shifts roughly 6 percent of quota shares to dynamic emerging markets and under-represented developing countries.</a:t>
            </a:r>
            <a:endParaRPr lang="en-US" altLang="zh-CN" sz="250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a:xfrm>
            <a:off x="457200" y="1600200"/>
            <a:ext cx="8229600" cy="4929505"/>
          </a:xfrm>
        </p:spPr>
        <p:txBody>
          <a:bodyPr>
            <a:noAutofit/>
          </a:bodyPr>
          <a:p>
            <a:r>
              <a:rPr lang="en-US" altLang="zh-CN" sz="1900" dirty="0">
                <a:solidFill>
                  <a:schemeClr val="accent1">
                    <a:lumMod val="50000"/>
                  </a:schemeClr>
                </a:solidFill>
                <a:latin typeface="Times New Roman" panose="02020603050405020304" charset="0"/>
                <a:cs typeface="Times New Roman" panose="02020603050405020304" charset="0"/>
                <a:sym typeface="+mn-ea"/>
              </a:rPr>
              <a:t>(3) Regional international organizations have likewise achieved substantial growth. </a:t>
            </a:r>
            <a:endParaRPr lang="en-US" altLang="zh-CN" sz="1900" dirty="0">
              <a:solidFill>
                <a:schemeClr val="accent1">
                  <a:lumMod val="50000"/>
                </a:schemeClr>
              </a:solidFill>
              <a:latin typeface="Times New Roman" panose="02020603050405020304" charset="0"/>
              <a:cs typeface="Times New Roman" panose="02020603050405020304" charset="0"/>
              <a:sym typeface="+mn-ea"/>
            </a:endParaRPr>
          </a:p>
          <a:p>
            <a:endParaRPr lang="en-US" altLang="zh-CN" sz="1900" dirty="0">
              <a:solidFill>
                <a:schemeClr val="accent1">
                  <a:lumMod val="50000"/>
                </a:schemeClr>
              </a:solidFill>
              <a:latin typeface="Times New Roman" panose="02020603050405020304" charset="0"/>
              <a:cs typeface="Times New Roman" panose="02020603050405020304" charset="0"/>
            </a:endParaRPr>
          </a:p>
          <a:p>
            <a:r>
              <a:rPr lang="en-US" altLang="zh-CN" sz="1900">
                <a:latin typeface="Times New Roman" panose="02020603050405020304" charset="0"/>
                <a:cs typeface="Times New Roman" panose="02020603050405020304" charset="0"/>
              </a:rPr>
              <a:t>- European Union: launch of the euro, eastward enlargement, and the Constitutional Treaty.  </a:t>
            </a:r>
            <a:endParaRPr lang="en-US" altLang="zh-CN" sz="1900">
              <a:latin typeface="Times New Roman" panose="02020603050405020304" charset="0"/>
              <a:cs typeface="Times New Roman" panose="02020603050405020304" charset="0"/>
            </a:endParaRPr>
          </a:p>
          <a:p>
            <a:r>
              <a:rPr lang="en-US" altLang="zh-CN" sz="1900">
                <a:latin typeface="Times New Roman" panose="02020603050405020304" charset="0"/>
                <a:cs typeface="Times New Roman" panose="02020603050405020304" charset="0"/>
              </a:rPr>
              <a:t>- Asia-Pacific regional integration and institutional building have registered major advances:  </a:t>
            </a:r>
            <a:endParaRPr lang="en-US" altLang="zh-CN" sz="1900">
              <a:latin typeface="Times New Roman" panose="02020603050405020304" charset="0"/>
              <a:cs typeface="Times New Roman" panose="02020603050405020304" charset="0"/>
            </a:endParaRPr>
          </a:p>
          <a:p>
            <a:r>
              <a:rPr lang="en-US" altLang="zh-CN" sz="1900">
                <a:latin typeface="Times New Roman" panose="02020603050405020304" charset="0"/>
                <a:cs typeface="Times New Roman" panose="02020603050405020304" charset="0"/>
              </a:rPr>
              <a:t>  – The ASEAN-Plus-Three (APT) framework: ten ASEAN states plus China, Japan and South Korea, together with three parallel “10+1” mechanisms.  </a:t>
            </a:r>
            <a:endParaRPr lang="en-US" altLang="zh-CN" sz="1900">
              <a:latin typeface="Times New Roman" panose="02020603050405020304" charset="0"/>
              <a:cs typeface="Times New Roman" panose="02020603050405020304" charset="0"/>
            </a:endParaRPr>
          </a:p>
          <a:p>
            <a:r>
              <a:rPr lang="en-US" altLang="zh-CN" sz="1900">
                <a:latin typeface="Times New Roman" panose="02020603050405020304" charset="0"/>
                <a:cs typeface="Times New Roman" panose="02020603050405020304" charset="0"/>
              </a:rPr>
              <a:t>  – China and ASEAN signed the Framework Agreement on Comprehensive Economic Cooperation, setting 2010 as the target for establishing a China–ASEAN Free Trade Area.  </a:t>
            </a:r>
            <a:endParaRPr lang="en-US" altLang="zh-CN" sz="1900">
              <a:latin typeface="Times New Roman" panose="02020603050405020304" charset="0"/>
              <a:cs typeface="Times New Roman" panose="02020603050405020304" charset="0"/>
            </a:endParaRPr>
          </a:p>
          <a:p>
            <a:r>
              <a:rPr lang="en-US" altLang="zh-CN" sz="1900">
                <a:latin typeface="Times New Roman" panose="02020603050405020304" charset="0"/>
                <a:cs typeface="Times New Roman" panose="02020603050405020304" charset="0"/>
              </a:rPr>
              <a:t>  – Asia-Pacific Economic Cooperation (APEC).  </a:t>
            </a:r>
            <a:endParaRPr lang="en-US" altLang="zh-CN" sz="1900">
              <a:latin typeface="Times New Roman" panose="02020603050405020304" charset="0"/>
              <a:cs typeface="Times New Roman" panose="02020603050405020304" charset="0"/>
            </a:endParaRPr>
          </a:p>
          <a:p>
            <a:r>
              <a:rPr lang="en-US" altLang="zh-CN" sz="1900">
                <a:latin typeface="Times New Roman" panose="02020603050405020304" charset="0"/>
                <a:cs typeface="Times New Roman" panose="02020603050405020304" charset="0"/>
              </a:rPr>
              <a:t>  – Asian Infrastructure Investment Bank (AIIB).</a:t>
            </a:r>
            <a:endParaRPr lang="en-US" altLang="zh-CN" sz="1900">
              <a:latin typeface="Times New Roman" panose="02020603050405020304" charset="0"/>
              <a:cs typeface="Times New Roman" panose="02020603050405020304" charset="0"/>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algn="l"/>
            <a:r>
              <a:rPr lang="en-US" altLang="zh-CN" sz="3110" dirty="0">
                <a:latin typeface="Times New Roman" panose="02020603050405020304" charset="0"/>
                <a:cs typeface="Times New Roman" panose="02020603050405020304" charset="0"/>
              </a:rPr>
              <a:t>II. The Impact of Globalization on International Organizations  </a:t>
            </a:r>
            <a:endParaRPr lang="en-US" altLang="zh-CN" sz="3110" dirty="0">
              <a:latin typeface="Times New Roman" panose="02020603050405020304" charset="0"/>
              <a:cs typeface="Times New Roman" panose="02020603050405020304" charset="0"/>
            </a:endParaRPr>
          </a:p>
        </p:txBody>
      </p:sp>
      <p:sp>
        <p:nvSpPr>
          <p:cNvPr id="3" name="内容占位符 2"/>
          <p:cNvSpPr>
            <a:spLocks noGrp="1"/>
          </p:cNvSpPr>
          <p:nvPr>
            <p:ph idx="1"/>
          </p:nvPr>
        </p:nvSpPr>
        <p:spPr>
          <a:xfrm>
            <a:off x="457200" y="1752600"/>
            <a:ext cx="8229600" cy="4700736"/>
          </a:xfrm>
        </p:spPr>
        <p:txBody>
          <a:bodyPr>
            <a:normAutofit fontScale="90000"/>
          </a:bodyPr>
          <a:lstStyle/>
          <a:p>
            <a:pPr marL="571500" indent="-457200">
              <a:buFont typeface="+mj-lt"/>
              <a:buAutoNum type="arabicPeriod"/>
            </a:pPr>
            <a:r>
              <a:rPr lang="en-US" altLang="zh-CN" dirty="0">
                <a:latin typeface="Times New Roman" panose="02020603050405020304" charset="0"/>
                <a:cs typeface="Times New Roman" panose="02020603050405020304" charset="0"/>
              </a:rPr>
              <a:t>- Economic globalization has deepened political and economic interdependence among states, accelerating the momentum of regional integration.  </a:t>
            </a:r>
            <a:endParaRPr lang="en-US" altLang="zh-CN" dirty="0">
              <a:latin typeface="Times New Roman" panose="02020603050405020304" charset="0"/>
              <a:cs typeface="Times New Roman" panose="02020603050405020304" charset="0"/>
            </a:endParaRPr>
          </a:p>
          <a:p>
            <a:pPr marL="571500" indent="-457200">
              <a:buFont typeface="+mj-lt"/>
              <a:buAutoNum type="arabicPeriod"/>
            </a:pPr>
            <a:r>
              <a:rPr lang="en-US" altLang="zh-CN" dirty="0">
                <a:latin typeface="Times New Roman" panose="02020603050405020304" charset="0"/>
                <a:cs typeface="Times New Roman" panose="02020603050405020304" charset="0"/>
              </a:rPr>
              <a:t>- It has turned the world into a closely knit “global village,” while rapid advances in high technology have created the technical infrastructure for international organizations to expand.  </a:t>
            </a:r>
            <a:endParaRPr lang="en-US" altLang="zh-CN" dirty="0">
              <a:latin typeface="Times New Roman" panose="02020603050405020304" charset="0"/>
              <a:cs typeface="Times New Roman" panose="02020603050405020304" charset="0"/>
            </a:endParaRPr>
          </a:p>
          <a:p>
            <a:pPr marL="571500" indent="-457200">
              <a:buFont typeface="+mj-lt"/>
              <a:buAutoNum type="arabicPeriod"/>
            </a:pPr>
            <a:r>
              <a:rPr lang="en-US" altLang="zh-CN" dirty="0">
                <a:latin typeface="Times New Roman" panose="02020603050405020304" charset="0"/>
                <a:cs typeface="Times New Roman" panose="02020603050405020304" charset="0"/>
              </a:rPr>
              <a:t>- Global economic crises under globalization have underscored the need for enhanced international cooperation, thereby spurring the growth of international organizations.  </a:t>
            </a:r>
            <a:endParaRPr lang="en-US" altLang="zh-CN" dirty="0">
              <a:latin typeface="Times New Roman" panose="02020603050405020304" charset="0"/>
              <a:cs typeface="Times New Roman" panose="02020603050405020304" charset="0"/>
            </a:endParaRPr>
          </a:p>
          <a:p>
            <a:pPr marL="571500" indent="-457200">
              <a:buFont typeface="+mj-lt"/>
              <a:buAutoNum type="arabicPeriod"/>
            </a:pPr>
            <a:r>
              <a:rPr lang="en-US" altLang="zh-CN" dirty="0">
                <a:latin typeface="Times New Roman" panose="02020603050405020304" charset="0"/>
                <a:cs typeface="Times New Roman" panose="02020603050405020304" charset="0"/>
              </a:rPr>
              <a:t>- Globalization has generated a host of trans-border problems, raising the bar for global governance and thus propelling the development of international organizations.</a:t>
            </a:r>
            <a:endParaRPr lang="en-US" altLang="zh-CN" dirty="0">
              <a:latin typeface="Times New Roman" panose="02020603050405020304" charset="0"/>
              <a:cs typeface="Times New Roman" panose="02020603050405020304" charset="0"/>
            </a:endParaRPr>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pPr algn="l"/>
            <a:r>
              <a:rPr lang="en-US" altLang="zh-CN" sz="3110" dirty="0">
                <a:latin typeface="Times New Roman" panose="02020603050405020304" charset="0"/>
                <a:cs typeface="Times New Roman" panose="02020603050405020304" charset="0"/>
              </a:rPr>
              <a:t>III. Emerging Trends of International Organizations </a:t>
            </a:r>
            <a:r>
              <a:rPr lang="en-US" altLang="zh-CN" dirty="0"/>
              <a:t> </a:t>
            </a:r>
            <a:endParaRPr lang="en-US" altLang="zh-CN" dirty="0"/>
          </a:p>
        </p:txBody>
      </p:sp>
      <p:sp>
        <p:nvSpPr>
          <p:cNvPr id="3" name="内容占位符 2"/>
          <p:cNvSpPr>
            <a:spLocks noGrp="1"/>
          </p:cNvSpPr>
          <p:nvPr>
            <p:ph idx="1"/>
          </p:nvPr>
        </p:nvSpPr>
        <p:spPr>
          <a:xfrm>
            <a:off x="457200" y="1935757"/>
            <a:ext cx="8229600" cy="4373563"/>
          </a:xfrm>
        </p:spPr>
        <p:txBody>
          <a:bodyPr>
            <a:normAutofit/>
          </a:bodyPr>
          <a:lstStyle/>
          <a:p>
            <a:pPr marL="114300" indent="0">
              <a:lnSpc>
                <a:spcPct val="150000"/>
              </a:lnSpc>
              <a:buNone/>
            </a:pPr>
            <a:r>
              <a:rPr lang="en-US" altLang="zh-CN" dirty="0"/>
              <a:t>1. Accelerated globalization, digitalization, and societal participation.  </a:t>
            </a:r>
            <a:endParaRPr lang="en-US" altLang="zh-CN" dirty="0"/>
          </a:p>
          <a:p>
            <a:pPr marL="114300" indent="0">
              <a:lnSpc>
                <a:spcPct val="150000"/>
              </a:lnSpc>
              <a:buNone/>
            </a:pPr>
            <a:r>
              <a:rPr lang="en-US" altLang="zh-CN" dirty="0"/>
              <a:t>2. The collective rise of developing countries.  </a:t>
            </a:r>
            <a:endParaRPr lang="en-US" altLang="zh-CN" dirty="0"/>
          </a:p>
          <a:p>
            <a:pPr marL="114300" indent="0">
              <a:lnSpc>
                <a:spcPct val="150000"/>
              </a:lnSpc>
              <a:buNone/>
            </a:pPr>
            <a:r>
              <a:rPr lang="en-US" altLang="zh-CN" dirty="0"/>
              <a:t>3. Deepening regional integration.  </a:t>
            </a:r>
            <a:endParaRPr lang="en-US" altLang="zh-CN" dirty="0"/>
          </a:p>
          <a:p>
            <a:pPr marL="114300" indent="0">
              <a:lnSpc>
                <a:spcPct val="150000"/>
              </a:lnSpc>
              <a:buNone/>
            </a:pPr>
            <a:r>
              <a:rPr lang="en-US" altLang="zh-CN" dirty="0"/>
              <a:t>4. Expanded cooperation in non-traditional domains.</a:t>
            </a:r>
            <a:endParaRPr lang="en-US" altLang="zh-CN" dirty="0"/>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latin typeface="Times New Roman" panose="02020603050405020304" charset="0"/>
                <a:cs typeface="Times New Roman" panose="02020603050405020304" charset="0"/>
              </a:rPr>
              <a:t>IV. Future Prospects for International Organizations </a:t>
            </a:r>
            <a:r>
              <a:rPr lang="en-US" altLang="zh-CN" dirty="0"/>
              <a:t> </a:t>
            </a:r>
            <a:endParaRPr lang="en-US" altLang="zh-CN" dirty="0"/>
          </a:p>
        </p:txBody>
      </p:sp>
      <p:sp>
        <p:nvSpPr>
          <p:cNvPr id="3" name="内容占位符 2"/>
          <p:cNvSpPr>
            <a:spLocks noGrp="1"/>
          </p:cNvSpPr>
          <p:nvPr>
            <p:ph idx="1"/>
          </p:nvPr>
        </p:nvSpPr>
        <p:spPr>
          <a:xfrm>
            <a:off x="382270" y="1752600"/>
            <a:ext cx="8476615" cy="4772660"/>
          </a:xfrm>
        </p:spPr>
        <p:txBody>
          <a:bodyPr>
            <a:noAutofit/>
          </a:bodyPr>
          <a:lstStyle/>
          <a:p>
            <a:pPr marL="571500" indent="-457200">
              <a:lnSpc>
                <a:spcPct val="150000"/>
              </a:lnSpc>
              <a:buFont typeface="+mj-lt"/>
              <a:buAutoNum type="arabicPeriod"/>
            </a:pPr>
            <a:r>
              <a:rPr lang="en-US" altLang="zh-CN" sz="1700" dirty="0">
                <a:latin typeface="Times New Roman" panose="02020603050405020304" charset="0"/>
                <a:cs typeface="Times New Roman" panose="02020603050405020304" charset="0"/>
              </a:rPr>
              <a:t>- Developing countries will steadily raise their level of engagement in international organizations.  </a:t>
            </a:r>
            <a:endParaRPr lang="en-US" altLang="zh-CN" sz="1700" dirty="0">
              <a:latin typeface="Times New Roman" panose="02020603050405020304" charset="0"/>
              <a:cs typeface="Times New Roman" panose="02020603050405020304" charset="0"/>
            </a:endParaRPr>
          </a:p>
          <a:p>
            <a:pPr marL="571500" indent="-457200">
              <a:lnSpc>
                <a:spcPct val="150000"/>
              </a:lnSpc>
              <a:buFont typeface="+mj-lt"/>
              <a:buAutoNum type="arabicPeriod"/>
            </a:pPr>
            <a:r>
              <a:rPr lang="en-US" altLang="zh-CN" sz="1700" dirty="0">
                <a:latin typeface="Times New Roman" panose="02020603050405020304" charset="0"/>
                <a:cs typeface="Times New Roman" panose="02020603050405020304" charset="0"/>
              </a:rPr>
              <a:t>- An increasing number of these states are joining forces to demand reforms in institutional structures and rules, thereby enhancing their status and influence.  </a:t>
            </a:r>
            <a:endParaRPr lang="en-US" altLang="zh-CN" sz="1700" dirty="0">
              <a:latin typeface="Times New Roman" panose="02020603050405020304" charset="0"/>
              <a:cs typeface="Times New Roman" panose="02020603050405020304" charset="0"/>
            </a:endParaRPr>
          </a:p>
          <a:p>
            <a:pPr marL="571500" indent="-457200">
              <a:lnSpc>
                <a:spcPct val="150000"/>
              </a:lnSpc>
              <a:buFont typeface="+mj-lt"/>
              <a:buAutoNum type="arabicPeriod"/>
            </a:pPr>
            <a:r>
              <a:rPr lang="en-US" altLang="zh-CN" sz="1700" dirty="0">
                <a:latin typeface="Times New Roman" panose="02020603050405020304" charset="0"/>
                <a:cs typeface="Times New Roman" panose="02020603050405020304" charset="0"/>
              </a:rPr>
              <a:t>- By accelerating South-South cooperation, they will create new, developing-country-led organizations to advance international cooperation and the formulation of new norms.  </a:t>
            </a:r>
            <a:endParaRPr lang="en-US" altLang="zh-CN" sz="1700" dirty="0">
              <a:latin typeface="Times New Roman" panose="02020603050405020304" charset="0"/>
              <a:cs typeface="Times New Roman" panose="02020603050405020304" charset="0"/>
            </a:endParaRPr>
          </a:p>
          <a:p>
            <a:pPr marL="571500" indent="-457200">
              <a:lnSpc>
                <a:spcPct val="150000"/>
              </a:lnSpc>
              <a:buFont typeface="+mj-lt"/>
              <a:buAutoNum type="arabicPeriod"/>
            </a:pPr>
            <a:r>
              <a:rPr lang="en-US" altLang="zh-CN" sz="1700" dirty="0">
                <a:latin typeface="Times New Roman" panose="02020603050405020304" charset="0"/>
                <a:cs typeface="Times New Roman" panose="02020603050405020304" charset="0"/>
              </a:rPr>
              <a:t>- Cooperation and coordination among international organizations will be further strengthened.  </a:t>
            </a:r>
            <a:endParaRPr lang="en-US" altLang="zh-CN" sz="1700" dirty="0">
              <a:latin typeface="Times New Roman" panose="02020603050405020304" charset="0"/>
              <a:cs typeface="Times New Roman" panose="02020603050405020304" charset="0"/>
            </a:endParaRPr>
          </a:p>
          <a:p>
            <a:pPr marL="571500" indent="-457200">
              <a:lnSpc>
                <a:spcPct val="150000"/>
              </a:lnSpc>
              <a:buFont typeface="+mj-lt"/>
              <a:buAutoNum type="arabicPeriod"/>
            </a:pPr>
            <a:r>
              <a:rPr lang="en-US" altLang="zh-CN" sz="1700" dirty="0">
                <a:latin typeface="Times New Roman" panose="02020603050405020304" charset="0"/>
                <a:cs typeface="Times New Roman" panose="02020603050405020304" charset="0"/>
              </a:rPr>
              <a:t>- Regional organizations will expand both in depth and in breadth.  </a:t>
            </a:r>
            <a:endParaRPr lang="en-US" altLang="zh-CN" sz="1700" dirty="0">
              <a:latin typeface="Times New Roman" panose="02020603050405020304" charset="0"/>
              <a:cs typeface="Times New Roman" panose="02020603050405020304" charset="0"/>
            </a:endParaRPr>
          </a:p>
          <a:p>
            <a:pPr marL="571500" indent="-457200">
              <a:lnSpc>
                <a:spcPct val="150000"/>
              </a:lnSpc>
              <a:buFont typeface="+mj-lt"/>
              <a:buAutoNum type="arabicPeriod"/>
            </a:pPr>
            <a:r>
              <a:rPr lang="en-US" altLang="zh-CN" sz="1700" dirty="0">
                <a:latin typeface="Times New Roman" panose="02020603050405020304" charset="0"/>
                <a:cs typeface="Times New Roman" panose="02020603050405020304" charset="0"/>
              </a:rPr>
              <a:t>- The influence and role of non-governmental international organizations in global politics will continue to grow.</a:t>
            </a:r>
            <a:endParaRPr lang="en-US" altLang="zh-CN" sz="1700" dirty="0">
              <a:latin typeface="Times New Roman" panose="02020603050405020304" charset="0"/>
              <a:cs typeface="Times New Roman" panose="02020603050405020304" charset="0"/>
            </a:endParaRPr>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z="3200" dirty="0" smtClean="0">
                <a:latin typeface="Times New Roman" panose="02020603050405020304" charset="0"/>
                <a:cs typeface="Times New Roman" panose="02020603050405020304" charset="0"/>
              </a:rPr>
              <a:t>Review questions</a:t>
            </a:r>
            <a:endParaRPr lang="en-US" altLang="zh-CN" sz="3200" dirty="0" smtClean="0">
              <a:latin typeface="Times New Roman" panose="02020603050405020304" charset="0"/>
              <a:cs typeface="Times New Roman" panose="02020603050405020304" charset="0"/>
            </a:endParaRPr>
          </a:p>
        </p:txBody>
      </p:sp>
      <p:sp>
        <p:nvSpPr>
          <p:cNvPr id="3" name="内容占位符 2"/>
          <p:cNvSpPr>
            <a:spLocks noGrp="1"/>
          </p:cNvSpPr>
          <p:nvPr>
            <p:ph idx="1"/>
          </p:nvPr>
        </p:nvSpPr>
        <p:spPr/>
        <p:txBody>
          <a:bodyPr>
            <a:normAutofit fontScale="90000" lnSpcReduction="20000"/>
          </a:bodyPr>
          <a:lstStyle/>
          <a:p>
            <a:pPr marL="571500" indent="-457200">
              <a:lnSpc>
                <a:spcPct val="150000"/>
              </a:lnSpc>
              <a:buFont typeface="+mj-lt"/>
              <a:buAutoNum type="arabicPeriod"/>
            </a:pPr>
            <a:r>
              <a:rPr lang="en-US" altLang="zh-CN" dirty="0">
                <a:latin typeface="Times New Roman" panose="02020603050405020304" charset="0"/>
                <a:cs typeface="Times New Roman" panose="02020603050405020304" charset="0"/>
              </a:rPr>
              <a:t>What are the main conditions and methods for the creation of international organizations?</a:t>
            </a:r>
            <a:endParaRPr lang="en-US" altLang="zh-CN" dirty="0">
              <a:latin typeface="Times New Roman" panose="02020603050405020304" charset="0"/>
              <a:cs typeface="Times New Roman" panose="02020603050405020304" charset="0"/>
            </a:endParaRPr>
          </a:p>
          <a:p>
            <a:pPr marL="571500" indent="-457200">
              <a:lnSpc>
                <a:spcPct val="150000"/>
              </a:lnSpc>
              <a:buFont typeface="+mj-lt"/>
              <a:buAutoNum type="arabicPeriod"/>
            </a:pPr>
            <a:r>
              <a:rPr lang="en-US" altLang="zh-CN" dirty="0">
                <a:latin typeface="Times New Roman" panose="02020603050405020304" charset="0"/>
                <a:cs typeface="Times New Roman" panose="02020603050405020304" charset="0"/>
              </a:rPr>
              <a:t>What are the main characteristics of international organization development following World War II?</a:t>
            </a:r>
            <a:endParaRPr lang="en-US" altLang="zh-CN" dirty="0">
              <a:latin typeface="Times New Roman" panose="02020603050405020304" charset="0"/>
              <a:cs typeface="Times New Roman" panose="02020603050405020304" charset="0"/>
            </a:endParaRPr>
          </a:p>
          <a:p>
            <a:pPr marL="571500" indent="-457200">
              <a:lnSpc>
                <a:spcPct val="150000"/>
              </a:lnSpc>
              <a:buFont typeface="+mj-lt"/>
              <a:buAutoNum type="arabicPeriod"/>
            </a:pPr>
            <a:r>
              <a:rPr lang="en-US" altLang="zh-CN" dirty="0">
                <a:latin typeface="Times New Roman" panose="02020603050405020304" charset="0"/>
                <a:cs typeface="Times New Roman" panose="02020603050405020304" charset="0"/>
              </a:rPr>
              <a:t>Why is the United Nations considered the most universal, representative, and authoritative intergovernmental international organization?</a:t>
            </a:r>
            <a:endParaRPr lang="en-US" altLang="zh-CN" dirty="0">
              <a:latin typeface="Times New Roman" panose="02020603050405020304" charset="0"/>
              <a:cs typeface="Times New Roman" panose="02020603050405020304" charset="0"/>
            </a:endParaRPr>
          </a:p>
          <a:p>
            <a:pPr marL="571500" indent="-457200">
              <a:lnSpc>
                <a:spcPct val="150000"/>
              </a:lnSpc>
              <a:buFont typeface="+mj-lt"/>
              <a:buAutoNum type="arabicPeriod"/>
            </a:pPr>
            <a:r>
              <a:rPr lang="en-US" altLang="zh-CN" dirty="0">
                <a:latin typeface="Times New Roman" panose="02020603050405020304" charset="0"/>
                <a:cs typeface="Times New Roman" panose="02020603050405020304" charset="0"/>
              </a:rPr>
              <a:t>What are the main factors influencing the future development of international organizations?</a:t>
            </a:r>
            <a:endParaRPr lang="en-US" altLang="zh-CN" dirty="0">
              <a:latin typeface="Times New Roman" panose="02020603050405020304" charset="0"/>
              <a:cs typeface="Times New Roman" panose="02020603050405020304" charset="0"/>
            </a:endParaRPr>
          </a:p>
        </p:txBody>
      </p:sp>
    </p:spTree>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药剂师">
  <a:themeElements>
    <a:clrScheme name="都市">
      <a:dk1>
        <a:sysClr val="windowText" lastClr="000000"/>
      </a:dk1>
      <a:lt1>
        <a:sysClr val="window" lastClr="FFFFFF"/>
      </a:lt1>
      <a:dk2>
        <a:srgbClr val="424456"/>
      </a:dk2>
      <a:lt2>
        <a:srgbClr val="DEDEDE"/>
      </a:lt2>
      <a:accent1>
        <a:srgbClr val="53548A"/>
      </a:accent1>
      <a:accent2>
        <a:srgbClr val="438086"/>
      </a:accent2>
      <a:accent3>
        <a:srgbClr val="A04DA3"/>
      </a:accent3>
      <a:accent4>
        <a:srgbClr val="C4652D"/>
      </a:accent4>
      <a:accent5>
        <a:srgbClr val="8B5D3D"/>
      </a:accent5>
      <a:accent6>
        <a:srgbClr val="5C92B5"/>
      </a:accent6>
      <a:hlink>
        <a:srgbClr val="67AFBD"/>
      </a:hlink>
      <a:folHlink>
        <a:srgbClr val="C2A874"/>
      </a:folHlink>
    </a:clrScheme>
    <a:fontScheme name="Office 经典">
      <a:maj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Times New Roman"/>
        <a:ea typeface=""/>
        <a:cs typeface=""/>
        <a:font script="Jpan" typeface="ＭＳ Ｐ明朝"/>
        <a:font script="Hang" typeface="바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暗香扑面">
      <a:fillStyleLst>
        <a:solidFill>
          <a:schemeClr val="phClr"/>
        </a:solidFill>
        <a:gradFill rotWithShape="1">
          <a:gsLst>
            <a:gs pos="0">
              <a:schemeClr val="phClr">
                <a:tint val="98000"/>
                <a:satMod val="220000"/>
              </a:schemeClr>
            </a:gs>
            <a:gs pos="31000">
              <a:schemeClr val="phClr">
                <a:tint val="30000"/>
                <a:satMod val="150000"/>
              </a:schemeClr>
            </a:gs>
            <a:gs pos="91000">
              <a:schemeClr val="phClr">
                <a:tint val="96000"/>
              </a:schemeClr>
            </a:gs>
          </a:gsLst>
          <a:path path="circle">
            <a:fillToRect l="50000" t="150000" r="50000"/>
          </a:path>
        </a:gradFill>
        <a:blipFill>
          <a:blip xmlns:r="http://schemas.openxmlformats.org/officeDocument/2006/relationships" r:embed="rId1">
            <a:duotone>
              <a:schemeClr val="phClr">
                <a:shade val="28000"/>
                <a:satMod val="100000"/>
              </a:schemeClr>
              <a:schemeClr val="phClr">
                <a:tint val="100000"/>
                <a:satMod val="200000"/>
              </a:schemeClr>
            </a:duotone>
          </a:blip>
          <a:tile tx="0" ty="0" sx="80000" sy="80000" flip="none" algn="tl"/>
        </a:blipFill>
      </a:fillStyleLst>
      <a:lnStyleLst>
        <a:ln w="12700" cap="flat" cmpd="sng" algn="ctr">
          <a:solidFill>
            <a:schemeClr val="phClr"/>
          </a:solidFill>
          <a:prstDash val="solid"/>
        </a:ln>
        <a:ln w="25400" cap="flat" cmpd="sng" algn="ctr">
          <a:solidFill>
            <a:schemeClr val="phClr"/>
          </a:solidFill>
          <a:prstDash val="solid"/>
        </a:ln>
        <a:ln w="38100" cap="flat" cmpd="dbl" algn="ctr">
          <a:solidFill>
            <a:schemeClr val="phClr"/>
          </a:solidFill>
          <a:prstDash val="solid"/>
        </a:ln>
      </a:lnStyleLst>
      <a:effectStyleLst>
        <a:effectStyle>
          <a:effectLst>
            <a:glow rad="63500">
              <a:schemeClr val="phClr">
                <a:alpha val="45000"/>
                <a:satMod val="110000"/>
              </a:schemeClr>
            </a:glow>
          </a:effectLst>
        </a:effectStyle>
        <a:effectStyle>
          <a:effectLst>
            <a:outerShdw blurRad="34925" dist="31750" dir="5400000" algn="tl" rotWithShape="0">
              <a:srgbClr val="000000">
                <a:alpha val="50000"/>
              </a:srgbClr>
            </a:outerShdw>
          </a:effectLst>
          <a:scene3d>
            <a:camera prst="orthographicFront">
              <a:rot lat="0" lon="0" rev="0"/>
            </a:camera>
            <a:lightRig rig="flood" dir="t">
              <a:rot lat="0" lon="0" rev="5400000"/>
            </a:lightRig>
          </a:scene3d>
          <a:sp3d contourW="9525" prstMaterial="dkEdge">
            <a:bevelT w="12000" h="24150"/>
            <a:contourClr>
              <a:schemeClr val="phClr">
                <a:satMod val="110000"/>
              </a:schemeClr>
            </a:contourClr>
          </a:sp3d>
        </a:effectStyle>
        <a:effectStyle>
          <a:effectLst>
            <a:outerShdw blurRad="50800" dist="31750" dir="5400000" algn="tl" rotWithShape="0">
              <a:srgbClr val="000000">
                <a:alpha val="50000"/>
              </a:srgbClr>
            </a:outerShdw>
          </a:effectLst>
          <a:scene3d>
            <a:camera prst="orthographicFront">
              <a:rot lat="0" lon="0" rev="0"/>
            </a:camera>
            <a:lightRig rig="flood" dir="t">
              <a:rot lat="0" lon="0" rev="5400000"/>
            </a:lightRig>
          </a:scene3d>
          <a:sp3d contourW="18700" prstMaterial="dkEdge">
            <a:bevelT w="44450" h="80600"/>
            <a:contourClr>
              <a:schemeClr val="phClr">
                <a:satMod val="110000"/>
              </a:schemeClr>
            </a:contourClr>
          </a:sp3d>
        </a:effectStyle>
      </a:effectStyleLst>
      <a:bgFillStyleLst>
        <a:solidFill>
          <a:schemeClr val="phClr"/>
        </a:solidFill>
        <a:solidFill>
          <a:schemeClr val="phClr">
            <a:tint val="93000"/>
            <a:satMod val="140000"/>
          </a:schemeClr>
        </a:solidFill>
        <a:blipFill rotWithShape="1">
          <a:blip xmlns:r="http://schemas.openxmlformats.org/officeDocument/2006/relationships" r:embed="rId2">
            <a:duotone>
              <a:schemeClr val="phClr">
                <a:tint val="70000"/>
                <a:satMod val="170000"/>
              </a:schemeClr>
              <a:schemeClr val="phClr">
                <a:shade val="70000"/>
                <a:satMod val="130000"/>
              </a:schemeClr>
            </a:duotone>
          </a:blip>
          <a:tile tx="0" ty="0" sx="100000" sy="100000" flip="none" algn="tl"/>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Apothecary</Template>
  <TotalTime>0</TotalTime>
  <Words>22272</Words>
  <Application>WPS 演示</Application>
  <PresentationFormat>全屏显示(4:3)</PresentationFormat>
  <Paragraphs>276</Paragraphs>
  <Slides>34</Slides>
  <Notes>0</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34</vt:i4>
      </vt:variant>
    </vt:vector>
  </HeadingPairs>
  <TitlesOfParts>
    <vt:vector size="45" baseType="lpstr">
      <vt:lpstr>Arial</vt:lpstr>
      <vt:lpstr>宋体</vt:lpstr>
      <vt:lpstr>Wingdings</vt:lpstr>
      <vt:lpstr>Times New Roman</vt:lpstr>
      <vt:lpstr>Times New Roman</vt:lpstr>
      <vt:lpstr>楷体</vt:lpstr>
      <vt:lpstr>微软雅黑</vt:lpstr>
      <vt:lpstr>Arial Unicode MS</vt:lpstr>
      <vt:lpstr>黑体</vt:lpstr>
      <vt:lpstr>Calibri</vt:lpstr>
      <vt:lpstr>药剂师</vt:lpstr>
      <vt:lpstr>Chapter Three  The Evolution of International Organizations</vt:lpstr>
      <vt:lpstr>Section One The Emergence and Early Development of International Organizations</vt:lpstr>
      <vt:lpstr>I. The Origins of International Organizations</vt:lpstr>
      <vt:lpstr>I. The Origins of International Organizations</vt:lpstr>
      <vt:lpstr>Early Ideas on International Organization</vt:lpstr>
      <vt:lpstr>PowerPoint 演示文稿</vt:lpstr>
      <vt:lpstr>PowerPoint 演示文稿</vt:lpstr>
      <vt:lpstr>PowerPoint 演示文稿</vt:lpstr>
      <vt:lpstr>II. The Emergence of International Organizations (The Concert of Europe)</vt:lpstr>
      <vt:lpstr>Characteristics of the Concert of Europe and the Emergence of International Organizations</vt:lpstr>
      <vt:lpstr>III. The Early Development of International Organizations </vt:lpstr>
      <vt:lpstr>(1) The International Administrative Unions</vt:lpstr>
      <vt:lpstr>(2) Non-Governmental International Organizations  (exemplified by pacifist associations)</vt:lpstr>
      <vt:lpstr>(3) The Hague System  </vt:lpstr>
      <vt:lpstr>Section two  International Organizations in the Twentieth Century  </vt:lpstr>
      <vt:lpstr>I. The Establishment and Evolution of the League of Nations  </vt:lpstr>
      <vt:lpstr>Principal Organs of the League of Nations </vt:lpstr>
      <vt:lpstr>(I) The Assembly and the Council of the League of Nations  </vt:lpstr>
      <vt:lpstr>(iI) The Secretariat and the Permanent Court of International Justice </vt:lpstr>
      <vt:lpstr>II. The Establishment and Evolution of the United Nations  Key Milestones in the Founding of the United Nations</vt:lpstr>
      <vt:lpstr>(I) Purposes of the United Nations  </vt:lpstr>
      <vt:lpstr>(II) Principles of the United Nations </vt:lpstr>
      <vt:lpstr>(III) Historical Stages of the United Nations  </vt:lpstr>
      <vt:lpstr>(III) Historical Stages of the United Nations (continued)</vt:lpstr>
      <vt:lpstr>III. Other International Organizations after World War II  </vt:lpstr>
      <vt:lpstr>Section three International Organizations in the Twenty-First Century</vt:lpstr>
      <vt:lpstr>I. The Evolution of International Organizations in the 21st Century  </vt:lpstr>
      <vt:lpstr>I. The Evolution of International Organizations in the 21st Century </vt:lpstr>
      <vt:lpstr>I. The Evolution of International Organizations in the 21st Century </vt:lpstr>
      <vt:lpstr>PowerPoint 演示文稿</vt:lpstr>
      <vt:lpstr>II. The Impact of Globalization on International Organizations  </vt:lpstr>
      <vt:lpstr>III. Emerging Trends of International Organizations  </vt:lpstr>
      <vt:lpstr>IV. Future Prospects for International Organizations  </vt:lpstr>
      <vt:lpstr>Review questions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第三章  国际组织的演变</dc:title>
  <dc:creator>Administrator</dc:creator>
  <cp:lastModifiedBy>大唐1415436413</cp:lastModifiedBy>
  <cp:revision>99</cp:revision>
  <dcterms:created xsi:type="dcterms:W3CDTF">2017-06-15T09:11:00Z</dcterms:created>
  <dcterms:modified xsi:type="dcterms:W3CDTF">2026-02-25T03:38:17Z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EE83B3CAA3794DD196E4BB2AC430FA7D_12</vt:lpwstr>
  </property>
  <property fmtid="{D5CDD505-2E9C-101B-9397-08002B2CF9AE}" pid="3" name="KSOProductBuildVer">
    <vt:lpwstr>2052-12.1.0.24657</vt:lpwstr>
  </property>
</Properties>
</file>