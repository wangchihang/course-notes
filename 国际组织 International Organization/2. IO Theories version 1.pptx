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4"/>
  </p:notesMasterIdLst>
  <p:sldIdLst>
    <p:sldId id="256" r:id="rId3"/>
    <p:sldId id="257" r:id="rId4"/>
    <p:sldId id="258" r:id="rId5"/>
    <p:sldId id="260" r:id="rId6"/>
    <p:sldId id="261" r:id="rId7"/>
    <p:sldId id="290" r:id="rId8"/>
    <p:sldId id="267" r:id="rId9"/>
    <p:sldId id="270" r:id="rId10"/>
    <p:sldId id="291" r:id="rId11"/>
    <p:sldId id="269" r:id="rId12"/>
    <p:sldId id="272" r:id="rId13"/>
    <p:sldId id="295" r:id="rId14"/>
    <p:sldId id="275" r:id="rId15"/>
    <p:sldId id="292" r:id="rId16"/>
    <p:sldId id="277" r:id="rId17"/>
    <p:sldId id="278" r:id="rId18"/>
    <p:sldId id="293" r:id="rId19"/>
    <p:sldId id="281" r:id="rId20"/>
    <p:sldId id="283" r:id="rId21"/>
    <p:sldId id="294" r:id="rId22"/>
    <p:sldId id="288" r:id="rId23"/>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3345" autoAdjust="0"/>
  </p:normalViewPr>
  <p:slideViewPr>
    <p:cSldViewPr showGuides="1">
      <p:cViewPr varScale="1">
        <p:scale>
          <a:sx n="53" d="100"/>
          <a:sy n="53" d="100"/>
        </p:scale>
        <p:origin x="-96" y="-438"/>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7" Type="http://schemas.openxmlformats.org/officeDocument/2006/relationships/tableStyles" Target="tableStyles.xml"/><Relationship Id="rId26" Type="http://schemas.openxmlformats.org/officeDocument/2006/relationships/viewProps" Target="viewProps.xml"/><Relationship Id="rId25" Type="http://schemas.openxmlformats.org/officeDocument/2006/relationships/presProps" Target="presProps.xml"/><Relationship Id="rId24" Type="http://schemas.openxmlformats.org/officeDocument/2006/relationships/notesMaster" Target="notesMasters/notesMaster1.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1B15DEA-0790-49F6-A28D-DFD6D61E7EFC}"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1B48904-692C-4E53-B77B-41262EAFE8B2}"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sp>
        <p:nvSpPr>
          <p:cNvPr id="7" name="Rectangle 6"/>
          <p:cNvSpPr/>
          <p:nvPr/>
        </p:nvSpPr>
        <p:spPr>
          <a:xfrm>
            <a:off x="0" y="0"/>
            <a:ext cx="9144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8" name="Rounded Rectangle 7"/>
          <p:cNvSpPr/>
          <p:nvPr/>
        </p:nvSpPr>
        <p:spPr>
          <a:xfrm>
            <a:off x="91440" y="101600"/>
            <a:ext cx="8961120" cy="6664960"/>
          </a:xfrm>
          <a:prstGeom prst="roundRect">
            <a:avLst>
              <a:gd name="adj" fmla="val 1735"/>
            </a:avLst>
          </a:prstGeom>
          <a:ln w="12700" cmpd="sng">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9" name="Rectangle 8"/>
          <p:cNvSpPr/>
          <p:nvPr/>
        </p:nvSpPr>
        <p:spPr>
          <a:xfrm>
            <a:off x="345440" y="2942602"/>
            <a:ext cx="7147931" cy="2463800"/>
          </a:xfrm>
          <a:prstGeom prst="rect">
            <a:avLst/>
          </a:prstGeom>
          <a:solidFill>
            <a:srgbClr val="FFFFFF">
              <a:alpha val="83000"/>
            </a:srgbClr>
          </a:soli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7572652" y="2944634"/>
            <a:ext cx="1190348" cy="2459736"/>
          </a:xfrm>
          <a:prstGeom prst="rect">
            <a:avLst/>
          </a:prstGeom>
          <a:solidFill>
            <a:srgbClr val="FFFFFF">
              <a:alpha val="83000"/>
            </a:srgbClr>
          </a:soli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p:nvSpPr>
        <p:spPr>
          <a:xfrm>
            <a:off x="7712714" y="3136658"/>
            <a:ext cx="910224" cy="2075688"/>
          </a:xfrm>
          <a:prstGeom prst="rect">
            <a:avLst/>
          </a:prstGeom>
          <a:solidFill>
            <a:schemeClr val="accent3">
              <a:alpha val="70000"/>
            </a:schemeClr>
          </a:solidFill>
          <a:ln w="635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p:nvSpPr>
        <p:spPr>
          <a:xfrm>
            <a:off x="445483" y="3055621"/>
            <a:ext cx="6947845" cy="2245359"/>
          </a:xfrm>
          <a:prstGeom prst="rect">
            <a:avLst/>
          </a:prstGeom>
          <a:solidFill>
            <a:srgbClr val="FFFFFF"/>
          </a:solidFill>
          <a:ln w="6350" cmpd="dbl">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p:cNvSpPr>
            <a:spLocks noGrp="1"/>
          </p:cNvSpPr>
          <p:nvPr>
            <p:ph type="sldNum" sz="quarter" idx="12"/>
          </p:nvPr>
        </p:nvSpPr>
        <p:spPr>
          <a:xfrm>
            <a:off x="7786826" y="4625268"/>
            <a:ext cx="762000" cy="457200"/>
          </a:xfrm>
        </p:spPr>
        <p:txBody>
          <a:bodyPr/>
          <a:lstStyle>
            <a:lvl1pPr algn="ctr">
              <a:defRPr sz="2800">
                <a:solidFill>
                  <a:schemeClr val="accent1">
                    <a:lumMod val="50000"/>
                  </a:schemeClr>
                </a:solidFill>
              </a:defRPr>
            </a:lvl1pPr>
          </a:lstStyle>
          <a:p>
            <a:fld id="{0C913308-F349-4B6D-A68A-DD1791B4A57B}" type="slidenum">
              <a:rPr lang="zh-CN" altLang="en-US" smtClean="0"/>
            </a:fld>
            <a:endParaRPr lang="zh-CN" altLang="en-US"/>
          </a:p>
        </p:txBody>
      </p:sp>
      <p:sp>
        <p:nvSpPr>
          <p:cNvPr id="11" name="Rectangle 10"/>
          <p:cNvSpPr/>
          <p:nvPr/>
        </p:nvSpPr>
        <p:spPr>
          <a:xfrm>
            <a:off x="541822" y="4559276"/>
            <a:ext cx="6755166" cy="664367"/>
          </a:xfrm>
          <a:prstGeom prst="rect">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538971" y="3139440"/>
            <a:ext cx="6760868" cy="2077720"/>
          </a:xfrm>
          <a:prstGeom prst="rect">
            <a:avLst/>
          </a:prstGeom>
          <a:noFill/>
          <a:ln w="6350" cmpd="dbl">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p:nvPr>
        </p:nvSpPr>
        <p:spPr>
          <a:xfrm>
            <a:off x="642805" y="4648200"/>
            <a:ext cx="6553200" cy="457200"/>
          </a:xfrm>
        </p:spPr>
        <p:txBody>
          <a:bodyPr>
            <a:normAutofit/>
          </a:bodyPr>
          <a:lstStyle>
            <a:lvl1pPr marL="0" indent="0" algn="ctr">
              <a:buNone/>
              <a:defRPr sz="1800" cap="all" spc="300" baseline="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en-US" dirty="0"/>
          </a:p>
        </p:txBody>
      </p:sp>
      <p:sp>
        <p:nvSpPr>
          <p:cNvPr id="2" name="Title 1"/>
          <p:cNvSpPr>
            <a:spLocks noGrp="1"/>
          </p:cNvSpPr>
          <p:nvPr>
            <p:ph type="ctrTitle"/>
          </p:nvPr>
        </p:nvSpPr>
        <p:spPr>
          <a:xfrm>
            <a:off x="604705" y="3227033"/>
            <a:ext cx="6629400" cy="1219201"/>
          </a:xfrm>
        </p:spPr>
        <p:txBody>
          <a:bodyPr anchor="b" anchorCtr="0">
            <a:noAutofit/>
          </a:bodyPr>
          <a:lstStyle>
            <a:lvl1pPr>
              <a:defRPr sz="4000">
                <a:solidFill>
                  <a:schemeClr val="accent1">
                    <a:lumMod val="50000"/>
                  </a:schemeClr>
                </a:solidFill>
              </a:defRPr>
            </a:lvl1pPr>
          </a:lstStyle>
          <a:p>
            <a:r>
              <a:rPr lang="zh-CN" altLang="en-US" smtClean="0"/>
              <a:t>单击此处编辑母版标题样式</a:t>
            </a:r>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a:p>
        </p:txBody>
      </p:sp>
      <p:sp>
        <p:nvSpPr>
          <p:cNvPr id="3" name="Content Placeholder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4" name="Date Placeholder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showMasterSp="0">
  <p:cSld name="节标题">
    <p:spTree>
      <p:nvGrpSpPr>
        <p:cNvPr id="1" name=""/>
        <p:cNvGrpSpPr/>
        <p:nvPr/>
      </p:nvGrpSpPr>
      <p:grpSpPr>
        <a:xfrm>
          <a:off x="0" y="0"/>
          <a:ext cx="0" cy="0"/>
          <a:chOff x="0" y="0"/>
          <a:chExt cx="0" cy="0"/>
        </a:xfrm>
      </p:grpSpPr>
      <p:sp>
        <p:nvSpPr>
          <p:cNvPr id="7" name="Rectangle 6"/>
          <p:cNvSpPr/>
          <p:nvPr/>
        </p:nvSpPr>
        <p:spPr>
          <a:xfrm>
            <a:off x="0" y="0"/>
            <a:ext cx="9144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8" name="Rounded Rectangle 7"/>
          <p:cNvSpPr/>
          <p:nvPr/>
        </p:nvSpPr>
        <p:spPr>
          <a:xfrm>
            <a:off x="91440" y="101600"/>
            <a:ext cx="8961120" cy="6664960"/>
          </a:xfrm>
          <a:prstGeom prst="roundRect">
            <a:avLst>
              <a:gd name="adj" fmla="val 1735"/>
            </a:avLst>
          </a:prstGeom>
          <a:ln w="12700" cmpd="sng">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13" name="Rectangle 12"/>
          <p:cNvSpPr/>
          <p:nvPr/>
        </p:nvSpPr>
        <p:spPr>
          <a:xfrm>
            <a:off x="451976" y="2946400"/>
            <a:ext cx="8265160" cy="2463800"/>
          </a:xfrm>
          <a:prstGeom prst="rect">
            <a:avLst/>
          </a:prstGeom>
          <a:solidFill>
            <a:srgbClr val="FFFFFF">
              <a:alpha val="83000"/>
            </a:srgbClr>
          </a:soli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p:cNvSpPr/>
          <p:nvPr/>
        </p:nvSpPr>
        <p:spPr>
          <a:xfrm>
            <a:off x="567656" y="3048000"/>
            <a:ext cx="8033800" cy="2245359"/>
          </a:xfrm>
          <a:prstGeom prst="rect">
            <a:avLst/>
          </a:prstGeom>
          <a:solidFill>
            <a:srgbClr val="FFFFFF"/>
          </a:solidFill>
          <a:ln w="6350" cmpd="dbl">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0C913308-F349-4B6D-A68A-DD1791B4A57B}" type="slidenum">
              <a:rPr lang="zh-CN" altLang="en-US" smtClean="0"/>
            </a:fld>
            <a:endParaRPr lang="zh-CN" altLang="en-US"/>
          </a:p>
        </p:txBody>
      </p:sp>
      <p:sp>
        <p:nvSpPr>
          <p:cNvPr id="2" name="Title 1"/>
          <p:cNvSpPr>
            <a:spLocks noGrp="1"/>
          </p:cNvSpPr>
          <p:nvPr>
            <p:ph type="title"/>
          </p:nvPr>
        </p:nvSpPr>
        <p:spPr>
          <a:xfrm>
            <a:off x="736456" y="3200399"/>
            <a:ext cx="7696200" cy="1295401"/>
          </a:xfrm>
        </p:spPr>
        <p:txBody>
          <a:bodyPr anchor="b" anchorCtr="0">
            <a:noAutofit/>
          </a:bodyPr>
          <a:lstStyle>
            <a:lvl1pPr algn="ctr" defTabSz="914400" rtl="0" eaLnBrk="1" latinLnBrk="0" hangingPunct="1">
              <a:spcBef>
                <a:spcPct val="0"/>
              </a:spcBef>
              <a:buNone/>
              <a:defRPr lang="en-US" sz="4000" kern="1200" cap="all" baseline="0" dirty="0">
                <a:solidFill>
                  <a:schemeClr val="accent1">
                    <a:lumMod val="50000"/>
                  </a:schemeClr>
                </a:solidFill>
                <a:latin typeface="+mj-lt"/>
                <a:ea typeface="+mj-ea"/>
                <a:cs typeface="+mj-cs"/>
              </a:defRPr>
            </a:lvl1pPr>
          </a:lstStyle>
          <a:p>
            <a:r>
              <a:rPr lang="zh-CN" altLang="en-US" smtClean="0"/>
              <a:t>单击此处编辑母版标题样式</a:t>
            </a:r>
            <a:endParaRPr lang="en-US" dirty="0"/>
          </a:p>
        </p:txBody>
      </p:sp>
      <p:sp>
        <p:nvSpPr>
          <p:cNvPr id="15" name="Rectangle 14"/>
          <p:cNvSpPr/>
          <p:nvPr/>
        </p:nvSpPr>
        <p:spPr>
          <a:xfrm>
            <a:off x="675496" y="4541520"/>
            <a:ext cx="7818120" cy="664367"/>
          </a:xfrm>
          <a:prstGeom prst="rect">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 Placeholder 2"/>
          <p:cNvSpPr>
            <a:spLocks noGrp="1"/>
          </p:cNvSpPr>
          <p:nvPr>
            <p:ph type="body" idx="1"/>
          </p:nvPr>
        </p:nvSpPr>
        <p:spPr>
          <a:xfrm>
            <a:off x="736456" y="4607510"/>
            <a:ext cx="7696200" cy="523783"/>
          </a:xfrm>
        </p:spPr>
        <p:txBody>
          <a:bodyPr anchor="ctr">
            <a:normAutofit/>
          </a:bodyPr>
          <a:lstStyle>
            <a:lvl1pPr marL="0" indent="0" algn="ctr">
              <a:buNone/>
              <a:defRPr sz="2000" cap="all" spc="250" baseline="0">
                <a:solidFill>
                  <a:srgbClr val="FFFFFF"/>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endParaRPr lang="zh-CN" altLang="en-US" smtClean="0"/>
          </a:p>
        </p:txBody>
      </p:sp>
      <p:sp>
        <p:nvSpPr>
          <p:cNvPr id="14" name="Rectangle 13"/>
          <p:cNvSpPr/>
          <p:nvPr/>
        </p:nvSpPr>
        <p:spPr>
          <a:xfrm>
            <a:off x="675757" y="3124200"/>
            <a:ext cx="7817599" cy="2077720"/>
          </a:xfrm>
          <a:prstGeom prst="rect">
            <a:avLst/>
          </a:prstGeom>
          <a:noFill/>
          <a:ln w="6350" cmpd="dbl">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a:xfrm>
            <a:off x="426128" y="408372"/>
            <a:ext cx="8260672" cy="1039427"/>
          </a:xfrm>
        </p:spPr>
        <p:txBody>
          <a:bodyPr/>
          <a:lstStyle/>
          <a:p>
            <a:r>
              <a:rPr lang="zh-CN" altLang="en-US" smtClean="0"/>
              <a:t>单击此处编辑母版标题样式</a:t>
            </a:r>
            <a:endParaRPr lang="en-US"/>
          </a:p>
        </p:txBody>
      </p:sp>
      <p:sp>
        <p:nvSpPr>
          <p:cNvPr id="3" name="Content Placeholder 2"/>
          <p:cNvSpPr>
            <a:spLocks noGrp="1"/>
          </p:cNvSpPr>
          <p:nvPr>
            <p:ph sz="half" idx="1"/>
          </p:nvPr>
        </p:nvSpPr>
        <p:spPr>
          <a:xfrm>
            <a:off x="426128" y="1719071"/>
            <a:ext cx="4038600" cy="440740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Content Placeholder 3"/>
          <p:cNvSpPr>
            <a:spLocks noGrp="1"/>
          </p:cNvSpPr>
          <p:nvPr>
            <p:ph sz="half" idx="2"/>
          </p:nvPr>
        </p:nvSpPr>
        <p:spPr>
          <a:xfrm>
            <a:off x="4648200" y="1719071"/>
            <a:ext cx="4038600" cy="440740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5" name="Date Placeholder 4"/>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426128" y="408372"/>
            <a:ext cx="8260672" cy="1039427"/>
          </a:xfrm>
        </p:spPr>
        <p:txBody>
          <a:bodyPr/>
          <a:lstStyle>
            <a:lvl1pPr>
              <a:defRPr/>
            </a:lvl1pPr>
          </a:lstStyle>
          <a:p>
            <a:r>
              <a:rPr lang="zh-CN" altLang="en-US" smtClean="0"/>
              <a:t>单击此处编辑母版标题样式</a:t>
            </a:r>
            <a:endParaRPr lang="en-US"/>
          </a:p>
        </p:txBody>
      </p:sp>
      <p:sp>
        <p:nvSpPr>
          <p:cNvPr id="3" name="Text Placeholder 2"/>
          <p:cNvSpPr>
            <a:spLocks noGrp="1"/>
          </p:cNvSpPr>
          <p:nvPr>
            <p:ph type="body" idx="1"/>
          </p:nvPr>
        </p:nvSpPr>
        <p:spPr>
          <a:xfrm>
            <a:off x="426128" y="1722438"/>
            <a:ext cx="4040188" cy="639762"/>
          </a:xfrm>
        </p:spPr>
        <p:txBody>
          <a:bodyPr anchor="b">
            <a:noAutofit/>
          </a:bodyPr>
          <a:lstStyle>
            <a:lvl1pPr marL="0" indent="0" algn="ctr">
              <a:buNone/>
              <a:defRPr sz="22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Content Placeholder 3"/>
          <p:cNvSpPr>
            <a:spLocks noGrp="1"/>
          </p:cNvSpPr>
          <p:nvPr>
            <p:ph sz="half" idx="2"/>
          </p:nvPr>
        </p:nvSpPr>
        <p:spPr>
          <a:xfrm>
            <a:off x="426128" y="2438400"/>
            <a:ext cx="4040188" cy="3687762"/>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5" name="Text Placeholder 4"/>
          <p:cNvSpPr>
            <a:spLocks noGrp="1"/>
          </p:cNvSpPr>
          <p:nvPr>
            <p:ph type="body" sz="quarter" idx="3"/>
          </p:nvPr>
        </p:nvSpPr>
        <p:spPr>
          <a:xfrm>
            <a:off x="4645025" y="1722438"/>
            <a:ext cx="4041775" cy="639762"/>
          </a:xfrm>
        </p:spPr>
        <p:txBody>
          <a:bodyPr anchor="b">
            <a:noAutofit/>
          </a:bodyPr>
          <a:lstStyle>
            <a:lvl1pPr marL="0" indent="0" algn="ctr">
              <a:buNone/>
              <a:defRPr sz="22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Content Placeholder 5"/>
          <p:cNvSpPr>
            <a:spLocks noGrp="1"/>
          </p:cNvSpPr>
          <p:nvPr>
            <p:ph sz="quarter" idx="4"/>
          </p:nvPr>
        </p:nvSpPr>
        <p:spPr>
          <a:xfrm>
            <a:off x="4645025" y="2438400"/>
            <a:ext cx="4041775" cy="3687762"/>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7" name="Date Placeholder 6"/>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a:p>
        </p:txBody>
      </p:sp>
      <p:sp>
        <p:nvSpPr>
          <p:cNvPr id="3" name="Date Placeholder 2"/>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showMasterSp="0">
  <p:cSld name="空白">
    <p:spTree>
      <p:nvGrpSpPr>
        <p:cNvPr id="1" name=""/>
        <p:cNvGrpSpPr/>
        <p:nvPr/>
      </p:nvGrpSpPr>
      <p:grpSpPr>
        <a:xfrm>
          <a:off x="0" y="0"/>
          <a:ext cx="0" cy="0"/>
          <a:chOff x="0" y="0"/>
          <a:chExt cx="0" cy="0"/>
        </a:xfrm>
      </p:grpSpPr>
      <p:sp>
        <p:nvSpPr>
          <p:cNvPr id="5" name="Rectangle 4"/>
          <p:cNvSpPr/>
          <p:nvPr/>
        </p:nvSpPr>
        <p:spPr>
          <a:xfrm>
            <a:off x="0" y="0"/>
            <a:ext cx="9144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ounded Rectangle 10"/>
          <p:cNvSpPr/>
          <p:nvPr/>
        </p:nvSpPr>
        <p:spPr>
          <a:xfrm>
            <a:off x="91440" y="101600"/>
            <a:ext cx="8961120" cy="6664960"/>
          </a:xfrm>
          <a:prstGeom prst="roundRect">
            <a:avLst>
              <a:gd name="adj" fmla="val 1735"/>
            </a:avLst>
          </a:prstGeom>
          <a:ln w="12700" cmpd="sng">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Date Placeholder 1"/>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showMasterSp="0">
  <p:cSld name="内容与标题">
    <p:spTree>
      <p:nvGrpSpPr>
        <p:cNvPr id="1" name=""/>
        <p:cNvGrpSpPr/>
        <p:nvPr/>
      </p:nvGrpSpPr>
      <p:grpSpPr>
        <a:xfrm>
          <a:off x="0" y="0"/>
          <a:ext cx="0" cy="0"/>
          <a:chOff x="0" y="0"/>
          <a:chExt cx="0" cy="0"/>
        </a:xfrm>
      </p:grpSpPr>
      <p:sp>
        <p:nvSpPr>
          <p:cNvPr id="11" name="Rectangle 10"/>
          <p:cNvSpPr/>
          <p:nvPr/>
        </p:nvSpPr>
        <p:spPr>
          <a:xfrm>
            <a:off x="0" y="0"/>
            <a:ext cx="9144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2" name="Rounded Rectangle 11"/>
          <p:cNvSpPr/>
          <p:nvPr/>
        </p:nvSpPr>
        <p:spPr>
          <a:xfrm>
            <a:off x="91440" y="101600"/>
            <a:ext cx="8961120" cy="6664960"/>
          </a:xfrm>
          <a:prstGeom prst="roundRect">
            <a:avLst>
              <a:gd name="adj" fmla="val 1735"/>
            </a:avLst>
          </a:prstGeom>
          <a:ln w="12700" cmpd="sng">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3886200" y="685800"/>
            <a:ext cx="4572000" cy="525780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5" name="Date Placeholder 4"/>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0C913308-F349-4B6D-A68A-DD1791B4A57B}" type="slidenum">
              <a:rPr lang="zh-CN" altLang="en-US" smtClean="0"/>
            </a:fld>
            <a:endParaRPr lang="zh-CN" altLang="en-US"/>
          </a:p>
        </p:txBody>
      </p:sp>
      <p:sp>
        <p:nvSpPr>
          <p:cNvPr id="8" name="Rectangle 7"/>
          <p:cNvSpPr/>
          <p:nvPr/>
        </p:nvSpPr>
        <p:spPr>
          <a:xfrm>
            <a:off x="560034" y="1505712"/>
            <a:ext cx="2716566" cy="3523488"/>
          </a:xfrm>
          <a:prstGeom prst="rect">
            <a:avLst/>
          </a:prstGeom>
          <a:solidFill>
            <a:srgbClr val="FFFFFF">
              <a:alpha val="83000"/>
            </a:srgbClr>
          </a:soli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676690" y="1642472"/>
            <a:ext cx="2483254" cy="3234328"/>
          </a:xfrm>
          <a:prstGeom prst="rect">
            <a:avLst/>
          </a:prstGeom>
          <a:solidFill>
            <a:srgbClr val="FFFFFF"/>
          </a:solidFill>
          <a:ln w="6350" cmpd="dbl">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Placeholder 3"/>
          <p:cNvSpPr>
            <a:spLocks noGrp="1"/>
          </p:cNvSpPr>
          <p:nvPr>
            <p:ph type="body" sz="half" idx="2"/>
          </p:nvPr>
        </p:nvSpPr>
        <p:spPr>
          <a:xfrm>
            <a:off x="769000" y="2971800"/>
            <a:ext cx="2298634" cy="1752600"/>
          </a:xfrm>
        </p:spPr>
        <p:txBody>
          <a:bodyPr/>
          <a:lstStyle>
            <a:lvl1pPr marL="0" indent="0">
              <a:spcBef>
                <a:spcPts val="400"/>
              </a:spcBef>
              <a:buNone/>
              <a:defRPr sz="1400">
                <a:solidFill>
                  <a:schemeClr val="accent1">
                    <a:lumMod val="5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2" name="Title 1"/>
          <p:cNvSpPr>
            <a:spLocks noGrp="1"/>
          </p:cNvSpPr>
          <p:nvPr>
            <p:ph type="title"/>
          </p:nvPr>
        </p:nvSpPr>
        <p:spPr>
          <a:xfrm>
            <a:off x="769000" y="1734312"/>
            <a:ext cx="2298634" cy="1191620"/>
          </a:xfrm>
        </p:spPr>
        <p:txBody>
          <a:bodyPr anchor="b">
            <a:normAutofit/>
          </a:bodyPr>
          <a:lstStyle>
            <a:lvl1pPr algn="l">
              <a:defRPr sz="2000" b="0">
                <a:solidFill>
                  <a:schemeClr val="accent1">
                    <a:lumMod val="75000"/>
                  </a:schemeClr>
                </a:solidFill>
              </a:defRPr>
            </a:lvl1pPr>
          </a:lstStyle>
          <a:p>
            <a:r>
              <a:rPr lang="zh-CN" altLang="en-US" smtClean="0"/>
              <a:t>单击此处编辑母版标题样式</a:t>
            </a:r>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showMasterSp="0">
  <p:cSld name="图片与标题">
    <p:spTree>
      <p:nvGrpSpPr>
        <p:cNvPr id="1" name=""/>
        <p:cNvGrpSpPr/>
        <p:nvPr/>
      </p:nvGrpSpPr>
      <p:grpSpPr>
        <a:xfrm>
          <a:off x="0" y="0"/>
          <a:ext cx="0" cy="0"/>
          <a:chOff x="0" y="0"/>
          <a:chExt cx="0" cy="0"/>
        </a:xfrm>
      </p:grpSpPr>
      <p:sp>
        <p:nvSpPr>
          <p:cNvPr id="8" name="Rectangle 7"/>
          <p:cNvSpPr/>
          <p:nvPr/>
        </p:nvSpPr>
        <p:spPr>
          <a:xfrm>
            <a:off x="0" y="0"/>
            <a:ext cx="9144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9" name="Rounded Rectangle 8"/>
          <p:cNvSpPr/>
          <p:nvPr/>
        </p:nvSpPr>
        <p:spPr>
          <a:xfrm>
            <a:off x="91440" y="101600"/>
            <a:ext cx="8961120" cy="6664960"/>
          </a:xfrm>
          <a:prstGeom prst="roundRect">
            <a:avLst>
              <a:gd name="adj" fmla="val 1735"/>
            </a:avLst>
          </a:prstGeom>
          <a:ln w="12700" cmpd="sng">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Picture Placeholder 2"/>
          <p:cNvSpPr>
            <a:spLocks noGrp="1"/>
          </p:cNvSpPr>
          <p:nvPr>
            <p:ph type="pic" idx="1"/>
          </p:nvPr>
        </p:nvSpPr>
        <p:spPr>
          <a:xfrm>
            <a:off x="685800" y="621437"/>
            <a:ext cx="7772400" cy="4331564"/>
          </a:xfrm>
          <a:solidFill>
            <a:schemeClr val="bg2"/>
          </a:solidFill>
          <a:ln>
            <a:noFill/>
          </a:ln>
          <a:effectLst>
            <a:softEdge rad="12700"/>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smtClean="0"/>
              <a:t>单击图标添加图片</a:t>
            </a:r>
            <a:endParaRPr lang="en-US" dirty="0"/>
          </a:p>
        </p:txBody>
      </p:sp>
      <p:sp>
        <p:nvSpPr>
          <p:cNvPr id="5" name="Date Placeholder 4"/>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7" name="Slide Number Placeholder 6"/>
          <p:cNvSpPr>
            <a:spLocks noGrp="1"/>
          </p:cNvSpPr>
          <p:nvPr>
            <p:ph type="sldNum" sz="quarter" idx="12"/>
          </p:nvPr>
        </p:nvSpPr>
        <p:spPr/>
        <p:txBody>
          <a:bodyPr/>
          <a:lstStyle/>
          <a:p>
            <a:fld id="{0C913308-F349-4B6D-A68A-DD1791B4A57B}" type="slidenum">
              <a:rPr lang="zh-CN" altLang="en-US" smtClean="0"/>
            </a:fld>
            <a:endParaRPr lang="zh-CN" altLang="en-US"/>
          </a:p>
        </p:txBody>
      </p:sp>
      <p:sp>
        <p:nvSpPr>
          <p:cNvPr id="10" name="Rectangle 9"/>
          <p:cNvSpPr/>
          <p:nvPr/>
        </p:nvSpPr>
        <p:spPr>
          <a:xfrm>
            <a:off x="685800" y="4953000"/>
            <a:ext cx="7772400" cy="1371600"/>
          </a:xfrm>
          <a:prstGeom prst="rect">
            <a:avLst/>
          </a:prstGeom>
          <a:solidFill>
            <a:srgbClr val="FFFFFF">
              <a:alpha val="83000"/>
            </a:srgbClr>
          </a:soli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761999" y="5029200"/>
            <a:ext cx="7600765" cy="1202924"/>
          </a:xfrm>
          <a:prstGeom prst="rect">
            <a:avLst/>
          </a:prstGeom>
          <a:solidFill>
            <a:srgbClr val="FFFFFF"/>
          </a:solidFill>
          <a:ln w="6350" cmpd="dbl">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Footer Placeholder 5"/>
          <p:cNvSpPr>
            <a:spLocks noGrp="1"/>
          </p:cNvSpPr>
          <p:nvPr>
            <p:ph type="ftr" sz="quarter" idx="11"/>
          </p:nvPr>
        </p:nvSpPr>
        <p:spPr/>
        <p:txBody>
          <a:bodyPr/>
          <a:lstStyle/>
          <a:p>
            <a:endParaRPr lang="zh-CN" altLang="en-US"/>
          </a:p>
        </p:txBody>
      </p:sp>
      <p:sp>
        <p:nvSpPr>
          <p:cNvPr id="13" name="Rectangle 12"/>
          <p:cNvSpPr/>
          <p:nvPr/>
        </p:nvSpPr>
        <p:spPr>
          <a:xfrm>
            <a:off x="914400" y="5638800"/>
            <a:ext cx="7328514" cy="451696"/>
          </a:xfrm>
          <a:prstGeom prst="rect">
            <a:avLst/>
          </a:prstGeom>
          <a:solidFill>
            <a:schemeClr val="accent1"/>
          </a:solidFill>
          <a:ln w="6350" cmpd="dbl">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605589" y="5074920"/>
            <a:ext cx="7946136" cy="1097280"/>
          </a:xfrm>
          <a:prstGeom prst="rect">
            <a:avLst/>
          </a:prstGeom>
          <a:noFill/>
          <a:ln w="6350" cmpd="dbl">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Placeholder 3"/>
          <p:cNvSpPr>
            <a:spLocks noGrp="1"/>
          </p:cNvSpPr>
          <p:nvPr>
            <p:ph type="body" sz="half" idx="2"/>
          </p:nvPr>
        </p:nvSpPr>
        <p:spPr>
          <a:xfrm>
            <a:off x="956289" y="5656556"/>
            <a:ext cx="7244736" cy="401715"/>
          </a:xfrm>
        </p:spPr>
        <p:txBody>
          <a:bodyPr anchor="ctr">
            <a:normAutofit/>
          </a:bodyPr>
          <a:lstStyle>
            <a:lvl1pPr marL="0" indent="0" algn="ctr">
              <a:buNone/>
              <a:defRPr sz="1500" cap="all" spc="250" baseline="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2" name="Title 1"/>
          <p:cNvSpPr>
            <a:spLocks noGrp="1"/>
          </p:cNvSpPr>
          <p:nvPr>
            <p:ph type="title"/>
          </p:nvPr>
        </p:nvSpPr>
        <p:spPr>
          <a:xfrm>
            <a:off x="914400" y="5105400"/>
            <a:ext cx="7328514" cy="523043"/>
          </a:xfrm>
        </p:spPr>
        <p:txBody>
          <a:bodyPr anchor="ctr" anchorCtr="0"/>
          <a:lstStyle>
            <a:lvl1pPr algn="ctr">
              <a:defRPr sz="2000" b="0">
                <a:solidFill>
                  <a:schemeClr val="accent1">
                    <a:lumMod val="75000"/>
                  </a:schemeClr>
                </a:solidFill>
              </a:defRPr>
            </a:lvl1pPr>
          </a:lstStyle>
          <a:p>
            <a:r>
              <a:rPr lang="zh-CN" altLang="en-US" smtClean="0"/>
              <a:t>单击此处编辑母版标题样式</a:t>
            </a:r>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a:p>
        </p:txBody>
      </p:sp>
      <p:sp>
        <p:nvSpPr>
          <p:cNvPr id="3" name="Vertical Text Placeholder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4" name="Date Placeholder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showMasterSp="0">
  <p:cSld name="垂直排列标题与文本">
    <p:spTree>
      <p:nvGrpSpPr>
        <p:cNvPr id="1" name=""/>
        <p:cNvGrpSpPr/>
        <p:nvPr/>
      </p:nvGrpSpPr>
      <p:grpSpPr>
        <a:xfrm>
          <a:off x="0" y="0"/>
          <a:ext cx="0" cy="0"/>
          <a:chOff x="0" y="0"/>
          <a:chExt cx="0" cy="0"/>
        </a:xfrm>
      </p:grpSpPr>
      <p:sp>
        <p:nvSpPr>
          <p:cNvPr id="7" name="Rectangle 6"/>
          <p:cNvSpPr/>
          <p:nvPr/>
        </p:nvSpPr>
        <p:spPr>
          <a:xfrm>
            <a:off x="6861702" y="228600"/>
            <a:ext cx="1859280" cy="6122634"/>
          </a:xfrm>
          <a:prstGeom prst="rect">
            <a:avLst/>
          </a:prstGeom>
          <a:solidFill>
            <a:srgbClr val="FFFFFF">
              <a:alpha val="85000"/>
            </a:srgb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lang="en-US" sz="1800" kern="1200">
              <a:solidFill>
                <a:schemeClr val="lt1"/>
              </a:solidFill>
              <a:latin typeface="+mn-lt"/>
              <a:ea typeface="+mn-ea"/>
              <a:cs typeface="+mn-cs"/>
            </a:endParaRPr>
          </a:p>
        </p:txBody>
      </p:sp>
      <p:sp>
        <p:nvSpPr>
          <p:cNvPr id="8" name="Rectangle 7"/>
          <p:cNvSpPr/>
          <p:nvPr/>
        </p:nvSpPr>
        <p:spPr>
          <a:xfrm>
            <a:off x="6955225" y="351409"/>
            <a:ext cx="1672235" cy="5877017"/>
          </a:xfrm>
          <a:prstGeom prst="rect">
            <a:avLst/>
          </a:prstGeom>
          <a:solidFill>
            <a:srgbClr val="FFFFFF"/>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Vertical Title 1"/>
          <p:cNvSpPr>
            <a:spLocks noGrp="1"/>
          </p:cNvSpPr>
          <p:nvPr>
            <p:ph type="title" orient="vert"/>
          </p:nvPr>
        </p:nvSpPr>
        <p:spPr>
          <a:xfrm>
            <a:off x="7048577" y="395427"/>
            <a:ext cx="1485531" cy="5788981"/>
          </a:xfrm>
        </p:spPr>
        <p:txBody>
          <a:bodyPr vert="eaVert"/>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a:xfrm>
            <a:off x="457200" y="380999"/>
            <a:ext cx="6172200" cy="5791201"/>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8" name="Rectangle 7"/>
          <p:cNvSpPr/>
          <p:nvPr/>
        </p:nvSpPr>
        <p:spPr>
          <a:xfrm>
            <a:off x="0" y="0"/>
            <a:ext cx="9144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7" name="Rounded Rectangle 6"/>
          <p:cNvSpPr/>
          <p:nvPr/>
        </p:nvSpPr>
        <p:spPr>
          <a:xfrm>
            <a:off x="91440" y="101600"/>
            <a:ext cx="8961120" cy="6664960"/>
          </a:xfrm>
          <a:prstGeom prst="roundRect">
            <a:avLst>
              <a:gd name="adj" fmla="val 1735"/>
            </a:avLst>
          </a:prstGeom>
          <a:ln w="12700" cmpd="sng">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 Placeholder 2"/>
          <p:cNvSpPr>
            <a:spLocks noGrp="1"/>
          </p:cNvSpPr>
          <p:nvPr>
            <p:ph type="body" idx="1"/>
          </p:nvPr>
        </p:nvSpPr>
        <p:spPr>
          <a:xfrm>
            <a:off x="457200" y="1752600"/>
            <a:ext cx="8229600" cy="4373563"/>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2"/>
                </a:solidFill>
              </a:defRPr>
            </a:lvl1pPr>
          </a:lstStyle>
          <a:p>
            <a:fld id="{530820CF-B880-4189-942D-D702A7CBA730}" type="datetimeFigureOut">
              <a:rPr lang="zh-CN" altLang="en-US" smtClean="0"/>
            </a:fld>
            <a:endParaRPr lang="zh-CN" alt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2"/>
                </a:solidFill>
              </a:defRPr>
            </a:lvl1pPr>
          </a:lstStyle>
          <a:p>
            <a:endParaRPr lang="zh-CN" alt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2"/>
                </a:solidFill>
              </a:defRPr>
            </a:lvl1pPr>
          </a:lstStyle>
          <a:p>
            <a:fld id="{0C913308-F349-4B6D-A68A-DD1791B4A57B}" type="slidenum">
              <a:rPr lang="zh-CN" altLang="en-US" smtClean="0"/>
            </a:fld>
            <a:endParaRPr lang="zh-CN" altLang="en-US"/>
          </a:p>
        </p:txBody>
      </p:sp>
      <p:sp>
        <p:nvSpPr>
          <p:cNvPr id="9" name="Rectangle 8"/>
          <p:cNvSpPr/>
          <p:nvPr/>
        </p:nvSpPr>
        <p:spPr>
          <a:xfrm>
            <a:off x="274320" y="278166"/>
            <a:ext cx="8595360" cy="1325880"/>
          </a:xfrm>
          <a:prstGeom prst="rect">
            <a:avLst/>
          </a:prstGeom>
          <a:solidFill>
            <a:srgbClr val="FFFFFF">
              <a:alpha val="83000"/>
            </a:srgbClr>
          </a:soli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lang="en-US" sz="1800" kern="1200">
              <a:solidFill>
                <a:schemeClr val="lt1"/>
              </a:solidFill>
              <a:latin typeface="+mn-lt"/>
              <a:ea typeface="+mn-ea"/>
              <a:cs typeface="+mn-cs"/>
            </a:endParaRPr>
          </a:p>
        </p:txBody>
      </p:sp>
      <p:sp>
        <p:nvSpPr>
          <p:cNvPr id="10" name="Rectangle 9"/>
          <p:cNvSpPr/>
          <p:nvPr/>
        </p:nvSpPr>
        <p:spPr>
          <a:xfrm>
            <a:off x="372863" y="372862"/>
            <a:ext cx="8380520" cy="1118587"/>
          </a:xfrm>
          <a:prstGeom prst="rect">
            <a:avLst/>
          </a:prstGeom>
          <a:solidFill>
            <a:srgbClr val="FFFFFF"/>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426128" y="408372"/>
            <a:ext cx="8260672" cy="1039427"/>
          </a:xfrm>
          <a:prstGeom prst="rect">
            <a:avLst/>
          </a:prstGeom>
        </p:spPr>
        <p:txBody>
          <a:bodyPr vert="horz" lIns="91440" tIns="45720" rIns="91440" bIns="45720" rtlCol="0" anchor="ctr">
            <a:normAutofit/>
          </a:bodyPr>
          <a:lstStyle/>
          <a:p>
            <a:r>
              <a:rPr lang="zh-CN" altLang="en-US" smtClean="0"/>
              <a:t>单击此处编辑母版标题样式</a:t>
            </a:r>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3500" kern="1200" cap="all" baseline="0">
          <a:solidFill>
            <a:schemeClr val="accent1">
              <a:lumMod val="75000"/>
            </a:schemeClr>
          </a:solidFill>
          <a:latin typeface="+mj-lt"/>
          <a:ea typeface="+mj-ea"/>
          <a:cs typeface="+mj-cs"/>
        </a:defRPr>
      </a:lvl1pPr>
    </p:titleStyle>
    <p:bodyStyle>
      <a:lvl1pPr marL="342900" indent="-228600" algn="l" defTabSz="914400" rtl="0" eaLnBrk="1" latinLnBrk="0" hangingPunct="1">
        <a:spcBef>
          <a:spcPct val="20000"/>
        </a:spcBef>
        <a:buClr>
          <a:schemeClr val="accent1"/>
        </a:buClr>
        <a:buFont typeface="Arial" panose="020B0604020202020204" pitchFamily="34" charset="0"/>
        <a:buChar char="•"/>
        <a:defRPr sz="2400" kern="1200">
          <a:solidFill>
            <a:schemeClr val="tx2"/>
          </a:solidFill>
          <a:latin typeface="+mn-lt"/>
          <a:ea typeface="+mn-ea"/>
          <a:cs typeface="+mn-cs"/>
        </a:defRPr>
      </a:lvl1pPr>
      <a:lvl2pPr marL="640080" indent="-228600" algn="l" defTabSz="914400" rtl="0" eaLnBrk="1" latinLnBrk="0" hangingPunct="1">
        <a:spcBef>
          <a:spcPct val="20000"/>
        </a:spcBef>
        <a:buClr>
          <a:schemeClr val="accent2"/>
        </a:buClr>
        <a:buFont typeface="Arial" panose="020B0604020202020204" pitchFamily="34" charset="0"/>
        <a:buChar char="•"/>
        <a:defRPr sz="2000" kern="1200">
          <a:solidFill>
            <a:schemeClr val="tx2"/>
          </a:solidFill>
          <a:latin typeface="+mn-lt"/>
          <a:ea typeface="+mn-ea"/>
          <a:cs typeface="+mn-cs"/>
        </a:defRPr>
      </a:lvl2pPr>
      <a:lvl3pPr marL="914400" indent="-228600" algn="l" defTabSz="914400" rtl="0" eaLnBrk="1" latinLnBrk="0" hangingPunct="1">
        <a:spcBef>
          <a:spcPct val="20000"/>
        </a:spcBef>
        <a:buClr>
          <a:schemeClr val="accent3"/>
        </a:buClr>
        <a:buFont typeface="Arial" panose="020B0604020202020204" pitchFamily="34" charset="0"/>
        <a:buChar char="•"/>
        <a:defRPr sz="1800" kern="1200">
          <a:solidFill>
            <a:schemeClr val="tx2"/>
          </a:solidFill>
          <a:latin typeface="+mn-lt"/>
          <a:ea typeface="+mn-ea"/>
          <a:cs typeface="+mn-cs"/>
        </a:defRPr>
      </a:lvl3pPr>
      <a:lvl4pPr marL="1280160" indent="-228600" algn="l" defTabSz="914400" rtl="0" eaLnBrk="1" latinLnBrk="0" hangingPunct="1">
        <a:spcBef>
          <a:spcPct val="20000"/>
        </a:spcBef>
        <a:buClr>
          <a:schemeClr val="accent4"/>
        </a:buClr>
        <a:buFont typeface="Arial" panose="020B0604020202020204" pitchFamily="34" charset="0"/>
        <a:buChar char="•"/>
        <a:defRPr sz="1600" kern="1200">
          <a:solidFill>
            <a:schemeClr val="tx2"/>
          </a:solidFill>
          <a:latin typeface="+mn-lt"/>
          <a:ea typeface="+mn-ea"/>
          <a:cs typeface="+mn-cs"/>
        </a:defRPr>
      </a:lvl4pPr>
      <a:lvl5pPr marL="1554480" indent="-228600" algn="l" defTabSz="914400" rtl="0" eaLnBrk="1" latinLnBrk="0" hangingPunct="1">
        <a:spcBef>
          <a:spcPct val="20000"/>
        </a:spcBef>
        <a:buClr>
          <a:schemeClr val="accent5"/>
        </a:buClr>
        <a:buFont typeface="Arial" panose="020B0604020202020204" pitchFamily="34" charset="0"/>
        <a:buChar char="•"/>
        <a:defRPr sz="1600" kern="1200" baseline="0">
          <a:solidFill>
            <a:schemeClr val="tx2"/>
          </a:solidFill>
          <a:latin typeface="+mn-lt"/>
          <a:ea typeface="+mn-ea"/>
          <a:cs typeface="+mn-cs"/>
        </a:defRPr>
      </a:lvl5pPr>
      <a:lvl6pPr marL="1737360" indent="-182880" algn="l" defTabSz="914400" rtl="0" eaLnBrk="1" latinLnBrk="0" hangingPunct="1">
        <a:spcBef>
          <a:spcPct val="20000"/>
        </a:spcBef>
        <a:buClr>
          <a:schemeClr val="accent1"/>
        </a:buClr>
        <a:buFont typeface="Arial" panose="020B0604020202020204" pitchFamily="34" charset="0"/>
        <a:buChar char="•"/>
        <a:defRPr sz="1400" kern="1200">
          <a:solidFill>
            <a:schemeClr val="tx2"/>
          </a:solidFill>
          <a:latin typeface="+mn-lt"/>
          <a:ea typeface="+mn-ea"/>
          <a:cs typeface="+mn-cs"/>
        </a:defRPr>
      </a:lvl6pPr>
      <a:lvl7pPr marL="2011680" indent="-182880" algn="l" defTabSz="914400" rtl="0" eaLnBrk="1" latinLnBrk="0" hangingPunct="1">
        <a:spcBef>
          <a:spcPct val="20000"/>
        </a:spcBef>
        <a:buClr>
          <a:schemeClr val="accent2"/>
        </a:buClr>
        <a:buFont typeface="Arial" panose="020B0604020202020204" pitchFamily="34" charset="0"/>
        <a:buChar char="•"/>
        <a:defRPr sz="1400" kern="1200">
          <a:solidFill>
            <a:schemeClr val="tx2"/>
          </a:solidFill>
          <a:latin typeface="+mn-lt"/>
          <a:ea typeface="+mn-ea"/>
          <a:cs typeface="+mn-cs"/>
        </a:defRPr>
      </a:lvl7pPr>
      <a:lvl8pPr marL="2194560" indent="-182880" algn="l" defTabSz="914400" rtl="0" eaLnBrk="1" latinLnBrk="0" hangingPunct="1">
        <a:spcBef>
          <a:spcPct val="20000"/>
        </a:spcBef>
        <a:buClr>
          <a:schemeClr val="accent3"/>
        </a:buClr>
        <a:buFont typeface="Arial" panose="020B0604020202020204" pitchFamily="34" charset="0"/>
        <a:buChar char="•"/>
        <a:defRPr sz="1400" kern="1200">
          <a:solidFill>
            <a:schemeClr val="tx2"/>
          </a:solidFill>
          <a:latin typeface="+mn-lt"/>
          <a:ea typeface="+mn-ea"/>
          <a:cs typeface="+mn-cs"/>
        </a:defRPr>
      </a:lvl8pPr>
      <a:lvl9pPr marL="2377440" indent="-182880" algn="l" defTabSz="914400" rtl="0" eaLnBrk="1" latinLnBrk="0" hangingPunct="1">
        <a:spcBef>
          <a:spcPct val="20000"/>
        </a:spcBef>
        <a:buClr>
          <a:schemeClr val="accent4"/>
        </a:buClr>
        <a:buFont typeface="Arial" panose="020B0604020202020204" pitchFamily="34" charset="0"/>
        <a:buChar char="•"/>
        <a:defRPr sz="14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p:txBody>
          <a:bodyPr/>
          <a:lstStyle/>
          <a:p>
            <a:endParaRPr lang="zh-CN" altLang="en-US"/>
          </a:p>
        </p:txBody>
      </p:sp>
      <p:sp>
        <p:nvSpPr>
          <p:cNvPr id="2" name="标题 1"/>
          <p:cNvSpPr>
            <a:spLocks noGrp="1"/>
          </p:cNvSpPr>
          <p:nvPr>
            <p:ph type="ctrTitle"/>
          </p:nvPr>
        </p:nvSpPr>
        <p:spPr/>
        <p:txBody>
          <a:bodyPr/>
          <a:lstStyle/>
          <a:p>
            <a:r>
              <a:rPr lang="en-US" altLang="zh-CN" sz="2800" dirty="0">
                <a:latin typeface="Times New Roman" panose="02020603050405020304" charset="0"/>
                <a:cs typeface="Times New Roman" panose="02020603050405020304" charset="0"/>
              </a:rPr>
              <a:t>Chapter 2  Theories of International Organizations</a:t>
            </a:r>
            <a:endParaRPr lang="en-US" altLang="zh-CN" sz="2800" dirty="0">
              <a:latin typeface="Times New Roman" panose="02020603050405020304" charset="0"/>
              <a:cs typeface="Times New Roman" panose="02020603050405020304"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36600" y="3081655"/>
            <a:ext cx="7696200" cy="1414145"/>
          </a:xfrm>
        </p:spPr>
        <p:txBody>
          <a:bodyPr/>
          <a:lstStyle/>
          <a:p>
            <a:r>
              <a:rPr lang="en-US" altLang="zh-CN" sz="3200" dirty="0"/>
              <a:t>Section </a:t>
            </a:r>
            <a:r>
              <a:rPr lang="en-US" altLang="zh-CN" sz="3200" dirty="0"/>
              <a:t>one  Marxist Theories on International Organizations</a:t>
            </a:r>
            <a:endParaRPr lang="en-US" altLang="zh-CN" sz="3200" dirty="0"/>
          </a:p>
        </p:txBody>
      </p:sp>
      <p:sp>
        <p:nvSpPr>
          <p:cNvPr id="3" name="文本占位符 2"/>
          <p:cNvSpPr>
            <a:spLocks noGrp="1"/>
          </p:cNvSpPr>
          <p:nvPr>
            <p:ph type="body" idx="1"/>
          </p:nvPr>
        </p:nvSpPr>
        <p:spPr/>
        <p:txBody>
          <a:bodyPr/>
          <a:lstStyle/>
          <a:p>
            <a:pPr algn="r"/>
            <a:endParaRPr lang="zh-CN" alt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sz="2700" dirty="0">
                <a:latin typeface="Times New Roman" panose="02020603050405020304" charset="0"/>
                <a:cs typeface="Times New Roman" panose="02020603050405020304" charset="0"/>
              </a:rPr>
              <a:t>I. Marxist Theoretical Inquiry and Key Practices Concerning International Organizations </a:t>
            </a:r>
            <a:r>
              <a:rPr lang="en-US" altLang="zh-CN" sz="2700" dirty="0"/>
              <a:t> </a:t>
            </a:r>
            <a:endParaRPr lang="en-US" altLang="zh-CN" sz="2700" dirty="0"/>
          </a:p>
        </p:txBody>
      </p:sp>
      <p:sp>
        <p:nvSpPr>
          <p:cNvPr id="3" name="内容占位符 2"/>
          <p:cNvSpPr>
            <a:spLocks noGrp="1"/>
          </p:cNvSpPr>
          <p:nvPr>
            <p:ph idx="1"/>
          </p:nvPr>
        </p:nvSpPr>
        <p:spPr>
          <a:xfrm>
            <a:off x="457200" y="1752600"/>
            <a:ext cx="8229600" cy="4556720"/>
          </a:xfrm>
        </p:spPr>
        <p:txBody>
          <a:bodyPr>
            <a:normAutofit/>
          </a:bodyPr>
          <a:lstStyle/>
          <a:p>
            <a:pPr marL="571500" indent="-457200">
              <a:buFont typeface="+mj-lt"/>
              <a:buAutoNum type="arabicPeriod"/>
            </a:pPr>
            <a:endParaRPr lang="en-US" altLang="zh-CN" b="1" dirty="0" smtClean="0"/>
          </a:p>
          <a:p>
            <a:pPr marL="571500" indent="-457200">
              <a:buNone/>
            </a:pPr>
            <a:r>
              <a:rPr lang="en-US" altLang="zh-CN" dirty="0">
                <a:latin typeface="+mn-ea"/>
              </a:rPr>
              <a:t>-</a:t>
            </a:r>
            <a:r>
              <a:rPr lang="en-US" altLang="zh-CN" sz="2800" dirty="0">
                <a:latin typeface="Times New Roman" panose="02020603050405020304" charset="0"/>
                <a:cs typeface="Times New Roman" panose="02020603050405020304" charset="0"/>
              </a:rPr>
              <a:t> </a:t>
            </a:r>
            <a:r>
              <a:rPr lang="en-US" altLang="zh-CN" sz="2800" b="1" dirty="0">
                <a:latin typeface="Times New Roman" panose="02020603050405020304" charset="0"/>
                <a:cs typeface="Times New Roman" panose="02020603050405020304" charset="0"/>
              </a:rPr>
              <a:t>(A)</a:t>
            </a:r>
            <a:r>
              <a:rPr lang="en-US" altLang="zh-CN" sz="2800" dirty="0">
                <a:latin typeface="Times New Roman" panose="02020603050405020304" charset="0"/>
                <a:cs typeface="Times New Roman" panose="02020603050405020304" charset="0"/>
              </a:rPr>
              <a:t> The Idea of International Unity  </a:t>
            </a:r>
            <a:endParaRPr lang="en-US" altLang="zh-CN" sz="2800" dirty="0">
              <a:latin typeface="Times New Roman" panose="02020603050405020304" charset="0"/>
              <a:cs typeface="Times New Roman" panose="02020603050405020304" charset="0"/>
            </a:endParaRPr>
          </a:p>
          <a:p>
            <a:pPr marL="571500" indent="-457200">
              <a:buNone/>
            </a:pPr>
            <a:r>
              <a:rPr lang="en-US" altLang="zh-CN" sz="2800" dirty="0">
                <a:latin typeface="Times New Roman" panose="02020603050405020304" charset="0"/>
                <a:cs typeface="Times New Roman" panose="02020603050405020304" charset="0"/>
              </a:rPr>
              <a:t>- (B) The Practice of the International Workers’ Movement  </a:t>
            </a:r>
            <a:endParaRPr lang="en-US" altLang="zh-CN" sz="2800" dirty="0">
              <a:latin typeface="Times New Roman" panose="02020603050405020304" charset="0"/>
              <a:cs typeface="Times New Roman" panose="02020603050405020304" charset="0"/>
            </a:endParaRPr>
          </a:p>
          <a:p>
            <a:pPr marL="571500" indent="-457200">
              <a:buNone/>
            </a:pPr>
            <a:r>
              <a:rPr lang="en-US" altLang="zh-CN" sz="2800" dirty="0">
                <a:latin typeface="Times New Roman" panose="02020603050405020304" charset="0"/>
                <a:cs typeface="Times New Roman" panose="02020603050405020304" charset="0"/>
              </a:rPr>
              <a:t>- (C) Basic Principles of International Unity  </a:t>
            </a:r>
            <a:endParaRPr lang="en-US" altLang="zh-CN" sz="2800" dirty="0">
              <a:latin typeface="Times New Roman" panose="02020603050405020304" charset="0"/>
              <a:cs typeface="Times New Roman" panose="02020603050405020304" charset="0"/>
            </a:endParaRPr>
          </a:p>
          <a:p>
            <a:pPr marL="571500" indent="-457200">
              <a:buNone/>
            </a:pPr>
            <a:r>
              <a:rPr lang="en-US" altLang="zh-CN" sz="2800" dirty="0">
                <a:latin typeface="Times New Roman" panose="02020603050405020304" charset="0"/>
                <a:cs typeface="Times New Roman" panose="02020603050405020304" charset="0"/>
              </a:rPr>
              <a:t>- (D) Organizations of International Unity</a:t>
            </a:r>
            <a:endParaRPr lang="en-US" altLang="zh-CN" sz="2800" dirty="0">
              <a:latin typeface="Times New Roman" panose="02020603050405020304" charset="0"/>
              <a:cs typeface="Times New Roman" panose="02020603050405020304" charset="0"/>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pPr algn="l"/>
            <a:r>
              <a:rPr lang="en-US" altLang="zh-CN" sz="3200" dirty="0"/>
              <a:t>(A) Marxist Thought on International Unity</a:t>
            </a:r>
            <a:endParaRPr lang="en-US" altLang="zh-CN" sz="3200" dirty="0"/>
          </a:p>
        </p:txBody>
      </p:sp>
      <p:sp>
        <p:nvSpPr>
          <p:cNvPr id="3" name="内容占位符 2"/>
          <p:cNvSpPr>
            <a:spLocks noGrp="1"/>
          </p:cNvSpPr>
          <p:nvPr>
            <p:ph idx="1"/>
          </p:nvPr>
        </p:nvSpPr>
        <p:spPr>
          <a:xfrm>
            <a:off x="251520" y="1752600"/>
            <a:ext cx="8435280" cy="4373563"/>
          </a:xfrm>
        </p:spPr>
        <p:txBody>
          <a:bodyPr>
            <a:normAutofit lnSpcReduction="20000"/>
          </a:bodyPr>
          <a:lstStyle/>
          <a:p>
            <a:pPr marL="114300" indent="0">
              <a:buNone/>
            </a:pPr>
            <a:endParaRPr lang="en-US" altLang="zh-CN" dirty="0" smtClean="0">
              <a:latin typeface="+mj-ea"/>
              <a:ea typeface="+mj-ea"/>
            </a:endParaRPr>
          </a:p>
          <a:p>
            <a:pPr marL="114300" indent="0">
              <a:buNone/>
            </a:pPr>
            <a:r>
              <a:rPr lang="en-US" altLang="zh-CN" dirty="0" smtClean="0"/>
              <a:t>Proletarian international unity has its objective foundation, inherent necessity, and practical imperative: a shared social position, a common historical mission, and a unified political aspiration.</a:t>
            </a:r>
            <a:endParaRPr lang="en-US" altLang="zh-CN" dirty="0" smtClean="0"/>
          </a:p>
          <a:p>
            <a:pPr marL="114300" indent="0">
              <a:buNone/>
            </a:pPr>
            <a:endParaRPr lang="en-US" altLang="zh-CN" dirty="0" smtClean="0"/>
          </a:p>
          <a:p>
            <a:pPr marL="114300" indent="0">
              <a:buNone/>
            </a:pPr>
            <a:r>
              <a:rPr lang="en-US" altLang="zh-CN" dirty="0" smtClean="0"/>
              <a:t>By the late nineteenth and early twentieth centuries, world development had entered a new stage marked by novel features: the possibility of worldwide national-liberation movements and the gestation of a social revolution of global significance.</a:t>
            </a:r>
            <a:endParaRPr lang="en-US" altLang="zh-CN" dirty="0" smtClean="0"/>
          </a:p>
          <a:p>
            <a:pPr marL="114300" indent="0">
              <a:buNone/>
            </a:pPr>
            <a:endParaRPr lang="en-US" altLang="zh-CN" dirty="0" smtClean="0"/>
          </a:p>
          <a:p>
            <a:pPr marL="114300" indent="0">
              <a:buNone/>
            </a:pPr>
            <a:r>
              <a:rPr lang="en-US" altLang="zh-CN" i="1" dirty="0" smtClean="0"/>
              <a:t>“Workers of all lands, unite!”</a:t>
            </a:r>
            <a:endParaRPr lang="en-US" altLang="zh-CN" i="1" dirty="0" smtClean="0"/>
          </a:p>
          <a:p>
            <a:pPr marL="114300" indent="0">
              <a:buNone/>
            </a:pPr>
            <a:endParaRPr lang="en-US" altLang="zh-CN" i="1" dirty="0" smtClean="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pPr algn="l"/>
            <a:r>
              <a:rPr lang="en-US" altLang="zh-CN" sz="3200" dirty="0"/>
              <a:t>(B) Marxist Leadership in the Practice of the International Workers' Movement</a:t>
            </a:r>
            <a:endParaRPr lang="en-US" altLang="zh-CN" sz="3200" dirty="0"/>
          </a:p>
        </p:txBody>
      </p:sp>
      <p:sp>
        <p:nvSpPr>
          <p:cNvPr id="3" name="内容占位符 2"/>
          <p:cNvSpPr>
            <a:spLocks noGrp="1"/>
          </p:cNvSpPr>
          <p:nvPr>
            <p:ph idx="1"/>
          </p:nvPr>
        </p:nvSpPr>
        <p:spPr>
          <a:xfrm>
            <a:off x="457200" y="1752600"/>
            <a:ext cx="8229600" cy="4700736"/>
          </a:xfrm>
        </p:spPr>
        <p:txBody>
          <a:bodyPr>
            <a:normAutofit/>
          </a:bodyPr>
          <a:lstStyle/>
          <a:p>
            <a:pPr marL="114300" indent="0">
              <a:buNone/>
            </a:pPr>
            <a:endParaRPr lang="en-US" altLang="zh-CN" b="1" dirty="0" smtClean="0">
              <a:latin typeface="+mj-ea"/>
              <a:ea typeface="+mj-ea"/>
            </a:endParaRPr>
          </a:p>
          <a:p>
            <a:pPr marL="114300" indent="0">
              <a:buNone/>
            </a:pPr>
            <a:r>
              <a:rPr lang="en-US" altLang="zh-CN" dirty="0"/>
              <a:t>- Communist League  1847-1852</a:t>
            </a:r>
            <a:endParaRPr lang="en-US" altLang="zh-CN" dirty="0"/>
          </a:p>
          <a:p>
            <a:pPr marL="114300" indent="0">
              <a:buNone/>
            </a:pPr>
            <a:endParaRPr lang="en-US" altLang="zh-CN" dirty="0"/>
          </a:p>
          <a:p>
            <a:pPr marL="114300" indent="0">
              <a:buNone/>
            </a:pPr>
            <a:r>
              <a:rPr lang="en-US" altLang="zh-CN" dirty="0"/>
              <a:t>- International Workingmen’s Association (First International)  </a:t>
            </a:r>
            <a:endParaRPr lang="en-US" altLang="zh-CN" dirty="0"/>
          </a:p>
          <a:p>
            <a:pPr marL="114300" indent="0">
              <a:buNone/>
            </a:pPr>
            <a:r>
              <a:rPr lang="en-US" altLang="zh-CN" dirty="0"/>
              <a:t>   1864</a:t>
            </a:r>
            <a:endParaRPr lang="en-US" altLang="zh-CN" dirty="0"/>
          </a:p>
          <a:p>
            <a:pPr marL="114300" indent="0">
              <a:buNone/>
            </a:pPr>
            <a:r>
              <a:rPr lang="en-US" altLang="zh-CN" dirty="0"/>
              <a:t>- Second International  1889-1914</a:t>
            </a:r>
            <a:endParaRPr lang="en-US" altLang="zh-CN" dirty="0"/>
          </a:p>
          <a:p>
            <a:pPr marL="114300" indent="0">
              <a:buNone/>
            </a:pPr>
            <a:endParaRPr lang="en-US" altLang="zh-CN" dirty="0"/>
          </a:p>
          <a:p>
            <a:pPr marL="114300" indent="0">
              <a:buNone/>
            </a:pPr>
            <a:r>
              <a:rPr lang="en-US" altLang="zh-CN" dirty="0"/>
              <a:t>- Third International (Comintern) 1919-1943</a:t>
            </a:r>
            <a:endParaRPr lang="en-US" altLang="zh-CN" dirty="0"/>
          </a:p>
          <a:p>
            <a:pPr>
              <a:buFont typeface="Wingdings" panose="05000000000000000000" pitchFamily="2" charset="2"/>
              <a:buChar char="Ø"/>
            </a:pPr>
            <a:endParaRPr lang="zh-CN" altLang="en-US" dirty="0">
              <a:latin typeface="楷体" panose="02010609060101010101" pitchFamily="49" charset="-122"/>
              <a:ea typeface="楷体" panose="02010609060101010101" pitchFamily="49" charset="-122"/>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pPr algn="l"/>
            <a:r>
              <a:rPr lang="en-US" altLang="zh-CN" sz="3200" dirty="0"/>
              <a:t>(C) Basic Principles of Proletarian Unity</a:t>
            </a:r>
            <a:endParaRPr lang="en-US" altLang="zh-CN" sz="3200" dirty="0"/>
          </a:p>
        </p:txBody>
      </p:sp>
      <p:sp>
        <p:nvSpPr>
          <p:cNvPr id="3" name="内容占位符 2"/>
          <p:cNvSpPr>
            <a:spLocks noGrp="1"/>
          </p:cNvSpPr>
          <p:nvPr>
            <p:ph idx="1"/>
          </p:nvPr>
        </p:nvSpPr>
        <p:spPr/>
        <p:txBody>
          <a:bodyPr/>
          <a:lstStyle/>
          <a:p>
            <a:endParaRPr lang="en-US" altLang="zh-CN" dirty="0" smtClean="0"/>
          </a:p>
          <a:p>
            <a:r>
              <a:rPr lang="en-US" altLang="zh-CN" dirty="0"/>
              <a:t>1. The principle of democratic centralism  </a:t>
            </a:r>
            <a:endParaRPr lang="en-US" altLang="zh-CN" dirty="0"/>
          </a:p>
          <a:p>
            <a:endParaRPr lang="en-US" altLang="zh-CN" dirty="0"/>
          </a:p>
          <a:p>
            <a:r>
              <a:rPr lang="en-US" altLang="zh-CN" dirty="0"/>
              <a:t>2. The principle of cooperation and solidarity  </a:t>
            </a:r>
            <a:endParaRPr lang="en-US" altLang="zh-CN" dirty="0"/>
          </a:p>
          <a:p>
            <a:endParaRPr lang="en-US" altLang="zh-CN" dirty="0"/>
          </a:p>
          <a:p>
            <a:r>
              <a:rPr lang="en-US" altLang="zh-CN" dirty="0"/>
              <a:t>3. The principle of independent organization  </a:t>
            </a:r>
            <a:endParaRPr lang="en-US" altLang="zh-CN" dirty="0"/>
          </a:p>
          <a:p>
            <a:endParaRPr lang="en-US" altLang="zh-CN" dirty="0"/>
          </a:p>
          <a:p>
            <a:r>
              <a:rPr lang="en-US" altLang="zh-CN" dirty="0"/>
              <a:t>4. The principle of equality and voluntariness</a:t>
            </a:r>
            <a:endParaRPr lang="en-US" altLang="zh-CN"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pPr algn="l"/>
            <a:r>
              <a:rPr lang="en-US" altLang="zh-CN" sz="3200" dirty="0"/>
              <a:t>(D) Proletarian Organizations of International Unity</a:t>
            </a:r>
            <a:endParaRPr lang="en-US" altLang="zh-CN" sz="3200" dirty="0"/>
          </a:p>
        </p:txBody>
      </p:sp>
      <p:sp>
        <p:nvSpPr>
          <p:cNvPr id="3" name="内容占位符 2"/>
          <p:cNvSpPr>
            <a:spLocks noGrp="1"/>
          </p:cNvSpPr>
          <p:nvPr>
            <p:ph idx="1"/>
          </p:nvPr>
        </p:nvSpPr>
        <p:spPr>
          <a:xfrm>
            <a:off x="381000" y="1752600"/>
            <a:ext cx="8305800" cy="4957445"/>
          </a:xfrm>
        </p:spPr>
        <p:txBody>
          <a:bodyPr>
            <a:normAutofit fontScale="90000"/>
          </a:bodyPr>
          <a:lstStyle/>
          <a:p>
            <a:pPr marL="571500" indent="-457200">
              <a:buFont typeface="+mj-lt"/>
              <a:buAutoNum type="arabicPeriod"/>
            </a:pPr>
            <a:r>
              <a:rPr lang="en-US" altLang="zh-CN" dirty="0"/>
              <a:t>The First International powerfully advanced the worldwide movement for proletarian emancipation, leaving an indelible mark on the historical trajectory of united proletarian struggle.</a:t>
            </a:r>
            <a:endParaRPr lang="en-US" altLang="zh-CN" dirty="0"/>
          </a:p>
          <a:p>
            <a:pPr marL="571500" indent="-457200">
              <a:buFont typeface="+mj-lt"/>
              <a:buAutoNum type="arabicPeriod"/>
            </a:pPr>
            <a:r>
              <a:rPr lang="en-US" altLang="zh-CN" dirty="0"/>
              <a:t>The Second International carried out extensive and valuable work in publicizing scientific-socialist ideas, educating and training cadres for the workers’ movements of every country, mastering and practicing diverse forms and methods of struggle, and otherwise preparing for socialist revolution—playing a positive and constructive role.</a:t>
            </a:r>
            <a:endParaRPr lang="en-US" altLang="zh-CN" dirty="0"/>
          </a:p>
          <a:p>
            <a:pPr marL="571500" indent="-457200">
              <a:buFont typeface="+mj-lt"/>
              <a:buAutoNum type="arabicPeriod"/>
            </a:pPr>
            <a:r>
              <a:rPr lang="en-US" altLang="zh-CN" dirty="0"/>
              <a:t>The Third International made major contributions to defending Marxism, promoting the international workers’ movement and the national-liberation struggles of Asia, Africa, and Latin America, combating fascism and imperialist war, and fostering the development of the international communist movement.</a:t>
            </a:r>
            <a:endParaRPr lang="en-US" altLang="zh-C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sz="3110" dirty="0">
                <a:latin typeface="Times New Roman" panose="02020603050405020304" charset="0"/>
                <a:cs typeface="Times New Roman" panose="02020603050405020304" charset="0"/>
              </a:rPr>
              <a:t>II. New Developments by the Communist Party of China in Marxist Theory on International Organizations</a:t>
            </a:r>
            <a:endParaRPr lang="en-US" altLang="zh-CN" sz="3110" dirty="0">
              <a:latin typeface="Times New Roman" panose="02020603050405020304" charset="0"/>
              <a:cs typeface="Times New Roman" panose="02020603050405020304" charset="0"/>
            </a:endParaRPr>
          </a:p>
        </p:txBody>
      </p:sp>
      <p:sp>
        <p:nvSpPr>
          <p:cNvPr id="3" name="内容占位符 2"/>
          <p:cNvSpPr>
            <a:spLocks noGrp="1"/>
          </p:cNvSpPr>
          <p:nvPr>
            <p:ph idx="1"/>
          </p:nvPr>
        </p:nvSpPr>
        <p:spPr>
          <a:xfrm>
            <a:off x="340995" y="1698625"/>
            <a:ext cx="8524240" cy="5031740"/>
          </a:xfrm>
        </p:spPr>
        <p:txBody>
          <a:bodyPr>
            <a:normAutofit fontScale="80000"/>
          </a:bodyPr>
          <a:lstStyle/>
          <a:p>
            <a:pPr marL="571500" indent="-457200">
              <a:buFont typeface="+mj-lt"/>
              <a:buAutoNum type="arabicPeriod"/>
            </a:pPr>
            <a:r>
              <a:rPr lang="en-US" altLang="zh-CN" sz="2500" dirty="0" smtClean="0"/>
              <a:t>The international structure exercises a constraining effect on international organizations and shapes the relationship between states and those organizations.</a:t>
            </a:r>
            <a:endParaRPr lang="en-US" altLang="zh-CN" sz="2500" dirty="0" smtClean="0"/>
          </a:p>
          <a:p>
            <a:pPr marL="571500" indent="-457200">
              <a:buFont typeface="+mj-lt"/>
              <a:buAutoNum type="arabicPeriod"/>
            </a:pPr>
            <a:r>
              <a:rPr lang="en-US" altLang="zh-CN" sz="2500" dirty="0" smtClean="0"/>
              <a:t>Appraising the status and role of international organizations from the perspective of the themes of the era, China attaches great importance to—and actively supports—the United Nations’ irreplaceable function in building a just and equitable new international order.</a:t>
            </a:r>
            <a:endParaRPr lang="en-US" altLang="zh-CN" sz="2500" dirty="0" smtClean="0"/>
          </a:p>
          <a:p>
            <a:pPr marL="571500" indent="-457200">
              <a:buFont typeface="+mj-lt"/>
              <a:buAutoNum type="arabicPeriod"/>
            </a:pPr>
            <a:r>
              <a:rPr lang="en-US" altLang="zh-CN" sz="2500" dirty="0" smtClean="0"/>
              <a:t>Starting from the standpoint of the shared destiny of humankind, China has put forward the forward-looking concepts of a “harmonious world” and a “community with a shared future for mankind,” thereby enriching and contributing to the spirit and principles of the United Nations.</a:t>
            </a:r>
            <a:endParaRPr lang="en-US" altLang="zh-CN" sz="2500" dirty="0" smtClean="0"/>
          </a:p>
          <a:p>
            <a:pPr marL="571500" indent="-457200">
              <a:buFont typeface="+mj-lt"/>
              <a:buAutoNum type="arabicPeriod"/>
            </a:pPr>
            <a:r>
              <a:rPr lang="en-US" altLang="zh-CN" sz="2500" dirty="0" smtClean="0"/>
              <a:t>China has proposed a “Chinese blueprint” for the reform objectives, governance concepts, and basic pathways of the global governance system, emphasizing the need to respect and strengthen the role of the United Nations.</a:t>
            </a:r>
            <a:endParaRPr lang="en-US" altLang="zh-CN" sz="2500" dirty="0" smtClean="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26085" y="408305"/>
            <a:ext cx="8260715" cy="1214120"/>
          </a:xfrm>
        </p:spPr>
        <p:txBody>
          <a:bodyPr>
            <a:noAutofit/>
          </a:bodyPr>
          <a:lstStyle/>
          <a:p>
            <a:pPr algn="l"/>
            <a:r>
              <a:rPr lang="en-US" altLang="zh-CN" sz="2400" dirty="0">
                <a:latin typeface="Times New Roman" panose="02020603050405020304" charset="0"/>
                <a:cs typeface="Times New Roman" panose="02020603050405020304" charset="0"/>
              </a:rPr>
              <a:t>(1) The International Structure Constrains International Organizations and Shapes the Relationship between States and International Organizations</a:t>
            </a:r>
            <a:endParaRPr lang="en-US" altLang="zh-CN" sz="2400" dirty="0">
              <a:latin typeface="Times New Roman" panose="02020603050405020304" charset="0"/>
              <a:cs typeface="Times New Roman" panose="02020603050405020304" charset="0"/>
            </a:endParaRPr>
          </a:p>
        </p:txBody>
      </p:sp>
      <p:sp>
        <p:nvSpPr>
          <p:cNvPr id="3" name="内容占位符 2"/>
          <p:cNvSpPr>
            <a:spLocks noGrp="1"/>
          </p:cNvSpPr>
          <p:nvPr>
            <p:ph idx="1"/>
          </p:nvPr>
        </p:nvSpPr>
        <p:spPr/>
        <p:txBody>
          <a:bodyPr>
            <a:normAutofit fontScale="90000" lnSpcReduction="10000"/>
          </a:bodyPr>
          <a:lstStyle/>
          <a:p>
            <a:pPr marL="457200" indent="-457200">
              <a:buFont typeface="Wingdings" panose="05000000000000000000" pitchFamily="2" charset="2"/>
              <a:buChar char="Ø"/>
            </a:pPr>
            <a:endParaRPr lang="en-US" altLang="zh-CN" sz="2000" dirty="0" smtClean="0">
              <a:latin typeface="+mn-ea"/>
            </a:endParaRPr>
          </a:p>
          <a:p>
            <a:pPr marL="457200" indent="-457200">
              <a:buFont typeface="Wingdings" panose="05000000000000000000" pitchFamily="2" charset="2"/>
              <a:buChar char="Ø"/>
            </a:pPr>
            <a:r>
              <a:rPr lang="en-US" altLang="zh-CN" dirty="0" smtClean="0">
                <a:latin typeface="Times New Roman" panose="02020603050405020304" charset="0"/>
                <a:ea typeface="楷体" panose="02010609060101010101" pitchFamily="49" charset="-122"/>
                <a:cs typeface="Times New Roman" panose="02020603050405020304" charset="0"/>
              </a:rPr>
              <a:t>In the 1950s, the East–West ideological confrontation kept China excluded from the United Nations and virtually cut off from all global international organizations of the time.</a:t>
            </a:r>
            <a:endParaRPr lang="en-US" altLang="zh-CN" dirty="0" smtClean="0">
              <a:latin typeface="Times New Roman" panose="02020603050405020304" charset="0"/>
              <a:ea typeface="楷体" panose="02010609060101010101" pitchFamily="49" charset="-122"/>
              <a:cs typeface="Times New Roman" panose="02020603050405020304" charset="0"/>
            </a:endParaRPr>
          </a:p>
          <a:p>
            <a:pPr marL="457200" indent="-457200">
              <a:buFont typeface="Wingdings" panose="05000000000000000000" pitchFamily="2" charset="2"/>
              <a:buChar char="Ø"/>
            </a:pPr>
            <a:endParaRPr lang="en-US" altLang="zh-CN" dirty="0" smtClean="0">
              <a:latin typeface="Times New Roman" panose="02020603050405020304" charset="0"/>
              <a:ea typeface="楷体" panose="02010609060101010101" pitchFamily="49" charset="-122"/>
              <a:cs typeface="Times New Roman" panose="02020603050405020304" charset="0"/>
            </a:endParaRPr>
          </a:p>
          <a:p>
            <a:pPr marL="457200" indent="-457200">
              <a:buFont typeface="Wingdings" panose="05000000000000000000" pitchFamily="2" charset="2"/>
              <a:buChar char="Ø"/>
            </a:pPr>
            <a:r>
              <a:rPr lang="en-US" altLang="zh-CN" dirty="0" smtClean="0">
                <a:latin typeface="Times New Roman" panose="02020603050405020304" charset="0"/>
                <a:ea typeface="楷体" panose="02010609060101010101" pitchFamily="49" charset="-122"/>
                <a:cs typeface="Times New Roman" panose="02020603050405020304" charset="0"/>
              </a:rPr>
              <a:t>In the 1960s, Mao Zedong’s theory of “the two intermediate zones” provided theoretical guidance for China’s effort to regain its lawful seat in the United Nations.</a:t>
            </a:r>
            <a:endParaRPr lang="en-US" altLang="zh-CN" dirty="0" smtClean="0">
              <a:latin typeface="Times New Roman" panose="02020603050405020304" charset="0"/>
              <a:ea typeface="楷体" panose="02010609060101010101" pitchFamily="49" charset="-122"/>
              <a:cs typeface="Times New Roman" panose="02020603050405020304" charset="0"/>
            </a:endParaRPr>
          </a:p>
          <a:p>
            <a:pPr marL="457200" indent="-457200">
              <a:buFont typeface="Wingdings" panose="05000000000000000000" pitchFamily="2" charset="2"/>
              <a:buChar char="Ø"/>
            </a:pPr>
            <a:endParaRPr lang="en-US" altLang="zh-CN" dirty="0" smtClean="0">
              <a:latin typeface="Times New Roman" panose="02020603050405020304" charset="0"/>
              <a:ea typeface="楷体" panose="02010609060101010101" pitchFamily="49" charset="-122"/>
              <a:cs typeface="Times New Roman" panose="02020603050405020304" charset="0"/>
            </a:endParaRPr>
          </a:p>
          <a:p>
            <a:pPr marL="457200" indent="-457200">
              <a:buFont typeface="Wingdings" panose="05000000000000000000" pitchFamily="2" charset="2"/>
              <a:buChar char="Ø"/>
            </a:pPr>
            <a:r>
              <a:rPr lang="en-US" altLang="zh-CN" dirty="0" smtClean="0">
                <a:latin typeface="Times New Roman" panose="02020603050405020304" charset="0"/>
                <a:ea typeface="楷体" panose="02010609060101010101" pitchFamily="49" charset="-122"/>
                <a:cs typeface="Times New Roman" panose="02020603050405020304" charset="0"/>
              </a:rPr>
              <a:t>In 1974 Mao Zedong advanced the strategic concept of dividing the world into “three worlds,” and in April 1974 Deng Xiaoping expounded this thesis at the U.N. General Assembly, formally announcing the birth of the “Three Worlds” theory</a:t>
            </a:r>
            <a:r>
              <a:rPr lang="en-US" altLang="zh-CN" sz="2000" dirty="0" smtClean="0">
                <a:latin typeface="楷体" panose="02010609060101010101" pitchFamily="49" charset="-122"/>
                <a:ea typeface="楷体" panose="02010609060101010101" pitchFamily="49" charset="-122"/>
              </a:rPr>
              <a:t>.</a:t>
            </a:r>
            <a:endParaRPr lang="en-US" altLang="zh-CN" sz="2000" dirty="0" smtClean="0">
              <a:latin typeface="楷体" panose="02010609060101010101" pitchFamily="49" charset="-122"/>
              <a:ea typeface="楷体" panose="02010609060101010101" pitchFamily="49" charset="-122"/>
            </a:endParaRPr>
          </a:p>
          <a:p>
            <a:pPr marL="457200" indent="-457200">
              <a:buFont typeface="Wingdings" panose="05000000000000000000" pitchFamily="2" charset="2"/>
              <a:buChar char="Ø"/>
            </a:pPr>
            <a:endParaRPr lang="en-US" altLang="zh-CN" sz="2000" dirty="0" smtClean="0">
              <a:latin typeface="楷体" panose="02010609060101010101" pitchFamily="49" charset="-122"/>
              <a:ea typeface="楷体" panose="02010609060101010101" pitchFamily="49" charset="-122"/>
            </a:endParaRPr>
          </a:p>
          <a:p>
            <a:pPr marL="457200" indent="-457200">
              <a:buFont typeface="Wingdings" panose="05000000000000000000" pitchFamily="2" charset="2"/>
              <a:buChar char="Ø"/>
            </a:pPr>
            <a:endParaRPr lang="en-US" altLang="zh-CN" dirty="0" smtClean="0">
              <a:latin typeface="楷体" panose="02010609060101010101" pitchFamily="49" charset="-122"/>
              <a:ea typeface="楷体" panose="02010609060101010101" pitchFamily="49" charset="-122"/>
            </a:endParaRPr>
          </a:p>
          <a:p>
            <a:pPr marL="457200" indent="-457200">
              <a:buFont typeface="Wingdings" panose="05000000000000000000" pitchFamily="2" charset="2"/>
              <a:buChar char="Ø"/>
            </a:pPr>
            <a:endParaRPr lang="en-US" altLang="zh-CN" dirty="0" smtClean="0">
              <a:latin typeface="楷体" panose="02010609060101010101" pitchFamily="49" charset="-122"/>
              <a:ea typeface="楷体" panose="02010609060101010101" pitchFamily="49" charset="-122"/>
            </a:endParaRPr>
          </a:p>
          <a:p>
            <a:endParaRPr lang="zh-CN" alt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Autofit/>
          </a:bodyPr>
          <a:lstStyle/>
          <a:p>
            <a:pPr algn="l"/>
            <a:r>
              <a:rPr lang="en-US" altLang="zh-CN" sz="2800" dirty="0">
                <a:latin typeface="Times New Roman" panose="02020603050405020304" charset="0"/>
                <a:cs typeface="Times New Roman" panose="02020603050405020304" charset="0"/>
              </a:rPr>
              <a:t>(2) Viewing the Status and Role of International Organizations from the Perspective of the Era's Central Theme</a:t>
            </a:r>
            <a:endParaRPr lang="en-US" altLang="zh-CN" sz="2800" dirty="0">
              <a:latin typeface="Times New Roman" panose="02020603050405020304" charset="0"/>
              <a:cs typeface="Times New Roman" panose="02020603050405020304" charset="0"/>
            </a:endParaRPr>
          </a:p>
        </p:txBody>
      </p:sp>
      <p:sp>
        <p:nvSpPr>
          <p:cNvPr id="3" name="内容占位符 2"/>
          <p:cNvSpPr>
            <a:spLocks noGrp="1"/>
          </p:cNvSpPr>
          <p:nvPr>
            <p:ph idx="1"/>
          </p:nvPr>
        </p:nvSpPr>
        <p:spPr/>
        <p:txBody>
          <a:bodyPr>
            <a:normAutofit lnSpcReduction="10000"/>
          </a:bodyPr>
          <a:lstStyle/>
          <a:p>
            <a:pPr marL="571500" indent="-457200">
              <a:buFont typeface="+mj-lt"/>
              <a:buAutoNum type="arabicPeriod"/>
            </a:pPr>
            <a:endParaRPr lang="en-US" altLang="zh-CN" dirty="0" smtClean="0"/>
          </a:p>
          <a:p>
            <a:pPr marL="571500" indent="-457200">
              <a:buFont typeface="+mj-lt"/>
              <a:buAutoNum type="arabicPeriod"/>
            </a:pPr>
            <a:r>
              <a:rPr lang="en-US" altLang="zh-CN" dirty="0" smtClean="0"/>
              <a:t>In the 1980s, Deng Xiaoping defined peace and development as the themes of the era, actively affirmed the United Nations’ role in international politics, and recognized the normative force of international norms and practices.</a:t>
            </a:r>
            <a:endParaRPr lang="en-US" altLang="zh-CN" dirty="0" smtClean="0"/>
          </a:p>
          <a:p>
            <a:pPr marL="571500" indent="-457200">
              <a:buFont typeface="+mj-lt"/>
              <a:buAutoNum type="arabicPeriod"/>
            </a:pPr>
            <a:endParaRPr lang="en-US" altLang="zh-CN" dirty="0" smtClean="0"/>
          </a:p>
          <a:p>
            <a:pPr marL="571500" indent="-457200">
              <a:buFont typeface="+mj-lt"/>
              <a:buAutoNum type="arabicPeriod"/>
            </a:pPr>
            <a:r>
              <a:rPr lang="en-US" altLang="zh-CN" dirty="0" smtClean="0"/>
              <a:t>In the 1990s, Jiang Zemin highlighted the emerging trend toward a multipolar world and the concept of multipolarity, emphasizing and supporting the UN’s irreplaceable role in safeguarding world peace, promoting common development, and establishing a just and reasonable new international order.</a:t>
            </a:r>
            <a:endParaRPr lang="en-US" altLang="zh-CN" dirty="0" smtClean="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pPr algn="l"/>
            <a:r>
              <a:rPr lang="en-US" altLang="zh-CN" sz="2800" dirty="0">
                <a:latin typeface="Times New Roman" panose="02020603050405020304" charset="0"/>
                <a:cs typeface="Times New Roman" panose="02020603050405020304" charset="0"/>
              </a:rPr>
              <a:t>(3) Proposing the Concepts of a "Harmonious World" and a "Community with a Shared Future for Humanity" from the Perspective of Human Destiny</a:t>
            </a:r>
            <a:endParaRPr lang="en-US" altLang="zh-CN" sz="2800" dirty="0">
              <a:latin typeface="Times New Roman" panose="02020603050405020304" charset="0"/>
              <a:cs typeface="Times New Roman" panose="02020603050405020304" charset="0"/>
            </a:endParaRPr>
          </a:p>
        </p:txBody>
      </p:sp>
      <p:sp>
        <p:nvSpPr>
          <p:cNvPr id="5" name="内容占位符 4"/>
          <p:cNvSpPr>
            <a:spLocks noGrp="1"/>
          </p:cNvSpPr>
          <p:nvPr>
            <p:ph idx="1"/>
          </p:nvPr>
        </p:nvSpPr>
        <p:spPr>
          <a:xfrm>
            <a:off x="457200" y="1776095"/>
            <a:ext cx="8229600" cy="4350385"/>
          </a:xfrm>
        </p:spPr>
        <p:txBody>
          <a:bodyPr>
            <a:normAutofit lnSpcReduction="20000"/>
          </a:bodyPr>
          <a:lstStyle/>
          <a:p>
            <a:endParaRPr lang="en-US" altLang="zh-CN" b="1" dirty="0" smtClean="0"/>
          </a:p>
          <a:p>
            <a:r>
              <a:rPr lang="en-US" altLang="zh-CN" dirty="0"/>
              <a:t>On September 15, 2005, during the second plenary meeting of the UN Summit commemorating the 60th anniversary of the founding of the United Nations, Chinese President Hu Jintao delivered a speech entitled "Striving to Build a Harmonious World of Lasting Peace and Common Prosperity," in which he first introduced the concept of a "harmonious world."</a:t>
            </a:r>
            <a:endParaRPr lang="en-US" altLang="zh-CN" dirty="0"/>
          </a:p>
          <a:p>
            <a:endParaRPr lang="en-US" altLang="zh-CN" dirty="0"/>
          </a:p>
          <a:p>
            <a:r>
              <a:rPr lang="en-US" altLang="zh-CN" dirty="0"/>
              <a:t>On January 17, 2017, President Xi Jinping delivered a speech entitled "Jointly Building a Community with a Shared Future for Humanity" at the United Nations Office at Geneva, offering a comprehensive exposition of the vision of a community with a shared future for humanity.</a:t>
            </a:r>
            <a:endParaRPr lang="en-US" altLang="zh-CN"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fontScale="90000"/>
          </a:bodyPr>
          <a:p>
            <a:r>
              <a:rPr lang="en-US" altLang="zh-CN" dirty="0">
                <a:latin typeface="Times New Roman" panose="02020603050405020304" charset="0"/>
                <a:cs typeface="Times New Roman" panose="02020603050405020304" charset="0"/>
                <a:sym typeface="+mn-ea"/>
              </a:rPr>
              <a:t>(4) Proposing China’s Approach to Global Governance</a:t>
            </a:r>
            <a:endParaRPr lang="zh-CN" altLang="en-US">
              <a:latin typeface="Times New Roman" panose="02020603050405020304" charset="0"/>
              <a:cs typeface="Times New Roman" panose="02020603050405020304" charset="0"/>
            </a:endParaRPr>
          </a:p>
        </p:txBody>
      </p:sp>
      <p:sp>
        <p:nvSpPr>
          <p:cNvPr id="3" name="内容占位符 2"/>
          <p:cNvSpPr>
            <a:spLocks noGrp="1"/>
          </p:cNvSpPr>
          <p:nvPr>
            <p:ph idx="1"/>
          </p:nvPr>
        </p:nvSpPr>
        <p:spPr>
          <a:xfrm>
            <a:off x="254635" y="1752600"/>
            <a:ext cx="8625840" cy="4938395"/>
          </a:xfrm>
        </p:spPr>
        <p:txBody>
          <a:bodyPr>
            <a:normAutofit fontScale="70000"/>
          </a:bodyPr>
          <a:p>
            <a:r>
              <a:rPr lang="en-US" altLang="zh-CN" sz="2570"/>
              <a:t>Reform Objective: Advance the global governance system toward greater fairness and reasonableness, thereby creating favorable conditions for China’s development and world peace.</a:t>
            </a:r>
            <a:endParaRPr lang="en-US" altLang="zh-CN" sz="2570"/>
          </a:p>
          <a:p>
            <a:r>
              <a:rPr lang="en-US" altLang="zh-CN" sz="2570"/>
              <a:t>Governance Philosophy: Promote innovative development of global governance concepts by actively drawing on positive Chinese cultural traditions regarding statecraft and international conduct, identifying their resonance with the needs of our times, further enriching propositions such as building a community with a shared future for humanity, and championing the principle of extensive consultation, joint contribution, and shared benefits in global governance.</a:t>
            </a:r>
            <a:endParaRPr lang="en-US" altLang="zh-CN" sz="2570"/>
          </a:p>
          <a:p>
            <a:r>
              <a:rPr lang="en-US" altLang="zh-CN" sz="2570"/>
              <a:t>Basic Pathways for Reforming the Global Governance System:</a:t>
            </a:r>
            <a:endParaRPr lang="en-US" altLang="zh-CN" sz="2570"/>
          </a:p>
          <a:p>
            <a:r>
              <a:rPr lang="en-US" altLang="zh-CN" sz="2570"/>
              <a:t>Respect and strengthen the role of the United Nations.</a:t>
            </a:r>
            <a:endParaRPr lang="en-US" altLang="zh-CN" sz="2570"/>
          </a:p>
          <a:p>
            <a:r>
              <a:rPr lang="en-US" altLang="zh-CN" sz="2570"/>
              <a:t>Reform unjust and unreasonable arrangements within the current global governance system and advance the democratization and rule of law in global governance rules.</a:t>
            </a:r>
            <a:endParaRPr lang="en-US" altLang="zh-CN" sz="2570"/>
          </a:p>
          <a:p>
            <a:r>
              <a:rPr lang="en-US" altLang="zh-CN" sz="2570"/>
              <a:t>China supports an international order and system centered on the United Nations and grounded in the purposes and principles of the UN Charter.</a:t>
            </a:r>
            <a:endParaRPr lang="en-US" altLang="zh-CN" sz="257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en-US" altLang="zh-CN" sz="2800" dirty="0"/>
              <a:t>Section two  Western IR Theories on International Organizations</a:t>
            </a:r>
            <a:endParaRPr lang="en-US" altLang="zh-CN" sz="2800" dirty="0"/>
          </a:p>
        </p:txBody>
      </p:sp>
      <p:sp>
        <p:nvSpPr>
          <p:cNvPr id="3" name="文本占位符 2"/>
          <p:cNvSpPr>
            <a:spLocks noGrp="1"/>
          </p:cNvSpPr>
          <p:nvPr>
            <p:ph type="body" idx="1"/>
          </p:nvPr>
        </p:nvSpPr>
        <p:spPr/>
        <p:txBody>
          <a:bodyPr/>
          <a:lstStyle/>
          <a:p>
            <a:pPr algn="r"/>
            <a:endParaRPr lang="zh-CN" altLang="en-US"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latin typeface="Times New Roman" panose="02020603050405020304" charset="0"/>
                <a:cs typeface="Times New Roman" panose="02020603050405020304" charset="0"/>
              </a:rPr>
              <a:t>I. Realist Perspectives on International Organizations</a:t>
            </a:r>
            <a:endParaRPr lang="en-US" altLang="zh-CN" dirty="0">
              <a:latin typeface="Times New Roman" panose="02020603050405020304" charset="0"/>
              <a:cs typeface="Times New Roman" panose="02020603050405020304" charset="0"/>
            </a:endParaRPr>
          </a:p>
        </p:txBody>
      </p:sp>
      <p:sp>
        <p:nvSpPr>
          <p:cNvPr id="3" name="内容占位符 2"/>
          <p:cNvSpPr>
            <a:spLocks noGrp="1"/>
          </p:cNvSpPr>
          <p:nvPr>
            <p:ph idx="1"/>
          </p:nvPr>
        </p:nvSpPr>
        <p:spPr/>
        <p:txBody>
          <a:bodyPr/>
          <a:lstStyle/>
          <a:p>
            <a:endParaRPr lang="en-US" altLang="zh-CN" dirty="0" smtClean="0"/>
          </a:p>
          <a:p>
            <a:r>
              <a:rPr lang="en-US" altLang="zh-CN" dirty="0" smtClean="0"/>
              <a:t>Realism holds that international organizations are merely instruments through which major powers more effectively pursue power politics and advance their own self-interests.</a:t>
            </a:r>
            <a:endParaRPr lang="en-US" altLang="zh-CN" dirty="0" smtClean="0"/>
          </a:p>
          <a:p>
            <a:endParaRPr lang="en-US" altLang="zh-CN" dirty="0" smtClean="0"/>
          </a:p>
          <a:p>
            <a:r>
              <a:rPr lang="en-US" altLang="zh-CN" dirty="0" smtClean="0"/>
              <a:t>Classical Realism </a:t>
            </a:r>
            <a:endParaRPr lang="en-US" altLang="zh-CN" dirty="0" smtClean="0"/>
          </a:p>
          <a:p>
            <a:r>
              <a:rPr lang="en-US" altLang="zh-CN" dirty="0" smtClean="0"/>
              <a:t>Neorealism</a:t>
            </a:r>
            <a:endParaRPr lang="en-US" altLang="zh-CN" dirty="0" smtClean="0"/>
          </a:p>
          <a:p>
            <a:endParaRPr lang="zh-CN" alt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pPr algn="l"/>
            <a:r>
              <a:rPr lang="zh-CN" altLang="en-US" b="1" dirty="0">
                <a:latin typeface="Times New Roman" panose="02020603050405020304" charset="0"/>
                <a:cs typeface="Times New Roman" panose="02020603050405020304" charset="0"/>
              </a:rPr>
              <a:t>（</a:t>
            </a:r>
            <a:r>
              <a:rPr lang="en-US" altLang="zh-CN" b="1" dirty="0">
                <a:latin typeface="Times New Roman" panose="02020603050405020304" charset="0"/>
                <a:cs typeface="Times New Roman" panose="02020603050405020304" charset="0"/>
              </a:rPr>
              <a:t>i</a:t>
            </a:r>
            <a:r>
              <a:rPr lang="zh-CN" altLang="en-US" b="1" dirty="0">
                <a:latin typeface="Times New Roman" panose="02020603050405020304" charset="0"/>
                <a:cs typeface="Times New Roman" panose="02020603050405020304" charset="0"/>
              </a:rPr>
              <a:t>）</a:t>
            </a:r>
            <a:r>
              <a:rPr lang="en-US" altLang="zh-CN" b="1" dirty="0">
                <a:latin typeface="Times New Roman" panose="02020603050405020304" charset="0"/>
                <a:cs typeface="Times New Roman" panose="02020603050405020304" charset="0"/>
              </a:rPr>
              <a:t>Classical Realism on International Organizations</a:t>
            </a:r>
            <a:endParaRPr lang="en-US" altLang="zh-CN" b="1" dirty="0">
              <a:latin typeface="Times New Roman" panose="02020603050405020304" charset="0"/>
              <a:cs typeface="Times New Roman" panose="02020603050405020304" charset="0"/>
            </a:endParaRPr>
          </a:p>
        </p:txBody>
      </p:sp>
      <p:sp>
        <p:nvSpPr>
          <p:cNvPr id="3" name="内容占位符 2"/>
          <p:cNvSpPr>
            <a:spLocks noGrp="1"/>
          </p:cNvSpPr>
          <p:nvPr>
            <p:ph idx="1"/>
          </p:nvPr>
        </p:nvSpPr>
        <p:spPr/>
        <p:txBody>
          <a:bodyPr>
            <a:normAutofit lnSpcReduction="10000"/>
          </a:bodyPr>
          <a:lstStyle/>
          <a:p>
            <a:pPr marL="628650" indent="-628650">
              <a:buFont typeface="Wingdings" panose="05000000000000000000" pitchFamily="2" charset="2"/>
              <a:buChar char="Ø"/>
            </a:pPr>
            <a:endParaRPr lang="en-US" altLang="zh-CN" b="1" dirty="0" smtClean="0"/>
          </a:p>
          <a:p>
            <a:pPr marL="628650" indent="-628650">
              <a:buFont typeface="Wingdings" panose="05000000000000000000" pitchFamily="2" charset="2"/>
              <a:buChar char="Ø"/>
            </a:pPr>
            <a:r>
              <a:rPr lang="en-US" altLang="zh-CN" dirty="0"/>
              <a:t>Classical Realism on International Organizations  </a:t>
            </a:r>
            <a:endParaRPr lang="en-US" altLang="zh-CN" dirty="0"/>
          </a:p>
          <a:p>
            <a:pPr marL="628650" indent="-628650">
              <a:buFont typeface="Wingdings" panose="05000000000000000000" pitchFamily="2" charset="2"/>
              <a:buChar char="Ø"/>
            </a:pPr>
            <a:r>
              <a:rPr lang="en-US" altLang="zh-CN" dirty="0"/>
              <a:t>- Edward Carr:  </a:t>
            </a:r>
            <a:endParaRPr lang="en-US" altLang="zh-CN" dirty="0"/>
          </a:p>
          <a:p>
            <a:pPr marL="628650" indent="-628650">
              <a:buFont typeface="Wingdings" panose="05000000000000000000" pitchFamily="2" charset="2"/>
              <a:buChar char="Ø"/>
            </a:pPr>
            <a:r>
              <a:rPr lang="en-US" altLang="zh-CN" dirty="0"/>
              <a:t>  The League of Nations is powerless in the face of might;  </a:t>
            </a:r>
            <a:endParaRPr lang="en-US" altLang="zh-CN" dirty="0"/>
          </a:p>
          <a:p>
            <a:pPr marL="628650" indent="-628650">
              <a:buFont typeface="Wingdings" panose="05000000000000000000" pitchFamily="2" charset="2"/>
              <a:buChar char="Ø"/>
            </a:pPr>
            <a:r>
              <a:rPr lang="en-US" altLang="zh-CN" dirty="0"/>
              <a:t>  both reason and international morality—the theoretical cornerstones of the League—are flawed.  </a:t>
            </a:r>
            <a:endParaRPr lang="en-US" altLang="zh-CN" dirty="0"/>
          </a:p>
          <a:p>
            <a:pPr marL="628650" indent="-628650">
              <a:buFont typeface="Wingdings" panose="05000000000000000000" pitchFamily="2" charset="2"/>
              <a:buChar char="Ø"/>
            </a:pPr>
            <a:endParaRPr lang="en-US" altLang="zh-CN" dirty="0"/>
          </a:p>
          <a:p>
            <a:pPr marL="628650" indent="-628650">
              <a:buFont typeface="Wingdings" panose="05000000000000000000" pitchFamily="2" charset="2"/>
              <a:buChar char="Ø"/>
            </a:pPr>
            <a:r>
              <a:rPr lang="en-US" altLang="zh-CN" dirty="0"/>
              <a:t>- Georg Schwarzenberger:  </a:t>
            </a:r>
            <a:endParaRPr lang="en-US" altLang="zh-CN" dirty="0"/>
          </a:p>
          <a:p>
            <a:pPr marL="628650" indent="-628650">
              <a:buFont typeface="Wingdings" panose="05000000000000000000" pitchFamily="2" charset="2"/>
              <a:buChar char="Ø"/>
            </a:pPr>
            <a:r>
              <a:rPr lang="en-US" altLang="zh-CN" dirty="0"/>
              <a:t>  International organizations overstate shared values and the binding force of international law;  </a:t>
            </a:r>
            <a:endParaRPr lang="en-US" altLang="zh-CN" dirty="0"/>
          </a:p>
          <a:p>
            <a:pPr marL="628650" indent="-628650">
              <a:buFont typeface="Wingdings" panose="05000000000000000000" pitchFamily="2" charset="2"/>
              <a:buChar char="Ø"/>
            </a:pPr>
            <a:r>
              <a:rPr lang="en-US" altLang="zh-CN" dirty="0"/>
              <a:t>  they are merely bodies of general moral persuasion.</a:t>
            </a:r>
            <a:endParaRPr lang="en-US" altLang="zh-CN"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pPr algn="l"/>
            <a:r>
              <a:rPr lang="en-US" altLang="zh-CN" b="1" dirty="0">
                <a:latin typeface="Times New Roman" panose="02020603050405020304" charset="0"/>
                <a:cs typeface="Times New Roman" panose="02020603050405020304" charset="0"/>
              </a:rPr>
              <a:t>(2) Neorealism's Account of International Organizations</a:t>
            </a:r>
            <a:endParaRPr lang="en-US" altLang="zh-CN" b="1" dirty="0">
              <a:latin typeface="Times New Roman" panose="02020603050405020304" charset="0"/>
              <a:cs typeface="Times New Roman" panose="02020603050405020304" charset="0"/>
            </a:endParaRPr>
          </a:p>
        </p:txBody>
      </p:sp>
      <p:sp>
        <p:nvSpPr>
          <p:cNvPr id="3" name="内容占位符 2"/>
          <p:cNvSpPr>
            <a:spLocks noGrp="1"/>
          </p:cNvSpPr>
          <p:nvPr>
            <p:ph idx="1"/>
          </p:nvPr>
        </p:nvSpPr>
        <p:spPr>
          <a:xfrm>
            <a:off x="446856" y="1857365"/>
            <a:ext cx="8229600" cy="4357718"/>
          </a:xfrm>
        </p:spPr>
        <p:txBody>
          <a:bodyPr>
            <a:normAutofit lnSpcReduction="20000"/>
          </a:bodyPr>
          <a:lstStyle/>
          <a:p>
            <a:pPr marL="628650" indent="-628650">
              <a:buFont typeface="Wingdings" panose="05000000000000000000" pitchFamily="2" charset="2"/>
              <a:buChar char="Ø"/>
            </a:pPr>
            <a:r>
              <a:rPr lang="en-US" altLang="zh-CN" dirty="0">
                <a:latin typeface="Times New Roman" panose="02020603050405020304" charset="0"/>
                <a:cs typeface="Times New Roman" panose="02020603050405020304" charset="0"/>
              </a:rPr>
              <a:t>The establishment and success of international organizations depend on the presence of a hegemonic state possessing overwhelming power resources. International organizations can facilitate international cooperation only under the following condition:</a:t>
            </a:r>
            <a:endParaRPr lang="en-US" altLang="zh-CN" dirty="0">
              <a:latin typeface="Times New Roman" panose="02020603050405020304" charset="0"/>
              <a:cs typeface="Times New Roman" panose="02020603050405020304" charset="0"/>
            </a:endParaRPr>
          </a:p>
          <a:p>
            <a:pPr marL="628650" indent="-628650">
              <a:buFont typeface="Wingdings" panose="05000000000000000000" pitchFamily="2" charset="2"/>
              <a:buChar char="Ø"/>
            </a:pPr>
            <a:endParaRPr lang="en-US" altLang="zh-CN" dirty="0">
              <a:latin typeface="Times New Roman" panose="02020603050405020304" charset="0"/>
              <a:cs typeface="Times New Roman" panose="02020603050405020304" charset="0"/>
            </a:endParaRPr>
          </a:p>
          <a:p>
            <a:pPr marL="628650" indent="-628650">
              <a:buFont typeface="Wingdings" panose="05000000000000000000" pitchFamily="2" charset="2"/>
              <a:buChar char="Ø"/>
            </a:pPr>
            <a:r>
              <a:rPr lang="en-US" altLang="zh-CN" dirty="0">
                <a:latin typeface="Times New Roman" panose="02020603050405020304" charset="0"/>
                <a:cs typeface="Times New Roman" panose="02020603050405020304" charset="0"/>
              </a:rPr>
              <a:t>  In the long run, the hegemonic state bears substantial costs of cooperation, which weakens its relative position vis-à-vis other states. Consequently, regardless of how powerful it may be initially, the hegemon will eventually lose its hegemonic status, thereby rendering international organizations ineffective. (</a:t>
            </a:r>
            <a:r>
              <a:rPr lang="en-US" altLang="zh-CN" dirty="0">
                <a:solidFill>
                  <a:srgbClr val="FF0000"/>
                </a:solidFill>
                <a:latin typeface="Times New Roman" panose="02020603050405020304" charset="0"/>
                <a:cs typeface="Times New Roman" panose="02020603050405020304" charset="0"/>
              </a:rPr>
              <a:t>And so the US....?</a:t>
            </a:r>
            <a:r>
              <a:rPr lang="en-US" altLang="zh-CN" dirty="0">
                <a:latin typeface="Times New Roman" panose="02020603050405020304" charset="0"/>
                <a:cs typeface="Times New Roman" panose="02020603050405020304" charset="0"/>
              </a:rPr>
              <a:t>)</a:t>
            </a:r>
            <a:endParaRPr lang="en-US" altLang="zh-CN" dirty="0">
              <a:latin typeface="Times New Roman" panose="02020603050405020304" charset="0"/>
              <a:cs typeface="Times New Roman" panose="02020603050405020304" charset="0"/>
            </a:endParaRPr>
          </a:p>
          <a:p>
            <a:pPr marL="628650" indent="-628650">
              <a:buFont typeface="Wingdings" panose="05000000000000000000" pitchFamily="2" charset="2"/>
              <a:buChar char="Ø"/>
            </a:pPr>
            <a:r>
              <a:rPr lang="en-US" altLang="zh-CN" dirty="0">
                <a:latin typeface="Times New Roman" panose="02020603050405020304" charset="0"/>
                <a:cs typeface="Times New Roman" panose="02020603050405020304" charset="0"/>
              </a:rPr>
              <a:t>(Kenneth Waltz)</a:t>
            </a:r>
            <a:endParaRPr lang="en-US" altLang="zh-CN" dirty="0">
              <a:latin typeface="Times New Roman" panose="02020603050405020304" charset="0"/>
              <a:cs typeface="Times New Roman" panose="0202060305040502030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latin typeface="Times New Roman" panose="02020603050405020304" charset="0"/>
                <a:cs typeface="Times New Roman" panose="02020603050405020304" charset="0"/>
              </a:rPr>
              <a:t>II. The Neoliberal School’s Account of International Organizations</a:t>
            </a:r>
            <a:endParaRPr lang="en-US" altLang="zh-CN" dirty="0">
              <a:latin typeface="Times New Roman" panose="02020603050405020304" charset="0"/>
              <a:cs typeface="Times New Roman" panose="02020603050405020304" charset="0"/>
            </a:endParaRPr>
          </a:p>
        </p:txBody>
      </p:sp>
      <p:sp>
        <p:nvSpPr>
          <p:cNvPr id="3" name="内容占位符 2"/>
          <p:cNvSpPr>
            <a:spLocks noGrp="1"/>
          </p:cNvSpPr>
          <p:nvPr>
            <p:ph idx="1"/>
          </p:nvPr>
        </p:nvSpPr>
        <p:spPr>
          <a:xfrm>
            <a:off x="123190" y="1752600"/>
            <a:ext cx="8853170" cy="4886325"/>
          </a:xfrm>
        </p:spPr>
        <p:txBody>
          <a:bodyPr>
            <a:normAutofit lnSpcReduction="20000"/>
          </a:bodyPr>
          <a:lstStyle/>
          <a:p>
            <a:pPr marL="571500" indent="-457200">
              <a:buFont typeface="+mj-lt"/>
              <a:buAutoNum type="arabicPeriod"/>
            </a:pPr>
            <a:r>
              <a:rPr lang="en-US" altLang="zh-CN" sz="2500" dirty="0" smtClean="0">
                <a:latin typeface="Times New Roman" panose="02020603050405020304" charset="0"/>
                <a:cs typeface="Times New Roman" panose="02020603050405020304" charset="0"/>
              </a:rPr>
              <a:t>Core assumption: In international politics, states’ interests are neither mutually exclusive nor entirely identical.</a:t>
            </a:r>
            <a:endParaRPr lang="en-US" altLang="zh-CN" sz="2500" dirty="0" smtClean="0">
              <a:latin typeface="Times New Roman" panose="02020603050405020304" charset="0"/>
              <a:cs typeface="Times New Roman" panose="02020603050405020304" charset="0"/>
            </a:endParaRPr>
          </a:p>
          <a:p>
            <a:pPr marL="571500" indent="-457200">
              <a:buFont typeface="+mj-lt"/>
              <a:buAutoNum type="arabicPeriod"/>
            </a:pPr>
            <a:r>
              <a:rPr lang="en-US" altLang="zh-CN" sz="2500" dirty="0" smtClean="0">
                <a:latin typeface="Times New Roman" panose="02020603050405020304" charset="0"/>
                <a:cs typeface="Times New Roman" panose="02020603050405020304" charset="0"/>
              </a:rPr>
              <a:t>International organizations emerge from the convergence of interests and strategic interactions driven by mixed motives.</a:t>
            </a:r>
            <a:endParaRPr lang="en-US" altLang="zh-CN" sz="2500" dirty="0" smtClean="0">
              <a:latin typeface="Times New Roman" panose="02020603050405020304" charset="0"/>
              <a:cs typeface="Times New Roman" panose="02020603050405020304" charset="0"/>
            </a:endParaRPr>
          </a:p>
          <a:p>
            <a:pPr marL="571500" indent="-457200">
              <a:buFont typeface="+mj-lt"/>
              <a:buAutoNum type="arabicPeriod"/>
            </a:pPr>
            <a:r>
              <a:rPr lang="en-US" altLang="zh-CN" sz="2500" dirty="0" smtClean="0">
                <a:latin typeface="Times New Roman" panose="02020603050405020304" charset="0"/>
                <a:cs typeface="Times New Roman" panose="02020603050405020304" charset="0"/>
              </a:rPr>
              <a:t>The role of international organizations is to facilitate international cooperation in order to achieve mutual gains.</a:t>
            </a:r>
            <a:endParaRPr lang="en-US" altLang="zh-CN" sz="2500" dirty="0" smtClean="0">
              <a:latin typeface="Times New Roman" panose="02020603050405020304" charset="0"/>
              <a:cs typeface="Times New Roman" panose="02020603050405020304" charset="0"/>
            </a:endParaRPr>
          </a:p>
          <a:p>
            <a:pPr marL="571500" indent="-457200">
              <a:buFont typeface="+mj-lt"/>
              <a:buAutoNum type="arabicPeriod"/>
            </a:pPr>
            <a:r>
              <a:rPr lang="en-US" altLang="zh-CN" sz="2500" dirty="0" smtClean="0">
                <a:latin typeface="Times New Roman" panose="02020603050405020304" charset="0"/>
                <a:cs typeface="Times New Roman" panose="02020603050405020304" charset="0"/>
              </a:rPr>
              <a:t>The institutional design of international organizations depends on the nature of the cooperative issue at hand and the authority of national representatives; however, states retain ultimate control over international organizations.</a:t>
            </a:r>
            <a:endParaRPr lang="en-US" altLang="zh-CN" sz="2500" dirty="0" smtClean="0">
              <a:latin typeface="Times New Roman" panose="02020603050405020304" charset="0"/>
              <a:cs typeface="Times New Roman" panose="02020603050405020304" charset="0"/>
            </a:endParaRPr>
          </a:p>
          <a:p>
            <a:pPr marL="571500" indent="-457200">
              <a:buFont typeface="+mj-lt"/>
              <a:buAutoNum type="arabicPeriod"/>
            </a:pPr>
            <a:r>
              <a:rPr lang="en-US" altLang="zh-CN" sz="2500" dirty="0" smtClean="0">
                <a:latin typeface="Times New Roman" panose="02020603050405020304" charset="0"/>
                <a:cs typeface="Times New Roman" panose="02020603050405020304" charset="0"/>
              </a:rPr>
              <a:t>The development of international organizations depends not only on the degree of interdependence among member states, but also on the specific ways in which states are interdependent within particular issue areas.  (Robert Keohane)</a:t>
            </a:r>
            <a:endParaRPr lang="en-US" altLang="zh-CN" sz="2500" dirty="0" smtClean="0">
              <a:latin typeface="Times New Roman" panose="02020603050405020304" charset="0"/>
              <a:cs typeface="Times New Roman" panose="02020603050405020304" charset="0"/>
            </a:endParaRPr>
          </a:p>
          <a:p>
            <a:endParaRPr lang="zh-CN" altLang="en-US" sz="2500" dirty="0">
              <a:latin typeface="Times New Roman" panose="02020603050405020304" charset="0"/>
              <a:cs typeface="Times New Roman" panose="02020603050405020304" charset="0"/>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l"/>
            <a:r>
              <a:rPr lang="en-US" altLang="zh-CN" sz="2800" dirty="0" smtClean="0">
                <a:latin typeface="Times New Roman" panose="02020603050405020304" charset="0"/>
                <a:ea typeface="+mn-ea"/>
                <a:cs typeface="Times New Roman" panose="02020603050405020304" charset="0"/>
              </a:rPr>
              <a:t>Power and Interdependence (Robert Keohane and Joseph Nye)</a:t>
            </a:r>
            <a:endParaRPr lang="zh-CN" altLang="en-US" sz="2800" dirty="0">
              <a:latin typeface="Times New Roman" panose="02020603050405020304" charset="0"/>
              <a:ea typeface="+mn-ea"/>
              <a:cs typeface="Times New Roman" panose="02020603050405020304" charset="0"/>
            </a:endParaRPr>
          </a:p>
        </p:txBody>
      </p:sp>
      <p:sp>
        <p:nvSpPr>
          <p:cNvPr id="3" name="内容占位符 2"/>
          <p:cNvSpPr>
            <a:spLocks noGrp="1"/>
          </p:cNvSpPr>
          <p:nvPr>
            <p:ph idx="1"/>
          </p:nvPr>
        </p:nvSpPr>
        <p:spPr>
          <a:xfrm>
            <a:off x="428625" y="1784985"/>
            <a:ext cx="8495665" cy="4870450"/>
          </a:xfrm>
          <a:solidFill>
            <a:schemeClr val="accent5">
              <a:lumMod val="60000"/>
              <a:lumOff val="40000"/>
            </a:schemeClr>
          </a:solidFill>
        </p:spPr>
        <p:txBody>
          <a:bodyPr>
            <a:normAutofit lnSpcReduction="10000"/>
          </a:bodyPr>
          <a:lstStyle/>
          <a:p>
            <a:pPr marL="114300" indent="0">
              <a:buNone/>
            </a:pPr>
            <a:r>
              <a:rPr lang="en-US" altLang="zh-CN" sz="2200" dirty="0"/>
              <a:t>International organizations can play significantly diverse and important roles in world politics:</a:t>
            </a:r>
            <a:endParaRPr lang="en-US" altLang="zh-CN" sz="2200" dirty="0"/>
          </a:p>
          <a:p>
            <a:pPr marL="114300" indent="0">
              <a:buNone/>
            </a:pPr>
            <a:r>
              <a:rPr lang="en-US" altLang="zh-CN" sz="2200" dirty="0"/>
              <a:t>They can identify key issues and help set the international agenda. </a:t>
            </a:r>
            <a:endParaRPr lang="en-US" altLang="zh-CN" sz="2200" dirty="0"/>
          </a:p>
          <a:p>
            <a:pPr marL="114300" indent="0">
              <a:buNone/>
            </a:pPr>
            <a:r>
              <a:rPr lang="en-US" altLang="zh-CN" sz="2200" dirty="0"/>
              <a:t>They bring together numerous officials, thereby facilitating the formation of potential coalitions in global politics. </a:t>
            </a:r>
            <a:endParaRPr lang="en-US" altLang="zh-CN" sz="2200" dirty="0"/>
          </a:p>
          <a:p>
            <a:pPr marL="114300" indent="0">
              <a:buNone/>
            </a:pPr>
            <a:r>
              <a:rPr lang="en-US" altLang="zh-CN" sz="2200" dirty="0"/>
              <a:t>They often serve as venues where weaker states can launch political initiatives and pursue linkage strategies. International organizations are often institutional settings particularly suitable for weaker states. They also enable weaker states to implement linkage strategies.</a:t>
            </a:r>
            <a:endParaRPr lang="en-US" altLang="zh-CN" sz="2200" dirty="0"/>
          </a:p>
          <a:p>
            <a:pPr marL="114300" indent="0">
              <a:buNone/>
            </a:pPr>
            <a:r>
              <a:rPr lang="en-US" altLang="zh-CN" sz="2200" dirty="0"/>
              <a:t>Under conditions of complex interdependence, international organizations will set agendas, catalyze coalition-building, and provide platforms for political action by weaker states.</a:t>
            </a:r>
            <a:endParaRPr lang="en-US" altLang="zh-CN" sz="2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latin typeface="Times New Roman" panose="02020603050405020304" charset="0"/>
                <a:cs typeface="Times New Roman" panose="02020603050405020304" charset="0"/>
              </a:rPr>
              <a:t>III. The Constructivist School’s Account of International Organizations</a:t>
            </a:r>
            <a:endParaRPr lang="en-US" altLang="zh-CN" dirty="0">
              <a:latin typeface="Times New Roman" panose="02020603050405020304" charset="0"/>
              <a:cs typeface="Times New Roman" panose="02020603050405020304" charset="0"/>
            </a:endParaRPr>
          </a:p>
        </p:txBody>
      </p:sp>
      <p:sp>
        <p:nvSpPr>
          <p:cNvPr id="3" name="内容占位符 2"/>
          <p:cNvSpPr>
            <a:spLocks noGrp="1"/>
          </p:cNvSpPr>
          <p:nvPr>
            <p:ph idx="1"/>
          </p:nvPr>
        </p:nvSpPr>
        <p:spPr>
          <a:xfrm>
            <a:off x="457200" y="2079773"/>
            <a:ext cx="8229600" cy="4373563"/>
          </a:xfrm>
        </p:spPr>
        <p:txBody>
          <a:bodyPr/>
          <a:lstStyle/>
          <a:p>
            <a:pPr marL="533400" indent="-533400">
              <a:buFont typeface="Wingdings" panose="05000000000000000000" pitchFamily="2" charset="2"/>
              <a:buChar char="Ø"/>
            </a:pPr>
            <a:r>
              <a:rPr lang="en-US" altLang="zh-CN" dirty="0"/>
              <a:t>Constructivists argue that the establishment of international organizations depends on two key conditions: </a:t>
            </a:r>
            <a:endParaRPr lang="en-US" altLang="zh-CN" dirty="0"/>
          </a:p>
          <a:p>
            <a:pPr marL="533400" indent="-533400">
              <a:buFont typeface="Wingdings" panose="05000000000000000000" pitchFamily="2" charset="2"/>
              <a:buChar char="Ø"/>
            </a:pPr>
            <a:r>
              <a:rPr lang="en-US" altLang="zh-CN" dirty="0"/>
              <a:t>The existence of shared consensus within the international community regarding values and norms. </a:t>
            </a:r>
            <a:endParaRPr lang="en-US" altLang="zh-CN" dirty="0"/>
          </a:p>
          <a:p>
            <a:pPr marL="533400" indent="-533400">
              <a:buFont typeface="Wingdings" panose="05000000000000000000" pitchFamily="2" charset="2"/>
              <a:buChar char="Ø"/>
            </a:pPr>
            <a:r>
              <a:rPr lang="en-US" altLang="zh-CN" dirty="0"/>
              <a:t>Cognitive congruence—i.e., a shared understanding or perception among actors—is crucial for the creation of international organizations.</a:t>
            </a:r>
            <a:endParaRPr lang="en-US" altLang="zh-CN" dirty="0"/>
          </a:p>
          <a:p>
            <a:pPr marL="533400" indent="-533400">
              <a:buFont typeface="Wingdings" panose="05000000000000000000" pitchFamily="2" charset="2"/>
              <a:buChar char="Ø"/>
            </a:pPr>
            <a:r>
              <a:rPr lang="en-US" altLang="zh-CN" dirty="0"/>
              <a:t>Constructivists also contend that non-state norm entrepreneurs, think tanks, and advocacy networks play a pivotal role in the international diffusion of social norms.</a:t>
            </a:r>
            <a:r>
              <a:rPr lang="zh-CN" altLang="en-US" dirty="0"/>
              <a:t>。</a:t>
            </a:r>
            <a:endParaRPr lang="zh-CN" altLang="en-US"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Barnett and Finnemore</a:t>
            </a:r>
            <a:endParaRPr lang="en-US" altLang="zh-CN" dirty="0"/>
          </a:p>
        </p:txBody>
      </p:sp>
      <p:sp>
        <p:nvSpPr>
          <p:cNvPr id="3" name="内容占位符 2"/>
          <p:cNvSpPr>
            <a:spLocks noGrp="1"/>
          </p:cNvSpPr>
          <p:nvPr>
            <p:ph idx="1"/>
          </p:nvPr>
        </p:nvSpPr>
        <p:spPr/>
        <p:txBody>
          <a:bodyPr>
            <a:normAutofit lnSpcReduction="10000"/>
          </a:bodyPr>
          <a:lstStyle/>
          <a:p>
            <a:endParaRPr lang="en-US" altLang="zh-CN" dirty="0" smtClean="0"/>
          </a:p>
          <a:p>
            <a:r>
              <a:rPr lang="en-US" altLang="zh-CN" dirty="0"/>
              <a:t>1. View international organizations as bureaucratic institutions.</a:t>
            </a:r>
            <a:endParaRPr lang="en-US" altLang="zh-CN" dirty="0"/>
          </a:p>
          <a:p>
            <a:endParaRPr lang="en-US" altLang="zh-CN" dirty="0"/>
          </a:p>
          <a:p>
            <a:r>
              <a:rPr lang="en-US" altLang="zh-CN" dirty="0"/>
              <a:t>Examine the sources and uses of international organizations’ autonomy. </a:t>
            </a:r>
            <a:endParaRPr lang="en-US" altLang="zh-CN" dirty="0"/>
          </a:p>
          <a:p>
            <a:endParaRPr lang="en-US" altLang="zh-CN" dirty="0"/>
          </a:p>
          <a:p>
            <a:r>
              <a:rPr lang="en-US" altLang="zh-CN" dirty="0"/>
              <a:t>2. Analyze the power of international organizations and their impact on world affairs. </a:t>
            </a:r>
            <a:endParaRPr lang="en-US" altLang="zh-CN" dirty="0"/>
          </a:p>
          <a:p>
            <a:endParaRPr lang="en-US" altLang="zh-CN" dirty="0"/>
          </a:p>
          <a:p>
            <a:r>
              <a:rPr lang="en-US" altLang="zh-CN" dirty="0"/>
              <a:t>3. Investigate pathological behaviors and institutional change within international </a:t>
            </a:r>
            <a:r>
              <a:rPr lang="en-US" altLang="zh-CN" dirty="0"/>
              <a:t>organizations.</a:t>
            </a:r>
            <a:endParaRPr lang="en-US" altLang="zh-CN" dirty="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ym typeface="+mn-ea"/>
              </a:rPr>
              <a:t>Review Questions  </a:t>
            </a:r>
            <a:endParaRPr lang="zh-CN" altLang="en-US" dirty="0"/>
          </a:p>
        </p:txBody>
      </p:sp>
      <p:sp>
        <p:nvSpPr>
          <p:cNvPr id="3" name="内容占位符 2"/>
          <p:cNvSpPr>
            <a:spLocks noGrp="1"/>
          </p:cNvSpPr>
          <p:nvPr>
            <p:ph idx="1"/>
          </p:nvPr>
        </p:nvSpPr>
        <p:spPr/>
        <p:txBody>
          <a:bodyPr>
            <a:normAutofit lnSpcReduction="20000"/>
          </a:bodyPr>
          <a:lstStyle/>
          <a:p>
            <a:pPr marL="571500" indent="-457200">
              <a:buFont typeface="+mj-lt"/>
              <a:buAutoNum type="arabicPeriod"/>
            </a:pPr>
            <a:endParaRPr lang="en-US" altLang="zh-CN" dirty="0" smtClean="0"/>
          </a:p>
          <a:p>
            <a:pPr marL="571500" indent="-457200">
              <a:buFont typeface="+mj-lt"/>
              <a:buAutoNum type="arabicPeriod"/>
            </a:pPr>
            <a:r>
              <a:rPr lang="en-US" altLang="zh-CN" dirty="0"/>
              <a:t>- How did Marx, Engels, and Lenin advance the international unity of the proletariat?  </a:t>
            </a:r>
            <a:endParaRPr lang="en-US" altLang="zh-CN" dirty="0"/>
          </a:p>
          <a:p>
            <a:pPr marL="571500" indent="-457200">
              <a:buFont typeface="+mj-lt"/>
              <a:buAutoNum type="arabicPeriod"/>
            </a:pPr>
            <a:r>
              <a:rPr lang="en-US" altLang="zh-CN" dirty="0"/>
              <a:t>- How has the Communist Party of China developed a Marxist theory of international organizations?  </a:t>
            </a:r>
            <a:endParaRPr lang="en-US" altLang="zh-CN" dirty="0"/>
          </a:p>
          <a:p>
            <a:pPr marL="571500" indent="-457200">
              <a:buFont typeface="+mj-lt"/>
              <a:buAutoNum type="arabicPeriod"/>
            </a:pPr>
            <a:r>
              <a:rPr lang="en-US" altLang="zh-CN" dirty="0"/>
              <a:t>- How does realism assess the role of international organizations?  </a:t>
            </a:r>
            <a:endParaRPr lang="en-US" altLang="zh-CN" dirty="0"/>
          </a:p>
          <a:p>
            <a:pPr marL="571500" indent="-457200">
              <a:buFont typeface="+mj-lt"/>
              <a:buAutoNum type="arabicPeriod"/>
            </a:pPr>
            <a:r>
              <a:rPr lang="en-US" altLang="zh-CN" dirty="0"/>
              <a:t>- How does neoliberal international-relations theory explain the emergence of international organizations?  </a:t>
            </a:r>
            <a:endParaRPr lang="en-US" altLang="zh-CN" dirty="0"/>
          </a:p>
          <a:p>
            <a:pPr marL="571500" indent="-457200">
              <a:buFont typeface="+mj-lt"/>
              <a:buAutoNum type="arabicPeriod"/>
            </a:pPr>
            <a:r>
              <a:rPr lang="en-US" altLang="zh-CN" dirty="0"/>
              <a:t>- What theoretical contributions has constructivist international-relations theory made to the study of international organizations?</a:t>
            </a:r>
            <a:endParaRPr lang="en-US" altLang="zh-CN" dirty="0"/>
          </a:p>
        </p:txBody>
      </p:sp>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药剂师">
  <a:themeElements>
    <a:clrScheme name="跋涉">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fontScheme name="Office 经典">
      <a:maj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Times New Roman"/>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药剂师">
      <a:fillStyleLst>
        <a:solidFill>
          <a:schemeClr val="phClr"/>
        </a:solidFill>
        <a:gradFill rotWithShape="1">
          <a:gsLst>
            <a:gs pos="0">
              <a:schemeClr val="phClr">
                <a:tint val="1000"/>
                <a:satMod val="100000"/>
              </a:schemeClr>
            </a:gs>
            <a:gs pos="68000">
              <a:schemeClr val="phClr">
                <a:tint val="77000"/>
                <a:satMod val="100000"/>
              </a:schemeClr>
            </a:gs>
            <a:gs pos="81000">
              <a:schemeClr val="phClr">
                <a:tint val="79000"/>
                <a:satMod val="100000"/>
              </a:schemeClr>
            </a:gs>
            <a:gs pos="86000">
              <a:schemeClr val="phClr">
                <a:tint val="73000"/>
                <a:satMod val="100000"/>
              </a:schemeClr>
            </a:gs>
            <a:gs pos="100000">
              <a:schemeClr val="phClr">
                <a:tint val="35000"/>
                <a:satMod val="100000"/>
              </a:schemeClr>
            </a:gs>
          </a:gsLst>
          <a:lin ang="5400000" scaled="0"/>
        </a:gradFill>
        <a:gradFill rotWithShape="1">
          <a:gsLst>
            <a:gs pos="0">
              <a:schemeClr val="phClr">
                <a:tint val="73000"/>
                <a:shade val="100000"/>
                <a:satMod val="150000"/>
              </a:schemeClr>
            </a:gs>
            <a:gs pos="25000">
              <a:schemeClr val="phClr">
                <a:tint val="96000"/>
                <a:shade val="80000"/>
                <a:satMod val="105000"/>
              </a:schemeClr>
            </a:gs>
            <a:gs pos="38000">
              <a:schemeClr val="phClr">
                <a:tint val="96000"/>
                <a:shade val="59000"/>
                <a:satMod val="120000"/>
              </a:schemeClr>
            </a:gs>
            <a:gs pos="55000">
              <a:schemeClr val="phClr">
                <a:tint val="100000"/>
                <a:shade val="57000"/>
                <a:satMod val="120000"/>
              </a:schemeClr>
            </a:gs>
            <a:gs pos="80000">
              <a:schemeClr val="phClr">
                <a:tint val="100000"/>
                <a:shade val="56000"/>
                <a:satMod val="145000"/>
              </a:schemeClr>
            </a:gs>
            <a:gs pos="88000">
              <a:schemeClr val="phClr">
                <a:tint val="100000"/>
                <a:shade val="63000"/>
                <a:satMod val="160000"/>
              </a:schemeClr>
            </a:gs>
            <a:gs pos="100000">
              <a:schemeClr val="phClr">
                <a:tint val="99000"/>
                <a:shade val="100000"/>
                <a:satMod val="155000"/>
              </a:schemeClr>
            </a:gs>
          </a:gsLst>
          <a:lin ang="54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scene3d>
            <a:camera prst="orthographicFront">
              <a:rot lat="0" lon="0" rev="0"/>
            </a:camera>
            <a:lightRig rig="glow" dir="tl">
              <a:rot lat="0" lon="0" rev="1800000"/>
            </a:lightRig>
          </a:scene3d>
          <a:sp3d contourW="10160" prstMaterial="dkEdge">
            <a:bevelT w="0" h="0" prst="angle"/>
            <a:contourClr>
              <a:schemeClr val="phClr">
                <a:shade val="30000"/>
                <a:satMod val="150000"/>
              </a:schemeClr>
            </a:contourClr>
          </a:sp3d>
        </a:effectStyle>
        <a:effectStyle>
          <a:effectLst>
            <a:glow rad="50800">
              <a:schemeClr val="phClr">
                <a:tint val="68000"/>
                <a:shade val="93000"/>
                <a:alpha val="37000"/>
                <a:satMod val="250000"/>
              </a:schemeClr>
            </a:glow>
          </a:effectLst>
          <a:scene3d>
            <a:camera prst="orthographicFront">
              <a:rot lat="0" lon="0" rev="0"/>
            </a:camera>
            <a:lightRig rig="glow" dir="t">
              <a:rot lat="0" lon="0" rev="1800000"/>
            </a:lightRig>
          </a:scene3d>
          <a:sp3d contourW="10160" prstMaterial="dkEdge">
            <a:bevelT w="20320" h="19050" prst="angle"/>
            <a:contourClr>
              <a:schemeClr val="phClr">
                <a:shade val="30000"/>
                <a:satMod val="150000"/>
              </a:schemeClr>
            </a:contourClr>
          </a:sp3d>
        </a:effectStyle>
      </a:effectStyleLst>
      <a:bgFillStyleLst>
        <a:solidFill>
          <a:schemeClr val="phClr"/>
        </a:solidFill>
        <a:solidFill>
          <a:schemeClr val="phClr">
            <a:tint val="93000"/>
            <a:satMod val="140000"/>
          </a:schemeClr>
        </a:solidFill>
        <a:blipFill rotWithShape="1">
          <a:blip xmlns:r="http://schemas.openxmlformats.org/officeDocument/2006/relationships" r:embed="rId1">
            <a:duotone>
              <a:schemeClr val="phClr">
                <a:tint val="70000"/>
                <a:satMod val="170000"/>
              </a:schemeClr>
              <a:schemeClr val="phClr">
                <a:shade val="70000"/>
                <a:satMod val="130000"/>
              </a:schemeClr>
            </a:duotone>
          </a:blip>
          <a:tile tx="0" ty="0" sx="100000" sy="100000" flip="none" algn="tl"/>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Apothecary</Template>
  <TotalTime>0</TotalTime>
  <Words>11036</Words>
  <Application>WPS 演示</Application>
  <PresentationFormat>全屏显示(4:3)</PresentationFormat>
  <Paragraphs>157</Paragraphs>
  <Slides>21</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21</vt:i4>
      </vt:variant>
    </vt:vector>
  </HeadingPairs>
  <TitlesOfParts>
    <vt:vector size="31" baseType="lpstr">
      <vt:lpstr>Arial</vt:lpstr>
      <vt:lpstr>宋体</vt:lpstr>
      <vt:lpstr>Wingdings</vt:lpstr>
      <vt:lpstr>Times New Roman</vt:lpstr>
      <vt:lpstr>楷体</vt:lpstr>
      <vt:lpstr>微软雅黑</vt:lpstr>
      <vt:lpstr>Arial Unicode MS</vt:lpstr>
      <vt:lpstr>黑体</vt:lpstr>
      <vt:lpstr>Calibri</vt:lpstr>
      <vt:lpstr>药剂师</vt:lpstr>
      <vt:lpstr>Chapter 2  Theories of International Organizations</vt:lpstr>
      <vt:lpstr>Section one  Marxist Theories on International Organizations</vt:lpstr>
      <vt:lpstr>I. Marxist Theoretical Inquiry and Key Practices Concerning International Organizations  </vt:lpstr>
      <vt:lpstr>(A) Marxist Thought on International Unity</vt:lpstr>
      <vt:lpstr>(B) Marxist Leadership in the Practice of the International Workers' Movement</vt:lpstr>
      <vt:lpstr>(C) Basic Principles of Proletarian Unity</vt:lpstr>
      <vt:lpstr>(D) Proletarian Organizations of International Unity</vt:lpstr>
      <vt:lpstr>II. New Developments by the Communist Party of China in Marxist Theory on International Organizations</vt:lpstr>
      <vt:lpstr>(1) The International Structure Constrains International Organizations and Shapes the Relationship between States and International Organizations</vt:lpstr>
      <vt:lpstr>(2) Viewing the Status and Role of International Organizations from the Perspective of the Era's Central Theme</vt:lpstr>
      <vt:lpstr>(3) Proposing the Concepts of a "Harmonious World" and a "Community with a Shared Future for Humanity" from the Perspective of Human Destiny</vt:lpstr>
      <vt:lpstr>(4) Proposing China’s Approach to Global Governance</vt:lpstr>
      <vt:lpstr>Section two  Western IR Theories on International Organizations</vt:lpstr>
      <vt:lpstr>I. Realist Perspectives on International Organizations</vt:lpstr>
      <vt:lpstr>（i）Classical Realism on International Organizations</vt:lpstr>
      <vt:lpstr>(2) Neorealism's Account of International Organizations</vt:lpstr>
      <vt:lpstr>II. The Neoliberal School’s Account of International Organizations</vt:lpstr>
      <vt:lpstr>Power and Interdependence (Robert Keohane and Joseph Nye)</vt:lpstr>
      <vt:lpstr>III. The Constructivist School’s Account of International Organizations</vt:lpstr>
      <vt:lpstr>Barnett and Finnemore</vt:lpstr>
      <vt:lpstr>Review Questions  </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第二章 国际组织的理论</dc:title>
  <dc:creator>Administrator</dc:creator>
  <cp:lastModifiedBy>大唐1415436413</cp:lastModifiedBy>
  <cp:revision>164</cp:revision>
  <dcterms:created xsi:type="dcterms:W3CDTF">2017-06-09T07:48:00Z</dcterms:created>
  <dcterms:modified xsi:type="dcterms:W3CDTF">2026-02-25T01:53:33Z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DAD2A7BAFB4948CA8503484F46BD510A_12</vt:lpwstr>
  </property>
  <property fmtid="{D5CDD505-2E9C-101B-9397-08002B2CF9AE}" pid="3" name="KSOProductBuildVer">
    <vt:lpwstr>2052-12.1.0.24657</vt:lpwstr>
  </property>
</Properties>
</file>