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8" r:id="rId3"/>
    <p:sldId id="279" r:id="rId4"/>
    <p:sldId id="280" r:id="rId5"/>
    <p:sldId id="283" r:id="rId6"/>
    <p:sldId id="281" r:id="rId7"/>
    <p:sldId id="282" r:id="rId8"/>
    <p:sldId id="284" r:id="rId9"/>
    <p:sldId id="287" r:id="rId10"/>
    <p:sldId id="285" r:id="rId11"/>
    <p:sldId id="288" r:id="rId12"/>
    <p:sldId id="289" r:id="rId13"/>
    <p:sldId id="290" r:id="rId14"/>
    <p:sldId id="291" r:id="rId15"/>
    <p:sldId id="292" r:id="rId16"/>
    <p:sldId id="293" r:id="rId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7" autoAdjust="0"/>
    <p:restoredTop sz="94674" autoAdjust="0"/>
  </p:normalViewPr>
  <p:slideViewPr>
    <p:cSldViewPr showGuides="1">
      <p:cViewPr varScale="1">
        <p:scale>
          <a:sx n="66" d="100"/>
          <a:sy n="66" d="100"/>
        </p:scale>
        <p:origin x="-1506" y="-114"/>
      </p:cViewPr>
      <p:guideLst>
        <p:guide orient="horz" pos="2153"/>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9" name="Rectangle 8"/>
          <p:cNvSpPr/>
          <p:nvPr/>
        </p:nvSpPr>
        <p:spPr>
          <a:xfrm>
            <a:off x="345440" y="2942602"/>
            <a:ext cx="7147931"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572652" y="2944634"/>
            <a:ext cx="1190348"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7712714" y="3136658"/>
            <a:ext cx="910224" cy="2075688"/>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445483" y="3055621"/>
            <a:ext cx="6947845"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a:xfrm>
            <a:off x="7786826" y="4625268"/>
            <a:ext cx="762000" cy="457200"/>
          </a:xfrm>
        </p:spPr>
        <p:txBody>
          <a:bodyPr/>
          <a:lstStyle>
            <a:lvl1pPr algn="ctr">
              <a:defRPr sz="2800">
                <a:solidFill>
                  <a:schemeClr val="accent1">
                    <a:lumMod val="50000"/>
                  </a:schemeClr>
                </a:solidFill>
              </a:defRPr>
            </a:lvl1pPr>
          </a:lstStyle>
          <a:p>
            <a:fld id="{0C913308-F349-4B6D-A68A-DD1791B4A57B}" type="slidenum">
              <a:rPr lang="zh-CN" altLang="en-US" smtClean="0"/>
            </a:fld>
            <a:endParaRPr lang="zh-CN" altLang="en-US"/>
          </a:p>
        </p:txBody>
      </p:sp>
      <p:sp>
        <p:nvSpPr>
          <p:cNvPr id="11" name="Rectangle 10"/>
          <p:cNvSpPr/>
          <p:nvPr/>
        </p:nvSpPr>
        <p:spPr>
          <a:xfrm>
            <a:off x="541822" y="4559276"/>
            <a:ext cx="6755166"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538971" y="3139440"/>
            <a:ext cx="6760868"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642805" y="4648200"/>
            <a:ext cx="65532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2" name="Title 1"/>
          <p:cNvSpPr>
            <a:spLocks noGrp="1"/>
          </p:cNvSpPr>
          <p:nvPr>
            <p:ph type="ctrTitle"/>
          </p:nvPr>
        </p:nvSpPr>
        <p:spPr>
          <a:xfrm>
            <a:off x="604705" y="3227033"/>
            <a:ext cx="6629400" cy="1219201"/>
          </a:xfrm>
        </p:spPr>
        <p:txBody>
          <a:bodyPr anchor="b" anchorCtr="0">
            <a:noAutofit/>
          </a:bodyPr>
          <a:lstStyle>
            <a:lvl1pPr>
              <a:defRPr sz="4000">
                <a:solidFill>
                  <a:schemeClr val="accent1">
                    <a:lumMod val="50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Rounded Rectangle 7"/>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13" name="Rectangle 12"/>
          <p:cNvSpPr/>
          <p:nvPr/>
        </p:nvSpPr>
        <p:spPr>
          <a:xfrm>
            <a:off x="451976" y="2946400"/>
            <a:ext cx="8265160"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567656" y="3048000"/>
            <a:ext cx="8033800" cy="2245359"/>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Title 1"/>
          <p:cNvSpPr>
            <a:spLocks noGrp="1"/>
          </p:cNvSpPr>
          <p:nvPr>
            <p:ph type="title"/>
          </p:nvPr>
        </p:nvSpPr>
        <p:spPr>
          <a:xfrm>
            <a:off x="736456" y="3200399"/>
            <a:ext cx="76962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zh-CN" altLang="en-US" smtClean="0"/>
              <a:t>单击此处编辑母版标题样式</a:t>
            </a:r>
            <a:endParaRPr lang="en-US" dirty="0"/>
          </a:p>
        </p:txBody>
      </p:sp>
      <p:sp>
        <p:nvSpPr>
          <p:cNvPr id="15" name="Rectangle 14"/>
          <p:cNvSpPr/>
          <p:nvPr/>
        </p:nvSpPr>
        <p:spPr>
          <a:xfrm>
            <a:off x="675496" y="4541520"/>
            <a:ext cx="7818120" cy="664367"/>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36456" y="4607510"/>
            <a:ext cx="76962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14" name="Rectangle 13"/>
          <p:cNvSpPr/>
          <p:nvPr/>
        </p:nvSpPr>
        <p:spPr>
          <a:xfrm>
            <a:off x="675757" y="3124200"/>
            <a:ext cx="7817599" cy="207772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p>
            <a:r>
              <a:rPr lang="zh-CN" altLang="en-US" smtClean="0"/>
              <a:t>单击此处编辑母版标题样式</a:t>
            </a:r>
            <a:endParaRPr lang="en-US"/>
          </a:p>
        </p:txBody>
      </p:sp>
      <p:sp>
        <p:nvSpPr>
          <p:cNvPr id="3" name="Content Placeholder 2"/>
          <p:cNvSpPr>
            <a:spLocks noGrp="1"/>
          </p:cNvSpPr>
          <p:nvPr>
            <p:ph sz="half" idx="1"/>
          </p:nvPr>
        </p:nvSpPr>
        <p:spPr>
          <a:xfrm>
            <a:off x="426128"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4648200" y="1719071"/>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26128" y="408372"/>
            <a:ext cx="8260672" cy="1039427"/>
          </a:xfrm>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426128" y="1722438"/>
            <a:ext cx="4040188"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426128"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5025" y="1722438"/>
            <a:ext cx="4041775"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ounded Rectangle 10"/>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ounded Rectangle 8"/>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685800" y="621437"/>
            <a:ext cx="7772400" cy="4331564"/>
          </a:xfrm>
          <a:solidFill>
            <a:schemeClr val="bg2"/>
          </a:solidFill>
          <a:ln>
            <a:noFill/>
          </a:ln>
          <a:effectLst>
            <a:softEdge rad="12700"/>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0" name="Rectangle 9"/>
          <p:cNvSpPr/>
          <p:nvPr/>
        </p:nvSpPr>
        <p:spPr>
          <a:xfrm>
            <a:off x="685800" y="4953000"/>
            <a:ext cx="77724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61999" y="5029200"/>
            <a:ext cx="7600765" cy="1202924"/>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p:cNvSpPr>
            <a:spLocks noGrp="1"/>
          </p:cNvSpPr>
          <p:nvPr>
            <p:ph type="ftr" sz="quarter" idx="11"/>
          </p:nvPr>
        </p:nvSpPr>
        <p:spPr/>
        <p:txBody>
          <a:bodyPr/>
          <a:lstStyle/>
          <a:p>
            <a:endParaRPr lang="zh-CN" altLang="en-US"/>
          </a:p>
        </p:txBody>
      </p:sp>
      <p:sp>
        <p:nvSpPr>
          <p:cNvPr id="13" name="Rectangle 12"/>
          <p:cNvSpPr/>
          <p:nvPr/>
        </p:nvSpPr>
        <p:spPr>
          <a:xfrm>
            <a:off x="914400" y="5638800"/>
            <a:ext cx="7328514" cy="451696"/>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05589" y="5074920"/>
            <a:ext cx="7946136" cy="1097280"/>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956289" y="5656556"/>
            <a:ext cx="7244736"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2" name="Title 1"/>
          <p:cNvSpPr>
            <a:spLocks noGrp="1"/>
          </p:cNvSpPr>
          <p:nvPr>
            <p:ph type="title"/>
          </p:nvPr>
        </p:nvSpPr>
        <p:spPr>
          <a:xfrm>
            <a:off x="914400" y="5105400"/>
            <a:ext cx="7328514" cy="523043"/>
          </a:xfrm>
        </p:spPr>
        <p:txBody>
          <a:bodyPr anchor="ctr" anchorCtr="0"/>
          <a:lstStyle>
            <a:lvl1pPr algn="ctr">
              <a:defRPr sz="2000" b="0">
                <a:solidFill>
                  <a:schemeClr val="accent1">
                    <a:lumMod val="75000"/>
                  </a:schemeClr>
                </a:solidFill>
              </a:defRPr>
            </a:lvl1pPr>
          </a:lstStyle>
          <a:p>
            <a:r>
              <a:rPr lang="zh-CN" altLang="en-US" smtClean="0"/>
              <a:t>单击此处编辑母版标题样式</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7" name="Rectangle 6"/>
          <p:cNvSpPr/>
          <p:nvPr/>
        </p:nvSpPr>
        <p:spPr>
          <a:xfrm>
            <a:off x="6861702" y="228600"/>
            <a:ext cx="1859280" cy="6122634"/>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Rectangle 7"/>
          <p:cNvSpPr/>
          <p:nvPr/>
        </p:nvSpPr>
        <p:spPr>
          <a:xfrm>
            <a:off x="6955225" y="351409"/>
            <a:ext cx="1672235" cy="587701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048577" y="395427"/>
            <a:ext cx="1485531" cy="5788981"/>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380999"/>
            <a:ext cx="6172200" cy="5791201"/>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ounded Rectangle 6"/>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457200" y="1752600"/>
            <a:ext cx="8229600" cy="43735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2"/>
                </a:solidFill>
              </a:defRPr>
            </a:lvl1pPr>
          </a:lstStyle>
          <a:p>
            <a:fld id="{530820CF-B880-4189-942D-D702A7CBA730}" type="datetimeFigureOut">
              <a:rPr lang="zh-CN" altLang="en-US" smtClean="0"/>
            </a:fld>
            <a:endParaRPr lang="zh-CN"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zh-CN"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2"/>
                </a:solidFill>
              </a:defRPr>
            </a:lvl1pPr>
          </a:lstStyle>
          <a:p>
            <a:fld id="{0C913308-F349-4B6D-A68A-DD1791B4A57B}" type="slidenum">
              <a:rPr lang="zh-CN" altLang="en-US" smtClean="0"/>
            </a:fld>
            <a:endParaRPr lang="zh-CN" altLang="en-US"/>
          </a:p>
        </p:txBody>
      </p:sp>
      <p:sp>
        <p:nvSpPr>
          <p:cNvPr id="9" name="Rectangle 8"/>
          <p:cNvSpPr/>
          <p:nvPr/>
        </p:nvSpPr>
        <p:spPr>
          <a:xfrm>
            <a:off x="274320" y="278166"/>
            <a:ext cx="859536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10" name="Rectangle 9"/>
          <p:cNvSpPr/>
          <p:nvPr/>
        </p:nvSpPr>
        <p:spPr>
          <a:xfrm>
            <a:off x="372863" y="372862"/>
            <a:ext cx="8380520" cy="1118587"/>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26128" y="408372"/>
            <a:ext cx="8260672" cy="1039427"/>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3500" kern="1200" cap="all" baseline="0">
          <a:solidFill>
            <a:schemeClr val="accent1">
              <a:lumMod val="75000"/>
            </a:schemeClr>
          </a:solidFill>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International Organization </a:t>
            </a:r>
            <a:br>
              <a:rPr lang="en-US" altLang="zh-CN"/>
            </a:br>
            <a:r>
              <a:rPr lang="en-US" altLang="zh-CN"/>
              <a:t>and Global social Policy</a:t>
            </a:r>
            <a:endParaRPr lang="en-US" altLang="zh-CN"/>
          </a:p>
        </p:txBody>
      </p:sp>
      <p:sp>
        <p:nvSpPr>
          <p:cNvPr id="3" name="内容占位符 2"/>
          <p:cNvSpPr>
            <a:spLocks noGrp="1"/>
          </p:cNvSpPr>
          <p:nvPr>
            <p:ph idx="1"/>
          </p:nvPr>
        </p:nvSpPr>
        <p:spPr/>
        <p:txBody>
          <a:bodyPr>
            <a:noAutofit/>
          </a:bodyPr>
          <a:p>
            <a:r>
              <a:rPr lang="en-US" altLang="zh-CN" sz="3200"/>
              <a:t>Semester: 2025-2026-2, Spring </a:t>
            </a:r>
            <a:endParaRPr lang="en-US" altLang="zh-CN" sz="3200"/>
          </a:p>
          <a:p>
            <a:r>
              <a:rPr lang="en-US" altLang="zh-CN" sz="3200"/>
              <a:t>Instructor: Jerome Yuhua Tang</a:t>
            </a:r>
            <a:endParaRPr lang="en-US" altLang="zh-CN" sz="3200"/>
          </a:p>
          <a:p>
            <a:r>
              <a:rPr lang="en-US" altLang="zh-CN" sz="3200"/>
              <a:t>                 Ph.D. &amp; Associate Professor</a:t>
            </a:r>
            <a:endParaRPr lang="en-US" altLang="zh-CN" sz="3200"/>
          </a:p>
          <a:p>
            <a:r>
              <a:rPr lang="en-US" altLang="zh-CN" sz="3000"/>
              <a:t> Department of International Economics &amp; Trade</a:t>
            </a:r>
            <a:endParaRPr lang="en-US" altLang="zh-CN" sz="3000"/>
          </a:p>
          <a:p>
            <a:r>
              <a:rPr lang="en-US" altLang="zh-CN" sz="3200"/>
              <a:t>       School of Economics, Jinan University</a:t>
            </a:r>
            <a:endParaRPr lang="en-US" altLang="zh-CN" sz="3200"/>
          </a:p>
          <a:p>
            <a:r>
              <a:rPr lang="en-US" altLang="zh-CN" sz="3200"/>
              <a:t>Tel: 18122740122</a:t>
            </a:r>
            <a:endParaRPr lang="en-US" altLang="zh-CN"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Textbook and References</a:t>
            </a:r>
            <a:endParaRPr lang="en-US" altLang="zh-CN"/>
          </a:p>
        </p:txBody>
      </p:sp>
      <p:sp>
        <p:nvSpPr>
          <p:cNvPr id="3" name="内容占位符 2"/>
          <p:cNvSpPr>
            <a:spLocks noGrp="1"/>
          </p:cNvSpPr>
          <p:nvPr>
            <p:ph idx="1"/>
          </p:nvPr>
        </p:nvSpPr>
        <p:spPr>
          <a:xfrm>
            <a:off x="457200" y="1752600"/>
            <a:ext cx="8229600" cy="4497070"/>
          </a:xfrm>
        </p:spPr>
        <p:txBody>
          <a:bodyPr>
            <a:normAutofit lnSpcReduction="20000"/>
          </a:bodyPr>
          <a:p>
            <a:r>
              <a:rPr lang="en-US" altLang="zh-CN"/>
              <a:t>Textbook: </a:t>
            </a:r>
            <a:endParaRPr lang="en-US" altLang="zh-CN"/>
          </a:p>
          <a:p>
            <a:r>
              <a:rPr lang="zh-CN" altLang="en-US"/>
              <a:t>郑启荣</a:t>
            </a:r>
            <a:r>
              <a:rPr lang="en-US" altLang="zh-CN"/>
              <a:t>Zhengqirong, </a:t>
            </a:r>
            <a:r>
              <a:rPr lang="en-US" altLang="zh-CN" b="1" i="1"/>
              <a:t>International Organization</a:t>
            </a:r>
            <a:r>
              <a:rPr lang="en-US" altLang="zh-CN"/>
              <a:t>, China Higher Education Press, 2018 </a:t>
            </a:r>
            <a:r>
              <a:rPr lang="zh-CN" altLang="en-US"/>
              <a:t>（马工程教材）</a:t>
            </a:r>
            <a:r>
              <a:rPr lang="en-US" altLang="zh-CN"/>
              <a:t>, 978-7-04-050097-4</a:t>
            </a:r>
            <a:endParaRPr lang="en-US" altLang="zh-CN"/>
          </a:p>
          <a:p>
            <a:endParaRPr lang="en-US" altLang="zh-CN"/>
          </a:p>
          <a:p>
            <a:r>
              <a:rPr lang="en-US" altLang="zh-CN"/>
              <a:t>Reference books:</a:t>
            </a:r>
            <a:endParaRPr lang="en-US" altLang="zh-CN"/>
          </a:p>
          <a:p>
            <a:r>
              <a:rPr lang="zh-CN" altLang="en-US"/>
              <a:t>于永达编著，国际组织（第二版），清华大学出版社，</a:t>
            </a:r>
            <a:r>
              <a:rPr lang="en-US" altLang="zh-CN"/>
              <a:t>2011.</a:t>
            </a:r>
            <a:endParaRPr lang="en-US" altLang="zh-CN"/>
          </a:p>
          <a:p>
            <a:r>
              <a:rPr lang="en-US" altLang="zh-CN"/>
              <a:t>Bob Reinalda, Mariake Louis, Routeledge Handbook of International Organization, second edition, 2025. </a:t>
            </a:r>
            <a:endParaRPr lang="en-US" altLang="zh-CN"/>
          </a:p>
          <a:p>
            <a:r>
              <a:rPr lang="en-US" altLang="zh-CN"/>
              <a:t>Thomas G. Weiss, Rorden Wilkinson, International Organization and Global Governance, 3rd edition, Taylor and Francis Group, 2023.</a:t>
            </a:r>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内容占位符 3" descr="国际组织封面"/>
          <p:cNvPicPr>
            <a:picLocks noChangeAspect="1"/>
          </p:cNvPicPr>
          <p:nvPr>
            <p:ph idx="1"/>
          </p:nvPr>
        </p:nvPicPr>
        <p:blipFill>
          <a:blip r:embed="rId1"/>
          <a:stretch>
            <a:fillRect/>
          </a:stretch>
        </p:blipFill>
        <p:spPr>
          <a:xfrm>
            <a:off x="1835785" y="260985"/>
            <a:ext cx="5736590" cy="64217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Syllabus</a:t>
            </a:r>
            <a:endParaRPr lang="en-US" altLang="zh-CN"/>
          </a:p>
        </p:txBody>
      </p:sp>
      <p:sp>
        <p:nvSpPr>
          <p:cNvPr id="3" name="内容占位符 2"/>
          <p:cNvSpPr>
            <a:spLocks noGrp="1"/>
          </p:cNvSpPr>
          <p:nvPr>
            <p:ph idx="1"/>
          </p:nvPr>
        </p:nvSpPr>
        <p:spPr/>
        <p:txBody>
          <a:bodyPr/>
          <a:p>
            <a:r>
              <a:rPr lang="en-US" altLang="zh-CN" sz="3200"/>
              <a:t>Teaching Objectives and Requirements;</a:t>
            </a:r>
            <a:endParaRPr lang="en-US" altLang="zh-CN" sz="3200"/>
          </a:p>
          <a:p>
            <a:r>
              <a:rPr lang="en-US" altLang="zh-CN" sz="3200"/>
              <a:t>Grading System and Evaluation Methods</a:t>
            </a:r>
            <a:endParaRPr lang="en-US" altLang="zh-CN" sz="3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4400">
                <a:latin typeface="Times New Roman" panose="02020603050405020304" charset="0"/>
                <a:cs typeface="Times New Roman" panose="02020603050405020304" charset="0"/>
              </a:rPr>
              <a:t>Lead-in</a:t>
            </a:r>
            <a:endParaRPr lang="en-US" altLang="zh-CN" sz="4400">
              <a:latin typeface="Times New Roman" panose="02020603050405020304" charset="0"/>
              <a:cs typeface="Times New Roman" panose="02020603050405020304" charset="0"/>
            </a:endParaRPr>
          </a:p>
        </p:txBody>
      </p:sp>
      <p:sp>
        <p:nvSpPr>
          <p:cNvPr id="3" name="内容占位符 2"/>
          <p:cNvSpPr>
            <a:spLocks noGrp="1"/>
          </p:cNvSpPr>
          <p:nvPr>
            <p:ph idx="1"/>
          </p:nvPr>
        </p:nvSpPr>
        <p:spPr/>
        <p:txBody>
          <a:bodyPr/>
          <a:p>
            <a:r>
              <a:rPr lang="en-US" altLang="zh-CN" sz="3600"/>
              <a:t>1 organization</a:t>
            </a:r>
            <a:endParaRPr lang="en-US" altLang="zh-CN" sz="3600"/>
          </a:p>
          <a:p>
            <a:r>
              <a:rPr lang="en-US" altLang="zh-CN" sz="3600"/>
              <a:t>   international organization</a:t>
            </a:r>
            <a:endParaRPr lang="en-US" altLang="zh-CN" sz="3600"/>
          </a:p>
          <a:p>
            <a:r>
              <a:rPr lang="en-US" altLang="zh-CN" sz="3600"/>
              <a:t>2 social policy</a:t>
            </a:r>
            <a:endParaRPr lang="en-US" altLang="zh-CN" sz="3600"/>
          </a:p>
          <a:p>
            <a:r>
              <a:rPr lang="en-US" altLang="zh-CN" sz="3600"/>
              <a:t>3 global social policy</a:t>
            </a:r>
            <a:endParaRPr lang="en-US" altLang="zh-CN" sz="3600"/>
          </a:p>
          <a:p>
            <a:endParaRPr lang="en-US" altLang="zh-CN" sz="3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 Organization</a:t>
            </a:r>
            <a:endParaRPr lang="en-US" altLang="zh-CN"/>
          </a:p>
        </p:txBody>
      </p:sp>
      <p:sp>
        <p:nvSpPr>
          <p:cNvPr id="3" name="内容占位符 2"/>
          <p:cNvSpPr>
            <a:spLocks noGrp="1"/>
          </p:cNvSpPr>
          <p:nvPr>
            <p:ph idx="1"/>
          </p:nvPr>
        </p:nvSpPr>
        <p:spPr/>
        <p:txBody>
          <a:bodyPr>
            <a:noAutofit/>
          </a:bodyPr>
          <a:p>
            <a:r>
              <a:rPr lang="en-US" altLang="zh-CN" sz="2600"/>
              <a:t>      </a:t>
            </a:r>
            <a:r>
              <a:rPr lang="zh-CN" altLang="en-US" sz="2600"/>
              <a:t>组织是人们按照一定的目的、任务和形式组建起来的相互协作的社会群体。也可以理解为：在一定环境中，为实现某种共同的目标，确保人们社会活动正常协调运行、顺利达到预期目的、具有特定功能的开放系统。</a:t>
            </a:r>
            <a:endParaRPr lang="zh-CN" altLang="en-US" sz="2600"/>
          </a:p>
          <a:p>
            <a:r>
              <a:rPr lang="en-US" altLang="zh-CN" sz="2600"/>
              <a:t>      An organization is a cooperative social group that people form around a shared purpose, task, and structure. It can also be defined as an open system that, within a given environment, unites individuals to achieve a common goal, ensures the orderly coordination of social activities, and smoothly attains desired outcomes.</a:t>
            </a:r>
            <a:endParaRPr lang="en-US" altLang="zh-CN" sz="2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sym typeface="+mn-ea"/>
              </a:rPr>
              <a:t>Basic properties</a:t>
            </a:r>
            <a:endParaRPr lang="zh-CN" altLang="en-US"/>
          </a:p>
        </p:txBody>
      </p:sp>
      <p:sp>
        <p:nvSpPr>
          <p:cNvPr id="3" name="内容占位符 2"/>
          <p:cNvSpPr>
            <a:spLocks noGrp="1"/>
          </p:cNvSpPr>
          <p:nvPr>
            <p:ph idx="1"/>
          </p:nvPr>
        </p:nvSpPr>
        <p:spPr>
          <a:xfrm>
            <a:off x="457200" y="1752600"/>
            <a:ext cx="8229600" cy="4690745"/>
          </a:xfrm>
        </p:spPr>
        <p:txBody>
          <a:bodyPr>
            <a:normAutofit lnSpcReduction="10000"/>
          </a:bodyPr>
          <a:p>
            <a:r>
              <a:rPr lang="en-US" altLang="zh-CN" sz="2500"/>
              <a:t>1</a:t>
            </a:r>
            <a:r>
              <a:rPr lang="zh-CN" altLang="en-US" sz="2500"/>
              <a:t>）</a:t>
            </a:r>
            <a:r>
              <a:rPr lang="en-US" altLang="zh-CN" sz="2500"/>
              <a:t>An organization is a set of behavioral relationships that arise through people’s interactions.</a:t>
            </a:r>
            <a:endParaRPr lang="en-US" altLang="zh-CN" sz="2500"/>
          </a:p>
          <a:p>
            <a:r>
              <a:rPr lang="en-US" altLang="zh-CN" sz="2500"/>
              <a:t>2</a:t>
            </a:r>
            <a:r>
              <a:rPr lang="zh-CN" altLang="en-US" sz="2500"/>
              <a:t>）</a:t>
            </a:r>
            <a:r>
              <a:rPr lang="en-US" altLang="zh-CN" sz="2500"/>
              <a:t>It is consciously created to pursue specific objectives.</a:t>
            </a:r>
            <a:endParaRPr lang="en-US" altLang="zh-CN" sz="2500"/>
          </a:p>
          <a:p>
            <a:r>
              <a:rPr lang="en-US" altLang="zh-CN" sz="2500"/>
              <a:t>3</a:t>
            </a:r>
            <a:r>
              <a:rPr lang="zh-CN" altLang="en-US" sz="2500"/>
              <a:t>）</a:t>
            </a:r>
            <a:r>
              <a:rPr lang="en-US" altLang="zh-CN" sz="2500"/>
              <a:t>It manifests human cooperation founded on the division of labor.</a:t>
            </a:r>
            <a:endParaRPr lang="en-US" altLang="zh-CN" sz="2500"/>
          </a:p>
          <a:p>
            <a:r>
              <a:rPr lang="en-US" altLang="zh-CN" sz="2500"/>
              <a:t>4</a:t>
            </a:r>
            <a:r>
              <a:rPr lang="zh-CN" altLang="en-US" sz="2500"/>
              <a:t>）</a:t>
            </a:r>
            <a:r>
              <a:rPr lang="en-US" altLang="zh-CN" sz="2500"/>
              <a:t>It possesses a definite structure and pattern of behavior.</a:t>
            </a:r>
            <a:endParaRPr lang="en-US" altLang="zh-CN" sz="2500"/>
          </a:p>
          <a:p>
            <a:r>
              <a:rPr lang="en-US" altLang="zh-CN" sz="2500"/>
              <a:t>5</a:t>
            </a:r>
            <a:r>
              <a:rPr lang="zh-CN" altLang="en-US" sz="2500"/>
              <a:t>）</a:t>
            </a:r>
            <a:r>
              <a:rPr lang="en-US" altLang="zh-CN" sz="2500"/>
              <a:t>It develops an internal spiritual consciousness that is deliberately cultivated rather than spontaneous, eventually crystallizing into a systematic organizational culture.</a:t>
            </a:r>
            <a:endParaRPr lang="en-US" altLang="zh-CN" sz="2500"/>
          </a:p>
          <a:p>
            <a:r>
              <a:rPr lang="en-US" altLang="zh-CN" sz="2500"/>
              <a:t>6</a:t>
            </a:r>
            <a:r>
              <a:rPr lang="zh-CN" altLang="en-US" sz="2500"/>
              <a:t>）</a:t>
            </a:r>
            <a:r>
              <a:rPr lang="en-US" altLang="zh-CN" sz="2500"/>
              <a:t>It is an open system that evolves organically with its environment.</a:t>
            </a:r>
            <a:endParaRPr lang="en-US" altLang="zh-CN" sz="2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Pu</a:t>
            </a:r>
            <a:r>
              <a:rPr lang="en-US" altLang="zh-CN"/>
              <a:t>blic/social organization</a:t>
            </a:r>
            <a:endParaRPr lang="en-US" altLang="zh-CN"/>
          </a:p>
        </p:txBody>
      </p:sp>
      <p:sp>
        <p:nvSpPr>
          <p:cNvPr id="3" name="内容占位符 2"/>
          <p:cNvSpPr>
            <a:spLocks noGrp="1"/>
          </p:cNvSpPr>
          <p:nvPr>
            <p:ph idx="1"/>
          </p:nvPr>
        </p:nvSpPr>
        <p:spPr/>
        <p:txBody>
          <a:bodyPr/>
          <a:p>
            <a:r>
              <a:rPr lang="en-US" altLang="zh-CN" sz="2800"/>
              <a:t>Society contains many types of organizations. Some seek economic gain and aim to maximize profit and self-interest; these are private organizations, exemplified by business enterprises. </a:t>
            </a:r>
            <a:endParaRPr lang="en-US" altLang="zh-CN" sz="2800"/>
          </a:p>
          <a:p>
            <a:r>
              <a:rPr lang="en-US" altLang="zh-CN" sz="2800"/>
              <a:t>Public organizations stand in contrast: their purpose is to safeguard the public interest, deliver public services, and protect citizens’ rights.</a:t>
            </a:r>
            <a:endParaRPr lang="en-US" altLang="zh-CN"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Public organization</a:t>
            </a:r>
            <a:endParaRPr lang="en-US" altLang="zh-CN"/>
          </a:p>
        </p:txBody>
      </p:sp>
      <p:sp>
        <p:nvSpPr>
          <p:cNvPr id="3" name="内容占位符 2"/>
          <p:cNvSpPr>
            <a:spLocks noGrp="1"/>
          </p:cNvSpPr>
          <p:nvPr>
            <p:ph idx="1"/>
          </p:nvPr>
        </p:nvSpPr>
        <p:spPr>
          <a:xfrm>
            <a:off x="457200" y="1752600"/>
            <a:ext cx="8229600" cy="4531995"/>
          </a:xfrm>
        </p:spPr>
        <p:txBody>
          <a:bodyPr>
            <a:normAutofit lnSpcReduction="10000"/>
          </a:bodyPr>
          <a:p>
            <a:r>
              <a:rPr lang="en-US" altLang="zh-CN" sz="2800"/>
              <a:t>In the broad sense, a public organization is any entity whose purpose is to manage public affairs and provide public services. This includes not only government and its executive agencies but also legislatures, courts, schools, hospitals, the military, political parties, and other associations that pursue the public good. </a:t>
            </a:r>
            <a:endParaRPr lang="en-US" altLang="zh-CN" sz="2800"/>
          </a:p>
          <a:p>
            <a:r>
              <a:rPr lang="en-US" altLang="zh-CN" sz="2800"/>
              <a:t>In the narrow sense, it refers solely to government and its executive branches, along with socially authorized administrative bodies.</a:t>
            </a:r>
            <a:endParaRPr lang="en-US" altLang="zh-CN" sz="2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four key points</a:t>
            </a:r>
            <a:endParaRPr lang="en-US" altLang="zh-CN"/>
          </a:p>
        </p:txBody>
      </p:sp>
      <p:sp>
        <p:nvSpPr>
          <p:cNvPr id="3" name="内容占位符 2"/>
          <p:cNvSpPr>
            <a:spLocks noGrp="1"/>
          </p:cNvSpPr>
          <p:nvPr>
            <p:ph idx="1"/>
          </p:nvPr>
        </p:nvSpPr>
        <p:spPr>
          <a:xfrm>
            <a:off x="199390" y="1567180"/>
            <a:ext cx="8625205" cy="5165725"/>
          </a:xfrm>
        </p:spPr>
        <p:txBody>
          <a:bodyPr>
            <a:noAutofit/>
          </a:bodyPr>
          <a:p>
            <a:r>
              <a:rPr lang="en-US" altLang="zh-CN" sz="2800"/>
              <a:t>Understanding public organizations involves four key points:  </a:t>
            </a:r>
            <a:endParaRPr lang="en-US" altLang="zh-CN" sz="2800"/>
          </a:p>
          <a:p>
            <a:r>
              <a:rPr lang="en-US" altLang="zh-CN" sz="2800"/>
              <a:t>First, their fundamental duty is to protect and advance the public interest by administering state and societal affairs.  </a:t>
            </a:r>
            <a:endParaRPr lang="en-US" altLang="zh-CN" sz="2800"/>
          </a:p>
          <a:p>
            <a:r>
              <a:rPr lang="en-US" altLang="zh-CN" sz="2800"/>
              <a:t>Second, they do not seek profit while organizing, producing, or supplying public goods and services.  </a:t>
            </a:r>
            <a:endParaRPr lang="en-US" altLang="zh-CN" sz="2800"/>
          </a:p>
          <a:p>
            <a:r>
              <a:rPr lang="en-US" altLang="zh-CN" sz="2800"/>
              <a:t>Third, they manage public affairs by exercising public power.  </a:t>
            </a:r>
            <a:endParaRPr lang="en-US" altLang="zh-CN" sz="2800"/>
          </a:p>
          <a:p>
            <a:r>
              <a:rPr lang="en-US" altLang="zh-CN" sz="2800"/>
              <a:t>Fourth, they operate within specific territorial jurisdictions.</a:t>
            </a:r>
            <a:endParaRPr lang="en-US" altLang="zh-CN"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 social policy</a:t>
            </a:r>
            <a:endParaRPr lang="en-US" altLang="zh-CN"/>
          </a:p>
        </p:txBody>
      </p:sp>
      <p:sp>
        <p:nvSpPr>
          <p:cNvPr id="3" name="内容占位符 2"/>
          <p:cNvSpPr>
            <a:spLocks noGrp="1"/>
          </p:cNvSpPr>
          <p:nvPr>
            <p:ph idx="1"/>
          </p:nvPr>
        </p:nvSpPr>
        <p:spPr>
          <a:xfrm>
            <a:off x="457200" y="1945640"/>
            <a:ext cx="8229600" cy="4180840"/>
          </a:xfrm>
        </p:spPr>
        <p:txBody>
          <a:bodyPr/>
          <a:p>
            <a:r>
              <a:rPr lang="en-US" altLang="zh-CN" sz="2800"/>
              <a:t>Social Policy is concerned with the ways societies across the world meet human needs for security, education, work, health and well-being. </a:t>
            </a:r>
            <a:endParaRPr lang="en-US" altLang="zh-CN" sz="2800"/>
          </a:p>
          <a:p>
            <a:r>
              <a:rPr lang="en-US" altLang="zh-CN" sz="2800"/>
              <a:t>Social policy addresses how states and societies respond to global challenges of social, demographic and economic change, and of poverty, migration and globalisation. </a:t>
            </a:r>
            <a:endParaRPr lang="en-US" altLang="zh-CN"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457200" y="1639570"/>
            <a:ext cx="8229600" cy="4925060"/>
          </a:xfrm>
        </p:spPr>
        <p:txBody>
          <a:bodyPr>
            <a:normAutofit fontScale="90000" lnSpcReduction="20000"/>
          </a:bodyPr>
          <a:p>
            <a:r>
              <a:rPr lang="en-US" altLang="zh-CN" sz="2800"/>
              <a:t>Social Policy analyses the different roles of: national governments, the family, civil society, the market, and international organisations in providing services and support across the life course from childhood to old age. </a:t>
            </a:r>
            <a:endParaRPr lang="en-US" altLang="zh-CN" sz="2800"/>
          </a:p>
          <a:p>
            <a:r>
              <a:rPr lang="en-US" altLang="zh-CN" sz="2800"/>
              <a:t>These services and support include child and family support, schooling and education, housing and neighbourhood renewal, income maintenance and poverty reduction, unemployment support and training, pensions, health and social care. </a:t>
            </a:r>
            <a:endParaRPr lang="en-US" altLang="zh-CN" sz="2800"/>
          </a:p>
          <a:p>
            <a:r>
              <a:rPr lang="en-US" altLang="zh-CN" sz="2800">
                <a:sym typeface="+mn-ea"/>
              </a:rPr>
              <a:t>Social policy aims to identify and find ways of reducing inequalities in access to services and support between social groups defined by socio-economic status, race, ethnicity, migration status, gender, sexual orientation, disability and age, and between countries.</a:t>
            </a:r>
            <a:endParaRPr lang="en-US" altLang="zh-CN" sz="2800"/>
          </a:p>
          <a:p>
            <a:endParaRPr lang="en-US" altLang="zh-CN"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3 Global social policy</a:t>
            </a:r>
            <a:endParaRPr lang="en-US" altLang="zh-CN"/>
          </a:p>
        </p:txBody>
      </p:sp>
      <p:sp>
        <p:nvSpPr>
          <p:cNvPr id="3" name="内容占位符 2"/>
          <p:cNvSpPr>
            <a:spLocks noGrp="1"/>
          </p:cNvSpPr>
          <p:nvPr>
            <p:ph idx="1"/>
          </p:nvPr>
        </p:nvSpPr>
        <p:spPr/>
        <p:txBody>
          <a:bodyPr>
            <a:normAutofit lnSpcReduction="10000"/>
          </a:bodyPr>
          <a:p>
            <a:r>
              <a:rPr lang="en-US" altLang="zh-CN" sz="2800"/>
              <a:t>Global social policy refers to the frameworks, principles, and practices aimed at addressing social issues that transcend national borders. It encompasses a broad range of areas, including poverty reduction, health care, education, labor rights, and social protection. </a:t>
            </a:r>
            <a:endParaRPr lang="en-US" altLang="zh-CN" sz="2800"/>
          </a:p>
          <a:p>
            <a:r>
              <a:rPr lang="en-US" altLang="zh-CN" sz="2800"/>
              <a:t>The scope of global social policy is not limited to government actions but also includes the roles of non-governmental organizations (NGOs), international organizations, and civil society.</a:t>
            </a:r>
            <a:endParaRPr lang="en-US" altLang="zh-CN" sz="2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en-US" altLang="zh-CN"/>
              <a:t>The definition of global social policy can be understood through its core components:</a:t>
            </a:r>
            <a:endParaRPr lang="en-US" altLang="zh-CN"/>
          </a:p>
          <a:p>
            <a:endParaRPr lang="en-US" altLang="zh-CN"/>
          </a:p>
          <a:p>
            <a:r>
              <a:rPr lang="en-US" altLang="zh-CN"/>
              <a:t>Universalism: Principles that advocate for universal access to basic services and rights.</a:t>
            </a:r>
            <a:endParaRPr lang="en-US" altLang="zh-CN"/>
          </a:p>
          <a:p>
            <a:r>
              <a:rPr lang="en-US" altLang="zh-CN"/>
              <a:t>Solidarity: The notion that nations and peoples should support one another in achieving social goals.</a:t>
            </a:r>
            <a:endParaRPr lang="en-US" altLang="zh-CN"/>
          </a:p>
          <a:p>
            <a:r>
              <a:rPr lang="en-US" altLang="zh-CN"/>
              <a:t>Equity: The pursuit of fairness in the distribution of resources and opportunities.</a:t>
            </a:r>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Key actors</a:t>
            </a:r>
            <a:endParaRPr lang="en-US" altLang="zh-CN"/>
          </a:p>
        </p:txBody>
      </p:sp>
      <p:sp>
        <p:nvSpPr>
          <p:cNvPr id="3" name="内容占位符 2"/>
          <p:cNvSpPr>
            <a:spLocks noGrp="1"/>
          </p:cNvSpPr>
          <p:nvPr>
            <p:ph idx="1"/>
          </p:nvPr>
        </p:nvSpPr>
        <p:spPr>
          <a:xfrm>
            <a:off x="457200" y="1752600"/>
            <a:ext cx="8229600" cy="4731385"/>
          </a:xfrm>
        </p:spPr>
        <p:txBody>
          <a:bodyPr>
            <a:normAutofit lnSpcReduction="10000"/>
          </a:bodyPr>
          <a:p>
            <a:r>
              <a:rPr lang="en-US" altLang="zh-CN"/>
              <a:t>Key Actors and Stakeholders in Global Social Policy:</a:t>
            </a:r>
            <a:endParaRPr lang="en-US" altLang="zh-CN"/>
          </a:p>
          <a:p>
            <a:r>
              <a:rPr lang="en-US" altLang="en-US"/>
              <a:t></a:t>
            </a:r>
            <a:r>
              <a:rPr lang="en-US" altLang="zh-CN"/>
              <a:t>International Organizations: Entities like the UN, World Bank, and International Labour Organization (ILO) set standards and provide technical assistance.</a:t>
            </a:r>
            <a:endParaRPr lang="en-US" altLang="zh-CN"/>
          </a:p>
          <a:p>
            <a:r>
              <a:rPr lang="en-US" altLang="en-US"/>
              <a:t></a:t>
            </a:r>
            <a:r>
              <a:rPr lang="en-US" altLang="zh-CN"/>
              <a:t>National Governments: Governments are primary actors in implementing global social policies within their jurisdictions.</a:t>
            </a:r>
            <a:endParaRPr lang="en-US" altLang="zh-CN"/>
          </a:p>
          <a:p>
            <a:r>
              <a:rPr lang="en-US" altLang="en-US"/>
              <a:t></a:t>
            </a:r>
            <a:r>
              <a:rPr lang="en-US" altLang="zh-CN"/>
              <a:t>Non-Governmental Organizations (NGOs): NGOs often serve as watchdogs, advocates, and service providers in the realm of global social policy.</a:t>
            </a:r>
            <a:endParaRPr lang="en-US" altLang="zh-CN"/>
          </a:p>
          <a:p>
            <a:r>
              <a:rPr lang="en-US" altLang="en-US"/>
              <a:t></a:t>
            </a:r>
            <a:r>
              <a:rPr lang="en-US" altLang="zh-CN"/>
              <a:t>Civil Society: Grassroots movements and community organizations are vital in influencing policy agendas and ensuring that policies are responsive to local needs.</a:t>
            </a:r>
            <a:endParaRPr lang="en-US" altLang="zh-CN"/>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药剂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Apothecary</Template>
  <TotalTime>0</TotalTime>
  <Words>5603</Words>
  <Application>WPS 演示</Application>
  <PresentationFormat>全屏显示(4:3)</PresentationFormat>
  <Paragraphs>93</Paragraphs>
  <Slides>15</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宋体</vt:lpstr>
      <vt:lpstr>Wingdings</vt:lpstr>
      <vt:lpstr>Times New Roman</vt:lpstr>
      <vt:lpstr>微软雅黑</vt:lpstr>
      <vt:lpstr>Arial Unicode MS</vt:lpstr>
      <vt:lpstr>黑体</vt:lpstr>
      <vt:lpstr>Calibri</vt:lpstr>
      <vt:lpstr>药剂师</vt:lpstr>
      <vt:lpstr>International Organization  and Global social Policy</vt:lpstr>
      <vt:lpstr>Textbook and References</vt:lpstr>
      <vt:lpstr>PowerPoint 演示文稿</vt:lpstr>
      <vt:lpstr>Syllabus</vt:lpstr>
      <vt:lpstr>Lead-in</vt:lpstr>
      <vt:lpstr>1 Organization</vt:lpstr>
      <vt:lpstr>Basic properties</vt:lpstr>
      <vt:lpstr>Public/social organization</vt:lpstr>
      <vt:lpstr>Public organization</vt:lpstr>
      <vt:lpstr>four key points</vt:lpstr>
      <vt:lpstr>2 social policy</vt:lpstr>
      <vt:lpstr>PowerPoint 演示文稿</vt:lpstr>
      <vt:lpstr>3 Global social policy</vt:lpstr>
      <vt:lpstr>PowerPoint 演示文稿</vt:lpstr>
      <vt:lpstr>Key actors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大唐1415436413</cp:lastModifiedBy>
  <cp:revision>118</cp:revision>
  <dcterms:created xsi:type="dcterms:W3CDTF">2017-06-01T06:09:00Z</dcterms:created>
  <dcterms:modified xsi:type="dcterms:W3CDTF">2026-03-07T07:56:04Z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EB3A08DECFED4678A8F563730F832465_13</vt:lpwstr>
  </property>
  <property fmtid="{D5CDD505-2E9C-101B-9397-08002B2CF9AE}" pid="3" name="KSOProductBuildVer">
    <vt:lpwstr>2052-12.1.0.25225</vt:lpwstr>
  </property>
</Properties>
</file>