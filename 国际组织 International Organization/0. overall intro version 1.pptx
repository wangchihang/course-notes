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8" r:id="rId8"/>
    <p:sldId id="270" r:id="rId9"/>
    <p:sldId id="271" r:id="rId10"/>
    <p:sldId id="269" r:id="rId11"/>
    <p:sldId id="263" r:id="rId12"/>
    <p:sldId id="265" r:id="rId13"/>
    <p:sldId id="266" r:id="rId14"/>
    <p:sldId id="273" r:id="rId15"/>
    <p:sldId id="274" r:id="rId16"/>
    <p:sldId id="276" r:id="rId17"/>
    <p:sldId id="277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74" autoAdjust="0"/>
  </p:normalViewPr>
  <p:slideViewPr>
    <p:cSldViewPr showGuides="1">
      <p:cViewPr varScale="1">
        <p:scale>
          <a:sx n="66" d="100"/>
          <a:sy n="66" d="100"/>
        </p:scale>
        <p:origin x="-150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3169898901526"/>
          <c:y val="0.104784131382125"/>
          <c:w val="0.612259891124721"/>
          <c:h val="0.787402399370947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国际组织数量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1909年</c:v>
                </c:pt>
                <c:pt idx="1">
                  <c:v>1956年</c:v>
                </c:pt>
                <c:pt idx="2">
                  <c:v>1990年</c:v>
                </c:pt>
                <c:pt idx="3">
                  <c:v>1998年</c:v>
                </c:pt>
                <c:pt idx="4">
                  <c:v>2018年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213</c:v>
                </c:pt>
                <c:pt idx="1">
                  <c:v>1117</c:v>
                </c:pt>
                <c:pt idx="2">
                  <c:v>26656</c:v>
                </c:pt>
                <c:pt idx="3">
                  <c:v>48350</c:v>
                </c:pt>
                <c:pt idx="4">
                  <c:v>67139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5732224"/>
        <c:axId val="45734144"/>
      </c:barChart>
      <c:catAx>
        <c:axId val="4573222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5734144"/>
        <c:crosses val="autoZero"/>
        <c:auto val="1"/>
        <c:lblAlgn val="ctr"/>
        <c:lblOffset val="100"/>
        <c:noMultiLvlLbl val="0"/>
      </c:catAx>
      <c:valAx>
        <c:axId val="4573414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573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90213740643531"/>
          <c:y val="0.51647821238656"/>
          <c:w val="0.204261567998445"/>
          <c:h val="0.074731288882771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07b1547-f8f9-49b7-a949-85dca234addd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anose="020B0604020202020204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GIF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Introduction 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I. The Role of International Organizations in World Affairs  </a:t>
            </a:r>
            <a:b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II. What This Course Will Cover  </a:t>
            </a:r>
            <a:b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III. Why and How to Study This Course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dirty="0">
                <a:latin typeface="Times New Roman" panose="02020603050405020304" charset="0"/>
                <a:cs typeface="Times New Roman" panose="02020603050405020304" charset="0"/>
              </a:rPr>
              <a:t>I. The Role of International Organizations in International Affairs </a:t>
            </a:r>
            <a:endParaRPr lang="en-US" altLang="zh-CN"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373563"/>
          </a:xfrm>
        </p:spPr>
        <p:txBody>
          <a:bodyPr/>
          <a:lstStyle/>
          <a:p>
            <a:pPr marL="455930" indent="-455930">
              <a:buFont typeface="Wingdings" panose="05000000000000000000" pitchFamily="2" charset="2"/>
              <a:buChar char="Ø"/>
            </a:pPr>
            <a:r>
              <a:rPr lang="en-US" altLang="zh-CN" dirty="0"/>
              <a:t>International organizations are non-profit entities established by two or more states or other actors through a formal agreement to pursue shared objectives; their primary purpose is to achieve common goals through cooperation among members.</a:t>
            </a:r>
            <a:endParaRPr lang="en-US" altLang="zh-CN" dirty="0"/>
          </a:p>
        </p:txBody>
      </p:sp>
      <p:grpSp>
        <p:nvGrpSpPr>
          <p:cNvPr id="11" name="组合 10"/>
          <p:cNvGrpSpPr/>
          <p:nvPr/>
        </p:nvGrpSpPr>
        <p:grpSpPr>
          <a:xfrm>
            <a:off x="565391" y="3552383"/>
            <a:ext cx="7776089" cy="3116977"/>
            <a:chOff x="565391" y="3552383"/>
            <a:chExt cx="7776089" cy="311697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0" t="6726" r="10236" b="5938"/>
            <a:stretch>
              <a:fillRect/>
            </a:stretch>
          </p:blipFill>
          <p:spPr>
            <a:xfrm>
              <a:off x="3284538" y="3552383"/>
              <a:ext cx="2232248" cy="1532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391" y="3577936"/>
              <a:ext cx="1990385" cy="150724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5256" y="3559256"/>
              <a:ext cx="2016224" cy="13375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" name="Picture 2" descr="http://a.hiphotos.baidu.com/baike/c0%3Dbaike60%2C5%2C5%2C60%2C20/sign=2aaaa31f918fa0ec6bca6c5f47fe328b/8cb1cb1349540923952e02529258d109b2de9c82d158516a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5157192"/>
              <a:ext cx="1448842" cy="149904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4131" y="5260206"/>
              <a:ext cx="1244567" cy="12487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0152" y="5143500"/>
              <a:ext cx="1525860" cy="15258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(I) The Evolution of International Organizations 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zh-CN" sz="2000" dirty="0" smtClean="0"/>
              <a:t>- International organizations are the product of international relations reaching a certain stage of development.  </a:t>
            </a:r>
            <a:endParaRPr lang="en-US" altLang="zh-CN" sz="2000" dirty="0" smtClean="0"/>
          </a:p>
          <a:p>
            <a:pPr marL="114300" indent="0">
              <a:buNone/>
            </a:pPr>
            <a:r>
              <a:rPr lang="en-US" altLang="zh-CN" sz="2000" dirty="0" smtClean="0"/>
              <a:t>- Early 19th century: The growth of capitalism gave rise to the earliest forms of international organizations.  </a:t>
            </a:r>
            <a:endParaRPr lang="en-US" altLang="zh-CN" sz="2000" dirty="0" smtClean="0"/>
          </a:p>
          <a:p>
            <a:pPr marL="114300" indent="0">
              <a:buNone/>
            </a:pPr>
            <a:r>
              <a:rPr lang="en-US" altLang="zh-CN" sz="2000" dirty="0" smtClean="0"/>
              <a:t>- Mid-19th century: The Communist League and the First International emerged as joint bodies of the international proletariat.  </a:t>
            </a:r>
            <a:endParaRPr lang="en-US" altLang="zh-CN" sz="2000" dirty="0" smtClean="0"/>
          </a:p>
          <a:p>
            <a:pPr marL="114300" indent="0">
              <a:buNone/>
            </a:pPr>
            <a:r>
              <a:rPr lang="en-US" altLang="zh-CN" sz="2000" dirty="0" smtClean="0"/>
              <a:t>- After the 20th century: Expansion proceeded from specialized and technical bodies toward general and political organizations.  </a:t>
            </a:r>
            <a:endParaRPr lang="en-US" altLang="zh-CN" sz="2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83260" y="4580890"/>
            <a:ext cx="7887335" cy="22390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- Post-WWI: The first global international organization—the League of Nations—was created.  </a:t>
            </a:r>
            <a:endParaRPr lang="en-US" altLang="zh-CN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- On the eve of WWII: The number of international organizations had grown to over 500.  </a:t>
            </a:r>
            <a:endParaRPr lang="en-US" altLang="zh-CN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- End of WWII: The second global international organization—the United Nations—was established.</a:t>
            </a:r>
            <a:endParaRPr lang="zh-CN" altLang="en-US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(I) The Evolution of International Organizations  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395536" y="1484784"/>
          <a:ext cx="8229600" cy="437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730405" y="2060848"/>
            <a:ext cx="4713803" cy="3320752"/>
            <a:chOff x="1772072" y="2348880"/>
            <a:chExt cx="4713803" cy="3320752"/>
          </a:xfrm>
        </p:grpSpPr>
        <p:sp>
          <p:nvSpPr>
            <p:cNvPr id="6" name="TextBox 5"/>
            <p:cNvSpPr txBox="1"/>
            <p:nvPr/>
          </p:nvSpPr>
          <p:spPr>
            <a:xfrm>
              <a:off x="2699792" y="5115634"/>
              <a:ext cx="6291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1117</a:t>
              </a:r>
              <a:endParaRPr lang="zh-CN" altLang="en-US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72072" y="530030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213</a:t>
              </a:r>
              <a:endParaRPr lang="zh-CN" altLang="en-US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16016" y="3059668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48350</a:t>
              </a:r>
              <a:endParaRPr lang="zh-CN" alt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35896" y="4149080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26656</a:t>
              </a:r>
              <a:endParaRPr lang="zh-CN" alt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24128" y="2348880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75750</a:t>
              </a:r>
              <a:endParaRPr lang="zh-CN" altLang="en-US" b="1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475656" y="3861048"/>
            <a:ext cx="1925935" cy="1211078"/>
            <a:chOff x="1475656" y="3861048"/>
            <a:chExt cx="1925935" cy="1211078"/>
          </a:xfrm>
        </p:grpSpPr>
        <p:cxnSp>
          <p:nvCxnSpPr>
            <p:cNvPr id="21" name="直接箭头连接符 20"/>
            <p:cNvCxnSpPr/>
            <p:nvPr/>
          </p:nvCxnSpPr>
          <p:spPr>
            <a:xfrm flipV="1">
              <a:off x="2028332" y="4167380"/>
              <a:ext cx="1373259" cy="9047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475656" y="3861048"/>
              <a:ext cx="14542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81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年间</a:t>
              </a:r>
              <a:endParaRPr lang="en-US" altLang="zh-CN" dirty="0" smtClean="0">
                <a:solidFill>
                  <a:srgbClr val="FF0000"/>
                </a:solidFill>
              </a:endParaRPr>
            </a:p>
            <a:p>
              <a:r>
                <a:rPr lang="zh-CN" altLang="en-US" dirty="0" smtClean="0">
                  <a:solidFill>
                    <a:srgbClr val="FF0000"/>
                  </a:solidFill>
                </a:rPr>
                <a:t>增加了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124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倍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699792" y="2789312"/>
            <a:ext cx="1933799" cy="946234"/>
            <a:chOff x="2771800" y="2636912"/>
            <a:chExt cx="1933799" cy="946234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4006352" y="2678400"/>
              <a:ext cx="699247" cy="9047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771800" y="2636912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1998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年比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1990</a:t>
              </a:r>
              <a:r>
                <a:rPr lang="zh-CN" altLang="en-US" dirty="0" smtClean="0">
                  <a:solidFill>
                    <a:srgbClr val="FF0000"/>
                  </a:solidFill>
                </a:rPr>
                <a:t>年</a:t>
              </a:r>
              <a:endParaRPr lang="en-US" altLang="zh-CN" dirty="0" smtClean="0">
                <a:solidFill>
                  <a:srgbClr val="FF0000"/>
                </a:solidFill>
              </a:endParaRPr>
            </a:p>
            <a:p>
              <a:r>
                <a:rPr lang="zh-CN" altLang="en-US" dirty="0" smtClean="0">
                  <a:solidFill>
                    <a:srgbClr val="FF0000"/>
                  </a:solidFill>
                </a:rPr>
                <a:t>增长了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81%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07904" y="5445224"/>
            <a:ext cx="4442242" cy="1152128"/>
            <a:chOff x="3707904" y="5445224"/>
            <a:chExt cx="4442242" cy="1152128"/>
          </a:xfrm>
        </p:grpSpPr>
        <p:cxnSp>
          <p:nvCxnSpPr>
            <p:cNvPr id="31" name="肘形连接符 30"/>
            <p:cNvCxnSpPr/>
            <p:nvPr/>
          </p:nvCxnSpPr>
          <p:spPr>
            <a:xfrm rot="5400000">
              <a:off x="5821107" y="5470195"/>
              <a:ext cx="720080" cy="670138"/>
            </a:xfrm>
            <a:prstGeom prst="bentConnector3">
              <a:avLst>
                <a:gd name="adj1" fmla="val 63228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3707904" y="6258798"/>
              <a:ext cx="4442242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1600" dirty="0" smtClean="0"/>
                <a:t>遍布</a:t>
              </a:r>
              <a:r>
                <a:rPr lang="en-US" altLang="zh-CN" sz="1600" dirty="0" smtClean="0"/>
                <a:t>200</a:t>
              </a:r>
              <a:r>
                <a:rPr lang="zh-CN" altLang="en-US" sz="1600" dirty="0" smtClean="0"/>
                <a:t>多个国家；每年仍以</a:t>
              </a:r>
              <a:r>
                <a:rPr lang="en-US" altLang="zh-CN" sz="1600" dirty="0"/>
                <a:t>1 200</a:t>
              </a:r>
              <a:r>
                <a:rPr lang="zh-CN" altLang="en-US" sz="1600" dirty="0"/>
                <a:t>个的速度增加</a:t>
              </a:r>
              <a:endParaRPr lang="en-US" altLang="zh-CN" sz="1600" dirty="0" smtClean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948264" y="4305870"/>
            <a:ext cx="1746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*数据来源于</a:t>
            </a:r>
            <a:r>
              <a:rPr lang="zh-CN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国际组织联合会官方网站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latin typeface="Times New Roman" panose="02020603050405020304" charset="0"/>
                <a:cs typeface="Times New Roman" panose="02020603050405020304" charset="0"/>
              </a:rPr>
              <a:t>(II) The Role of International Organizations</a:t>
            </a:r>
            <a:r>
              <a:rPr lang="en-US" altLang="zh-CN" sz="3555" dirty="0"/>
              <a:t> </a:t>
            </a:r>
            <a:endParaRPr lang="en-US" altLang="zh-CN" sz="3555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52600"/>
            <a:ext cx="8435280" cy="4373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zh-CN" sz="2000" b="1" dirty="0" smtClean="0"/>
              <a:t>International organizations influence the functioning of international relations and perform functions that sovereign states cannot replace.</a:t>
            </a:r>
            <a:r>
              <a:rPr lang="en-US" altLang="zh-CN" b="1" dirty="0" smtClean="0"/>
              <a:t> </a:t>
            </a:r>
            <a:endParaRPr lang="en-US" altLang="zh-CN" b="1" dirty="0" smtClean="0"/>
          </a:p>
          <a:p>
            <a:pPr marL="114300" indent="0">
              <a:buNone/>
            </a:pPr>
            <a:r>
              <a:rPr lang="en-US" altLang="zh-CN" sz="2000" b="1" dirty="0" smtClean="0"/>
              <a:t>1. Guardians and promoters of international peace and security </a:t>
            </a:r>
            <a:r>
              <a:rPr lang="en-US" altLang="zh-CN" b="1" dirty="0" smtClean="0"/>
              <a:t> </a:t>
            </a:r>
            <a:endParaRPr lang="en-US" altLang="zh-CN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61646" y="3068960"/>
            <a:ext cx="7754942" cy="1476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楷体" panose="02010609060101010101" pitchFamily="49" charset="-122"/>
                <a:cs typeface="+mn-lt"/>
              </a:rPr>
              <a:t>They have played a major role in preserving international peace and advancing disarmament. In regional conflicts and international disputes, international organizations often intervene at the right moment as a “third party,” mediating through political and legal channels to</a:t>
            </a:r>
            <a:r>
              <a:rPr lang="en-US" altLang="zh-CN" dirty="0" smtClean="0">
                <a:ea typeface="楷体" panose="02010609060101010101" pitchFamily="49" charset="-122"/>
                <a:cs typeface="+mn-lt"/>
              </a:rPr>
              <a:t> ease or end armed conflict. </a:t>
            </a:r>
            <a:endParaRPr lang="en-US" altLang="zh-CN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9445" y="4667250"/>
            <a:ext cx="7755255" cy="8915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楷体" panose="02010609060101010101" pitchFamily="49" charset="-122"/>
                <a:cs typeface="+mn-lt"/>
              </a:rPr>
              <a:t>The special responsibilities borne by the United Nations and its Security Council, and their primacy in maintaining international peace and security, are irreplaceable by any other body.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1646" y="5755903"/>
            <a:ext cx="7754942" cy="9220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>
                <a:ea typeface="楷体" panose="02010609060101010101" pitchFamily="49" charset="-122"/>
                <a:cs typeface="+mn-lt"/>
              </a:rPr>
              <a:t>Regional international organizations also safeguard peace and stability by fostering cooperation among states in their areas, jointly addressing and defusing regional conflicts and disputes.</a:t>
            </a:r>
            <a:endParaRPr lang="en-US" altLang="zh-CN" dirty="0">
              <a:ea typeface="楷体" panose="02010609060101010101" pitchFamily="49" charset="-122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ym typeface="+mn-ea"/>
              </a:rPr>
              <a:t>(II) The Role of International Organizations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2252464"/>
          </a:xfrm>
        </p:spPr>
        <p:txBody>
          <a:bodyPr/>
          <a:lstStyle/>
          <a:p>
            <a:pPr marL="114300" indent="0">
              <a:buNone/>
            </a:pPr>
            <a:r>
              <a:rPr lang="en-US" altLang="zh-CN" sz="2200" dirty="0" smtClean="0"/>
              <a:t>2. Pioneers and drivers of global economic and social development  </a:t>
            </a:r>
            <a:r>
              <a:rPr lang="zh-CN" altLang="en-US" sz="2200" dirty="0" smtClean="0"/>
              <a:t>（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）</a:t>
            </a:r>
            <a:r>
              <a:rPr lang="en-US" altLang="zh-CN" sz="2200" dirty="0" smtClean="0"/>
              <a:t>Economic dimension  </a:t>
            </a:r>
            <a:endParaRPr lang="en-US" altLang="zh-CN" sz="2200" dirty="0" smtClean="0"/>
          </a:p>
          <a:p>
            <a:pPr marL="114300" indent="0">
              <a:buNone/>
            </a:pPr>
            <a:endParaRPr lang="en-US" altLang="zh-CN" sz="2200" dirty="0"/>
          </a:p>
          <a:p>
            <a:pPr marL="114300" indent="0">
              <a:buNone/>
            </a:pPr>
            <a:endParaRPr lang="en-US" altLang="zh-CN" sz="2200" dirty="0" smtClean="0"/>
          </a:p>
          <a:p>
            <a:pPr marL="114300" indent="0">
              <a:buNone/>
            </a:pPr>
            <a:endParaRPr lang="en-US" altLang="zh-CN" sz="2200" dirty="0"/>
          </a:p>
          <a:p>
            <a:pPr marL="114300" indent="0">
              <a:buNone/>
            </a:pPr>
            <a:endParaRPr lang="en-US" altLang="zh-CN" sz="22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27405" y="2637155"/>
            <a:ext cx="7755255" cy="1184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楷体" panose="02010609060101010101" pitchFamily="49" charset="-122"/>
                <a:cs typeface="+mn-lt"/>
              </a:rPr>
              <a:t>Centered on the IMF, the World Bank, and the WTO, the system of global economic organizations sets rules, upholds order, balances interests, and mediates disputes in the world economy.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9506" y="4509120"/>
            <a:ext cx="7754942" cy="19380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The UN Charter places the promotion of development on an equal footing with the maintenance of peace, giving development priority within the Organization’s system and activities. 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- This spans economic growth, poverty eradication, social protection, universal education, human rights protection, environmental improvement, disease prevention, and many other areas.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67544" y="3933056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anose="020B0604020202020204" pitchFamily="34" charset="0"/>
              <a:buNone/>
            </a:pPr>
            <a:r>
              <a:rPr lang="zh-CN" altLang="en-US" sz="2200" dirty="0" smtClean="0"/>
              <a:t>（</a:t>
            </a:r>
            <a:r>
              <a:rPr lang="en-US" altLang="zh-CN" sz="2200" dirty="0" smtClean="0"/>
              <a:t>2</a:t>
            </a:r>
            <a:r>
              <a:rPr lang="zh-CN" altLang="en-US" sz="2200" dirty="0" smtClean="0"/>
              <a:t>） </a:t>
            </a:r>
            <a:r>
              <a:rPr lang="en-US" altLang="zh-CN" sz="2200" dirty="0" smtClean="0"/>
              <a:t>Social dimension </a:t>
            </a:r>
            <a:endParaRPr lang="en-US" altLang="zh-CN" sz="2200" dirty="0" smtClean="0"/>
          </a:p>
          <a:p>
            <a:pPr marL="114300" indent="0">
              <a:buFont typeface="Arial" panose="020B0604020202020204" pitchFamily="34" charset="0"/>
              <a:buNone/>
            </a:pPr>
            <a:endParaRPr lang="en-US" altLang="zh-CN" sz="2200" dirty="0" smtClean="0"/>
          </a:p>
          <a:p>
            <a:pPr marL="114300" indent="0">
              <a:buFont typeface="Arial" panose="020B0604020202020204" pitchFamily="34" charset="0"/>
              <a:buNone/>
            </a:pPr>
            <a:endParaRPr lang="en-US" altLang="zh-CN" sz="2200" dirty="0" smtClean="0"/>
          </a:p>
          <a:p>
            <a:pPr marL="114300" indent="0">
              <a:buFont typeface="Arial" panose="020B0604020202020204" pitchFamily="34" charset="0"/>
              <a:buNone/>
            </a:pPr>
            <a:endParaRPr lang="en-US" altLang="zh-CN" sz="2200" dirty="0" smtClean="0"/>
          </a:p>
          <a:p>
            <a:pPr marL="114300" indent="0">
              <a:buFont typeface="Arial" panose="020B0604020202020204" pitchFamily="34" charset="0"/>
              <a:buNone/>
            </a:pPr>
            <a:endParaRPr lang="en-US" altLang="zh-CN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II</a:t>
            </a:r>
            <a:r>
              <a:rPr lang="zh-CN" altLang="en-US" dirty="0"/>
              <a:t>）</a:t>
            </a:r>
            <a:r>
              <a:rPr lang="en-US" altLang="zh-CN" dirty="0">
                <a:sym typeface="+mn-ea"/>
              </a:rPr>
              <a:t>The Role of International Organizations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zh-CN" b="1" dirty="0"/>
              <a:t>3. Drafters and overseers of international law </a:t>
            </a:r>
            <a:endParaRPr lang="en-US" altLang="zh-C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5485" y="2294890"/>
            <a:ext cx="7755255" cy="14947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International organizations exert enormous influence on the creation, enrichment, and development of international law; their own evolution is itself a form of legal progress and one of the principal engines driving it.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260" y="3644900"/>
            <a:ext cx="7755255" cy="12820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They function de facto as the architects of international legal principles, rules, and institutions, while also monitoring implementation to ensure that international law is observed and enforced. 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5485" y="5053330"/>
            <a:ext cx="7755255" cy="1389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楷体" panose="02010609060101010101" pitchFamily="49" charset="-122"/>
                <a:cs typeface="+mn-lt"/>
              </a:rPr>
              <a:t>To fulfill their mandates and advance their purposes, certain organizations—especially the United Nations—regularly convene international conferences to adopt treaties or establish specialized bodies for the systematic codification of international law.</a:t>
            </a:r>
            <a:endParaRPr lang="en-US" altLang="zh-CN" sz="2000" dirty="0">
              <a:ea typeface="楷体" panose="02010609060101010101" pitchFamily="49" charset="-122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II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Role of International Organizations 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19580"/>
            <a:ext cx="8435340" cy="44069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zh-CN" dirty="0"/>
              <a:t>4. A stage and arena for multilateral diplomacy, providing a platform for states to engage with one another. </a:t>
            </a:r>
            <a:endParaRPr lang="en-US" altLang="zh-CN" dirty="0"/>
          </a:p>
          <a:p>
            <a:pPr marL="114300" indent="0">
              <a:buNone/>
            </a:pPr>
            <a:endParaRPr lang="en-US" altLang="zh-CN" dirty="0" smtClean="0"/>
          </a:p>
          <a:p>
            <a:pPr marL="571500" indent="-457200">
              <a:buFont typeface="+mj-lt"/>
              <a:buAutoNum type="arabicPeriod"/>
            </a:pPr>
            <a:endParaRPr lang="en-US" altLang="zh-CN" dirty="0" smtClean="0"/>
          </a:p>
          <a:p>
            <a:pPr marL="571500" indent="-457200">
              <a:buFont typeface="+mj-lt"/>
              <a:buAutoNum type="arabicPeriod"/>
            </a:pPr>
            <a:endParaRPr lang="en-US" altLang="zh-CN" dirty="0"/>
          </a:p>
          <a:p>
            <a:pPr marL="571500" indent="-457200">
              <a:buFont typeface="+mj-lt"/>
              <a:buAutoNum type="arabicPeriod"/>
            </a:pPr>
            <a:endParaRPr lang="en-US" altLang="zh-CN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42620" y="5156835"/>
            <a:ext cx="8136890" cy="1315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000" i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“The United Nations is a vital source of new ideas and consensus-building. Many proposals that originated here and were once dismissed as too radical have ultimately been embraced by the international community and turned into workable policy options.”  </a:t>
            </a:r>
            <a:endParaRPr lang="en-US" altLang="zh-CN" sz="2000" i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r"/>
            <a:r>
              <a:rPr lang="en-US" altLang="zh-CN" sz="2000" i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—UN Secretary-General Boutros Boutros-Ghali</a:t>
            </a:r>
            <a:endParaRPr lang="en-US" altLang="zh-CN" sz="2000" i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568" y="2659559"/>
            <a:ext cx="7754942" cy="10147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A clear channel for holding meetings, exchanging views, stating positions, raising issues, narrowing differences, defusing conflicts, and deepening understanding.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260" y="3773170"/>
            <a:ext cx="7755255" cy="12992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Since the twenty-first century, multilateral diplomacy—centered on international organizations—has won favor with governments for its flexibility, ease of communication, spirit of cooperation, and high return on low cost.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ldLvl="0" animBg="1"/>
      <p:bldP spid="1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II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Role of International Organizations 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683760"/>
          </a:xfrm>
        </p:spPr>
        <p:txBody>
          <a:bodyPr/>
          <a:lstStyle/>
          <a:p>
            <a:pPr marL="114300" indent="0">
              <a:buNone/>
            </a:pPr>
            <a:r>
              <a:rPr lang="en-US" altLang="zh-CN" b="1" dirty="0"/>
              <a:t>5. De facto managers and coordinators of the international community</a:t>
            </a:r>
            <a:endParaRPr lang="en-US" altLang="zh-C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5485" y="2589530"/>
            <a:ext cx="7755255" cy="12687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The advance of economic globalization, deepening inter-state interdependence, and the emergence of global issues have created both the necessity and the opportunity for international organizations to act.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260" y="3997325"/>
            <a:ext cx="7755255" cy="1081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ea typeface="楷体" panose="02010609060101010101" pitchFamily="49" charset="-122"/>
                <a:cs typeface="+mn-lt"/>
              </a:rPr>
              <a:t>Thanks to their inherent characteristics, the rules and procedures they craft for addressing problems are readily accepted by all parties and help lower the cost of interstate negotiations. </a:t>
            </a:r>
            <a:endParaRPr lang="en-US" altLang="zh-CN" sz="2000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5485" y="5217795"/>
            <a:ext cx="7755255" cy="12484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楷体" panose="02010609060101010101" pitchFamily="49" charset="-122"/>
                <a:cs typeface="+mn-lt"/>
              </a:rPr>
              <a:t>International organizations can leverage their institutional networks to participate in, guide, manage, and coordinate the activities of various actors across different fields.</a:t>
            </a:r>
            <a:endParaRPr lang="en-US" altLang="zh-CN" sz="2000" dirty="0">
              <a:ea typeface="楷体" panose="02010609060101010101" pitchFamily="49" charset="-122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II. Course Content 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576" y="1700808"/>
            <a:ext cx="7754942" cy="12604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Chapters 1–4: Fundamentals of international organizations.  </a:t>
            </a:r>
            <a:endParaRPr lang="en-US" altLang="zh-CN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 These chapters survey the overall landscape—concept and characteristics, membership features, relevant theories, historical evolution, and institutional operation.</a:t>
            </a:r>
            <a:r>
              <a:rPr lang="en-US" altLang="zh-CN" sz="22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</a:t>
            </a:r>
            <a:endParaRPr lang="en-US" altLang="zh-CN" sz="2200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985" y="3114040"/>
            <a:ext cx="7755255" cy="9118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楷体" panose="02010609060101010101" pitchFamily="49" charset="-122"/>
                <a:cs typeface="+mn-lt"/>
              </a:rPr>
              <a:t>Chapters 5–8: Functions and roles of international organizations.  </a:t>
            </a:r>
            <a:endParaRPr lang="en-US" altLang="zh-CN" dirty="0" smtClean="0">
              <a:ea typeface="楷体" panose="02010609060101010101" pitchFamily="49" charset="-122"/>
              <a:cs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楷体" panose="02010609060101010101" pitchFamily="49" charset="-122"/>
                <a:cs typeface="+mn-lt"/>
              </a:rPr>
              <a:t>  They examine the principal contributions IOs make today in political &amp; security affairs, economic cooperation, law, and global governance. </a:t>
            </a:r>
            <a:endParaRPr lang="en-US" altLang="zh-CN" dirty="0" smtClean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650" y="4220845"/>
            <a:ext cx="7755255" cy="10782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Chapter 9: International Non-Governmental Organization </a:t>
            </a:r>
            <a:endParaRPr lang="en-US" altLang="zh-CN" sz="2000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 This chapter analyzes the concept, traits, types, evolution, and growing impact of </a:t>
            </a:r>
            <a:r>
              <a:rPr lang="en-US" altLang="zh-CN" sz="20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INGOs in international cooperation.  </a:t>
            </a:r>
            <a:endParaRPr lang="en-US" altLang="zh-CN" sz="2000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650" y="5552440"/>
            <a:ext cx="7755255" cy="10452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Chapter 10: China and international organizations.  </a:t>
            </a:r>
            <a:endParaRPr lang="en-US" altLang="zh-CN" sz="2200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 smtClean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 A systematic review of the historical development, current state, and future trends of China’s engagement with IOs.</a:t>
            </a:r>
            <a:endParaRPr lang="en-US" altLang="zh-CN" sz="2200" dirty="0" smtClean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III. Why Study This Course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1748407"/>
          </a:xfrm>
        </p:spPr>
        <p:txBody>
          <a:bodyPr>
            <a:normAutofit fontScale="90000"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n-US" altLang="zh-CN" dirty="0" smtClean="0">
                <a:latin typeface="Times New Roman" panose="02020603050405020304" charset="0"/>
                <a:ea typeface="+mj-ea"/>
                <a:cs typeface="Times New Roman" panose="02020603050405020304" charset="0"/>
              </a:rPr>
              <a:t>1. Understand the development history, characteristics, operational mechanisms of international organizations, as well as their status and role in international affairs.</a:t>
            </a:r>
            <a:endParaRPr lang="en-US" altLang="zh-CN" dirty="0" smtClean="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None/>
            </a:pPr>
            <a:r>
              <a:rPr lang="en-US" altLang="zh-CN" dirty="0" smtClean="0">
                <a:latin typeface="Times New Roman" panose="02020603050405020304" charset="0"/>
                <a:ea typeface="+mj-ea"/>
                <a:cs typeface="Times New Roman" panose="02020603050405020304" charset="0"/>
              </a:rPr>
              <a:t>2. Recognize the significance of international organizations to China:</a:t>
            </a:r>
            <a:endParaRPr lang="en-US" altLang="zh-CN" dirty="0" smtClean="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260" y="3513455"/>
            <a:ext cx="7755255" cy="33280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– They serve as the primary stage for China’s multilateral diplomacy, providing a channel for China to manage its relations with other countries and to engage in mutual exchanges and cooperation with nations around the world.</a:t>
            </a:r>
            <a:endParaRPr lang="en-US" altLang="zh-CN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– They are important venues for China to safeguard its national interests.</a:t>
            </a:r>
            <a:endParaRPr lang="en-US" altLang="zh-CN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– They are indispensable platforms for China to fulfill its role as a responsible major country and to contribute to world peace and the cause of development and progress.</a:t>
            </a:r>
            <a:endParaRPr lang="en-US" altLang="zh-CN" sz="22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IV. Research Methods 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185" y="1752600"/>
            <a:ext cx="8529320" cy="4811395"/>
          </a:xfrm>
        </p:spPr>
        <p:txBody>
          <a:bodyPr>
            <a:noAutofit/>
          </a:bodyPr>
          <a:lstStyle/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1. Guided by Marxism, the course employs the world-view and methodology of dialectical and historical materialism to study international organizations, expounding and uncovering the general laws of their emergence and evolution.  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 (1) Movement of society’s basic contradictions  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  By analyzing the interplay between productive forces and relations of production in the process of economic globalization, we reveal the patterns and trends behind contemporary IO development.  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 (2) Theory of historical resultant forces  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       History evolves from the clash, compromise, and synthesis of individual wills; likewise, international organizations take shape and grow through cooperation among their members.  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spcAft>
                <a:spcPts val="600"/>
              </a:spcAft>
              <a:buFont typeface="+mj-lt"/>
              <a:buNone/>
            </a:pPr>
            <a:r>
              <a:rPr lang="en-US" altLang="zh-CN" sz="1800" dirty="0">
                <a:latin typeface="Times New Roman" panose="02020603050405020304" charset="0"/>
                <a:cs typeface="Times New Roman" panose="02020603050405020304" charset="0"/>
              </a:rPr>
              <a:t> (3) Integration with the theory and practice of major-country diplomacy with Chinese characteristics, especially China’s evolving understanding of international organizations.</a:t>
            </a:r>
            <a:endParaRPr lang="en-US" altLang="zh-CN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IV. Research Methods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0471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zh-CN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2. Systems-analysis approach  </a:t>
            </a: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Treat each international organization as a system and focus on its internal operating mechanisms, thereby uncovering the organization’s distinctive functions and the laws governing its evolution, so as to provide a scientific basis for political decision-making and implementation.  </a:t>
            </a: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Main techniques include element analysis, structural analysis, and environmental analysis.</a:t>
            </a: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Font typeface="+mj-lt"/>
              <a:buNone/>
            </a:pP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IV. Research 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114300" indent="0">
              <a:buNone/>
            </a:pPr>
            <a:r>
              <a:rPr lang="en-US" altLang="zh-CN" sz="3110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3. Comparative method  </a:t>
            </a:r>
            <a:endParaRPr lang="en-US" altLang="zh-CN" sz="3110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14300" indent="0">
              <a:buNone/>
            </a:pPr>
            <a:r>
              <a:rPr lang="en-US" altLang="zh-CN" sz="2665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 Identify similarities and differences among different international organizations or among distinct components within the same organization.  </a:t>
            </a:r>
            <a:endParaRPr lang="en-US" altLang="zh-CN" sz="2665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sz="2665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 Combine macro- and micro-level perspectives, weave together longitudinal and cross-sectional dimensions, and give equal weight to dynamic and static viewpoints in order to study both the IOs and the international society in which they operate.  </a:t>
            </a:r>
            <a:endParaRPr lang="en-US" altLang="zh-CN" sz="2665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sz="2665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 Reveal the general patterns, particularities, and limitations of their development and change, thereby grasping their essence, characteristics, and evolution and enabling sound evaluation.</a:t>
            </a:r>
            <a:endParaRPr lang="en-US" altLang="zh-CN" sz="2665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571500" indent="-457200">
              <a:buFont typeface="+mj-lt"/>
              <a:buAutoNum type="arabicPeriod"/>
            </a:pPr>
            <a:endParaRPr lang="zh-CN" altLang="en-US" sz="266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IV. Research Methods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zh-CN" sz="2800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4. Interdisciplinary approach  </a:t>
            </a:r>
            <a:endParaRPr lang="en-US" altLang="zh-CN" sz="2800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 The study of international organizations is simultaneously a field within international law, a sub-discipline of world history, and a vital component of international political science.  </a:t>
            </a: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zh-CN" dirty="0" smtClean="0"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- It imports theories, methods, and findings from sociology, public administration, psychology, economics, management, and other disciplines; through mutual borrowing and cross-fertilization, these fields jointly advance research on international organizations.</a:t>
            </a:r>
            <a:endParaRPr lang="en-US" altLang="zh-CN" dirty="0" smtClean="0"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  <a:p>
            <a:pPr marL="571500" indent="-457200">
              <a:buFont typeface="+mj-lt"/>
              <a:buAutoNum type="arabicPeriod"/>
            </a:pP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药剂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0</TotalTime>
  <Words>9312</Words>
  <Application>WPS 演示</Application>
  <PresentationFormat>全屏显示(4:3)</PresentationFormat>
  <Paragraphs>164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楷体</vt:lpstr>
      <vt:lpstr>黑体</vt:lpstr>
      <vt:lpstr>微软雅黑</vt:lpstr>
      <vt:lpstr>Arial Unicode MS</vt:lpstr>
      <vt:lpstr>Calibri</vt:lpstr>
      <vt:lpstr>药剂师</vt:lpstr>
      <vt:lpstr>Introduction </vt:lpstr>
      <vt:lpstr>I. The Role of International Organizations in World Affairs   II. What This Course Will Cover   III. Why and How to Study This Course</vt:lpstr>
      <vt:lpstr>I. The Role of International Organizations in International Affairs </vt:lpstr>
      <vt:lpstr>(I) The Evolution of International Organizations  </vt:lpstr>
      <vt:lpstr>(I) The Evolution of International Organizations  </vt:lpstr>
      <vt:lpstr>(II) The Role of International Organizations </vt:lpstr>
      <vt:lpstr>(II) The Role of International Organizations </vt:lpstr>
      <vt:lpstr>（II）The Role of International Organizations </vt:lpstr>
      <vt:lpstr>（II）The Role of International Organizations </vt:lpstr>
      <vt:lpstr>（II）The Role of International Organizations </vt:lpstr>
      <vt:lpstr>II. Course Content  </vt:lpstr>
      <vt:lpstr>III. Why Study This Course </vt:lpstr>
      <vt:lpstr>IV. Research Methods  </vt:lpstr>
      <vt:lpstr>IV. Research Methods</vt:lpstr>
      <vt:lpstr>IV. Research Methods</vt:lpstr>
      <vt:lpstr>IV. Research Methods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大唐1415436413</cp:lastModifiedBy>
  <cp:revision>107</cp:revision>
  <dcterms:created xsi:type="dcterms:W3CDTF">2017-06-01T06:09:00Z</dcterms:created>
  <dcterms:modified xsi:type="dcterms:W3CDTF">2026-01-23T03:22:30Z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72BBC87EA4DF43EBB91AD14B3BCD4497_12</vt:lpwstr>
  </property>
  <property fmtid="{D5CDD505-2E9C-101B-9397-08002B2CF9AE}" pid="3" name="KSOProductBuildVer">
    <vt:lpwstr>2052-12.1.0.24657</vt:lpwstr>
  </property>
</Properties>
</file>